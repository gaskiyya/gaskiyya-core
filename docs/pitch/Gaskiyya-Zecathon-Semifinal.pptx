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Hook" id="{0344458a-61a2-9aa8-2011-f9d2595a033f}">
          <p14:sldIdLst>
            <p14:sldId id="256"/>
          </p14:sldIdLst>
        </p14:section>
        <p14:section name="Amina’s story" id="{f11bfe03-742a-4627-1157-1f9759c0e8e3}">
          <p14:sldIdLst>
            <p14:sldId id="257"/>
            <p14:sldId id="258"/>
          </p14:sldIdLst>
        </p14:section>
        <p14:section name="Gaskiyya" id="{47e3b77d-3416-5acb-6537-bbdd664dac11}">
          <p14:sldIdLst>
            <p14:sldId id="259"/>
            <p14:sldId id="260"/>
            <p14:sldId id="261"/>
            <p14:sldId id="262"/>
          </p14:sldIdLst>
        </p14:section>
        <p14:section name="Proof" id="{7b472175-b6be-48e3-f37d-519780867982}">
          <p14:sldIdLst>
            <p14:sldId id="263"/>
          </p14:sldIdLst>
        </p14:section>
        <p14:section name="Demo and close" id="{d1f9a455-557d-b8f5-7a1b-4bfbf874c2a3}">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sec) Good morning. I’m [name], with Mojeed Fathia. This is Gaskiyya — “truth” in Hausa. It lets anyone know, in seconds, if a message or call is really from their bank. Let me tell you about Amina.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sec) Meet Amina. She runs a provisions shop in Surulere. At 9:14 her bank texts her. Two minutes later — another text. Same name, same words. Which one is fake? [pause] It’s one hyphen. Amina can’t see it. Honestly, neither can we. And the sender name can be spoofed.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sec) And Amina isn’t alone. Every day in Nigeria, ₦70.8 million is lost to fraud — one case every 7.8 minutes. NIBSS says the number-one technique is social engineering: pretending to be your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sec) So Amina opens Gaskiyya and shares the message. One tap. The first: “Sent by your bank.” The second: “Not confirmed — don’t click.” How? When the bank sends any message, it makes one API call that stores a fingerprint — never the text. Gaskiyya only says “confirmed” on an exact match, for her number. Forward a real message to someone else? Not confirmed. Change one character? Not confirmed. AI explains — it never decides.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sec) Next morning, the phone rings: “Hello madam, this is your bank.” Caller ID can be faked — so before the bank dials, it announces the call to Gaskiyya. The agent reads a 4-digit code; Amina’s app shows the same code. If a fraudster calls, the app simply says: your bank is not calling you. Hang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sec) And it protects the rest of her day. A customer says “I’ve paid you” — Amina checks the receipt before releasing goods. A loan app offers quick cash — Gaskiyya checks it against FCCPC and CBN licence lists. A link — it catches lookalikes. And when scammers launch a wave, our AI fraud desk spots it, a human approves, and every customer is warned. Plus SIM-swap alerts that stop stolen OTPs.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sec) And Amina’s mother in Kano, with a basic phone and no data? She dials a USSD code: is my bank calling me, what did my bank send today. On WhatsApp, just forward the message. In the app, Shield even warns automatically on Android. In English, Pidgin, Hausa, Yoruba and Igbo. That’s financial inclusion: protection on the phone people already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sec) For the bank: no change to its messages, no core-banking access — one API call when it sends. We store only fingerprints, so there’s nothing to leak — NDPA by design. The fraud desk turns customer reports into scam campaigns; AI drafts the warning, a human approves it. Over 6,000 checks a second in our load test (laptop, in-memory store — production numbers come with the pilot), 400+ automated tests, live on AWS. Banks pay a licence plus a per-message fee; customers check free. Built on Flutter, Node.js, Firestore, Gemini and the GSMA SIM-swap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 4 MINUTES (bank console on the screen, Amina’s phone mirrored).
1) Real alert (30s): Console → Messages → send a transaction alert → share it to Gaskiyya: “Sent by your bank”.
2) The fake (30s): paste the demo-bank copy → “Not confirmed” + what the bank really sent today. WOW: paste Amina’s REAL message as Tunde → also “Not confirmed” (tied to her number).
3) Bank calls (45s): Announce &amp; call → same 4-digit code on agent screen and phone. Hang up → “Your bank is not calling you”.
4) Basic phone (30s): USSD emulator → *347*123# → 1 call code, 2 today’s messages.
5) SIM swap (30s): swap SIM → send OTP → bank told to hold it; red warning on phone.
6) Fraud desk (45s): simulate 3 reports → Run agent → campaign + draft warning → approve → alert lands on the phone; the warning SMS itself verifies.
Backup if Wi-Fi fails: in-browser sandbox at gaskiyya-io.web.app/console, then the 60-second film.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sec) What’s next: a pilot with Zenith Bank — one message type plus outbound calls, inside the bank’s own environment. Then every message type and USSD with the telcos. Then one registry for every bank, fintech and agency in Nigeria. We’re Jhmeel and Fathia. Gaskiyya: know it is really your bank.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png"/><Relationship Id="rId2"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4F3E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812800" y="6261100"/>
            <a:ext cx="228600" cy="228600"/>
          </a:xfrm>
          <a:prstGeom prst="rect">
            <a:avLst/>
          </a:prstGeom>
        </p:spPr>
      </p:pic>
      <p:sp>
        <p:nvSpPr>
          <p:cNvPr id="3" name="Text 0"/>
          <p:cNvSpPr/>
          <p:nvPr/>
        </p:nvSpPr>
        <p:spPr>
          <a:xfrm>
            <a:off x="1117600" y="6261100"/>
            <a:ext cx="1905000" cy="228600"/>
          </a:xfrm>
          <a:prstGeom prst="rect">
            <a:avLst/>
          </a:prstGeom>
          <a:noFill/>
          <a:ln/>
        </p:spPr>
        <p:txBody>
          <a:bodyPr wrap="square" lIns="0" tIns="0" rIns="0" bIns="0" rtlCol="0" anchor="ctr"/>
          <a:lstStyle/>
          <a:p>
            <a:pPr indent="0" marL="0">
              <a:buNone/>
            </a:pPr>
            <a:r>
              <a:rPr lang="en-US" sz="1200" b="1" dirty="0">
                <a:solidFill>
                  <a:schemeClr val="tx1"/>
                </a:solidFill>
              </a:rPr>
              <a:t>Gaskiyya</a:t>
            </a:r>
            <a:endParaRPr lang="en-US" sz="1200" dirty="0"/>
          </a:p>
        </p:txBody>
      </p:sp>
      <p:sp>
        <p:nvSpPr>
          <p:cNvPr id="4" name="Text 1"/>
          <p:cNvSpPr/>
          <p:nvPr>
            <p:ph idx="102" type="title" hasCustomPrompt="1"/>
          </p:nvPr>
        </p:nvSpPr>
        <p:spPr>
          <a:xfrm>
            <a:off x="812800" y="1130300"/>
            <a:ext cx="10566400" cy="698500"/>
          </a:xfrm>
          <a:prstGeom prst="rect">
            <a:avLst/>
          </a:prstGeom>
          <a:noFill/>
          <a:ln/>
        </p:spPr>
        <p:txBody>
          <a:bodyPr wrap="square" rtlCol="0"/>
          <a:lstStyle>
            <a:lvl1pPr algn="l" indent="0" marL="0">
              <a:lnSpc>
                <a:spcPct val="95000"/>
              </a:lnSpc>
              <a:buNone/>
              <a:defRPr lang="en-US" sz="3600" b="1" dirty="0">
                <a:solidFill>
                  <a:schemeClr val="tx1"/>
                </a:solidFill>
                <a:latin typeface="Arial" pitchFamily="34" charset="0"/>
                <a:ea typeface="Arial" pitchFamily="34" charset="-122"/>
                <a:cs typeface="Arial" pitchFamily="34" charset="-120"/>
              </a:defRPr>
            </a:lvl1pPr>
          </a:lstStyle>
          <a:p>
            <a:pPr algn="l" indent="0" marL="0">
              <a:lnSpc>
                <a:spcPct val="95000"/>
              </a:lnSpc>
              <a:buNone/>
            </a:pPr>
            <a:endParaRPr lang="en-US" sz="3600" dirty="0"/>
          </a:p>
        </p:txBody>
      </p:sp>
      <p:sp>
        <p:nvSpPr>
          <p:cNvPr id="25" name="Slide Number Placeholder 0"/>
          <p:cNvSpPr>
            <a:spLocks noGrp="1"/>
          </p:cNvSpPr>
          <p:nvPr>
            <p:ph type="sldNum" sz="quarter" idx="4294967295"/>
          </p:nvPr>
        </p:nvSpPr>
        <p:spPr>
          <a:xfrm>
            <a:off x="10617200" y="6261100"/>
            <a:ext cx="762000" cy="22860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latin typeface="Courier New"/>
                <a:ea typeface="Courier New"/>
                <a:cs typeface="Courier New"/>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_SPLIT">
    <p:bg>
      <p:bgPr>
        <a:solidFill>
          <a:srgbClr val="F4F3E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812800" y="6261100"/>
            <a:ext cx="228600" cy="228600"/>
          </a:xfrm>
          <a:prstGeom prst="rect">
            <a:avLst/>
          </a:prstGeom>
        </p:spPr>
      </p:pic>
      <p:sp>
        <p:nvSpPr>
          <p:cNvPr id="3" name="Text 0"/>
          <p:cNvSpPr/>
          <p:nvPr/>
        </p:nvSpPr>
        <p:spPr>
          <a:xfrm>
            <a:off x="1117600" y="6261100"/>
            <a:ext cx="1905000" cy="228600"/>
          </a:xfrm>
          <a:prstGeom prst="rect">
            <a:avLst/>
          </a:prstGeom>
          <a:noFill/>
          <a:ln/>
        </p:spPr>
        <p:txBody>
          <a:bodyPr wrap="square" lIns="0" tIns="0" rIns="0" bIns="0" rtlCol="0" anchor="ctr"/>
          <a:lstStyle/>
          <a:p>
            <a:pPr indent="0" marL="0">
              <a:buNone/>
            </a:pPr>
            <a:r>
              <a:rPr lang="en-US" sz="1200" b="1" dirty="0">
                <a:solidFill>
                  <a:schemeClr val="tx1"/>
                </a:solidFill>
              </a:rPr>
              <a:t>Gaskiyya</a:t>
            </a:r>
            <a:endParaRPr lang="en-US" sz="1200" dirty="0"/>
          </a:p>
        </p:txBody>
      </p:sp>
      <p:sp>
        <p:nvSpPr>
          <p:cNvPr id="4" name="Text 1"/>
          <p:cNvSpPr/>
          <p:nvPr>
            <p:ph idx="102" type="title" hasCustomPrompt="1"/>
          </p:nvPr>
        </p:nvSpPr>
        <p:spPr>
          <a:xfrm>
            <a:off x="812800" y="1130300"/>
            <a:ext cx="4191000" cy="1524000"/>
          </a:xfrm>
          <a:prstGeom prst="rect">
            <a:avLst/>
          </a:prstGeom>
          <a:noFill/>
          <a:ln/>
        </p:spPr>
        <p:txBody>
          <a:bodyPr wrap="square" rtlCol="0"/>
          <a:lstStyle>
            <a:lvl1pPr algn="l" indent="0" marL="0">
              <a:lnSpc>
                <a:spcPct val="95000"/>
              </a:lnSpc>
              <a:buNone/>
              <a:defRPr lang="en-US" sz="3600" b="1" dirty="0">
                <a:solidFill>
                  <a:schemeClr val="tx1"/>
                </a:solidFill>
                <a:latin typeface="Arial" pitchFamily="34" charset="0"/>
                <a:ea typeface="Arial" pitchFamily="34" charset="-122"/>
                <a:cs typeface="Arial" pitchFamily="34" charset="-120"/>
              </a:defRPr>
            </a:lvl1pPr>
          </a:lstStyle>
          <a:p>
            <a:pPr algn="l" indent="0" marL="0">
              <a:lnSpc>
                <a:spcPct val="95000"/>
              </a:lnSpc>
              <a:buNone/>
            </a:pPr>
            <a:endParaRPr lang="en-US" sz="3600" dirty="0"/>
          </a:p>
        </p:txBody>
      </p:sp>
      <p:sp>
        <p:nvSpPr>
          <p:cNvPr id="25" name="Slide Number Placeholder 0"/>
          <p:cNvSpPr>
            <a:spLocks noGrp="1"/>
          </p:cNvSpPr>
          <p:nvPr>
            <p:ph type="sldNum" sz="quarter" idx="4294967295"/>
          </p:nvPr>
        </p:nvSpPr>
        <p:spPr>
          <a:xfrm>
            <a:off x="10617200" y="6261100"/>
            <a:ext cx="762000" cy="22860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latin typeface="Courier New"/>
                <a:ea typeface="Courier New"/>
                <a:cs typeface="Courier New"/>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0E151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812800" y="6261100"/>
            <a:ext cx="228600" cy="228600"/>
          </a:xfrm>
          <a:prstGeom prst="rect">
            <a:avLst/>
          </a:prstGeom>
        </p:spPr>
      </p:pic>
      <p:sp>
        <p:nvSpPr>
          <p:cNvPr id="3" name="Text 0"/>
          <p:cNvSpPr/>
          <p:nvPr/>
        </p:nvSpPr>
        <p:spPr>
          <a:xfrm>
            <a:off x="1117600" y="6261100"/>
            <a:ext cx="1905000" cy="228600"/>
          </a:xfrm>
          <a:prstGeom prst="rect">
            <a:avLst/>
          </a:prstGeom>
          <a:noFill/>
          <a:ln/>
        </p:spPr>
        <p:txBody>
          <a:bodyPr wrap="square" lIns="0" tIns="0" rIns="0" bIns="0" rtlCol="0" anchor="ctr"/>
          <a:lstStyle/>
          <a:p>
            <a:pPr indent="0" marL="0">
              <a:buNone/>
            </a:pPr>
            <a:r>
              <a:rPr lang="en-US" sz="1200" b="1" dirty="0">
                <a:solidFill>
                  <a:schemeClr val="bg1"/>
                </a:solidFill>
              </a:rPr>
              <a:t>Gaskiyya</a:t>
            </a:r>
            <a:endParaRPr lang="en-US" sz="1200" dirty="0"/>
          </a:p>
        </p:txBody>
      </p:sp>
      <p:sp>
        <p:nvSpPr>
          <p:cNvPr id="4" name="Text 1"/>
          <p:cNvSpPr/>
          <p:nvPr>
            <p:ph idx="102" type="title" hasCustomPrompt="1"/>
          </p:nvPr>
        </p:nvSpPr>
        <p:spPr>
          <a:xfrm>
            <a:off x="812800" y="1130300"/>
            <a:ext cx="10566400" cy="698500"/>
          </a:xfrm>
          <a:prstGeom prst="rect">
            <a:avLst/>
          </a:prstGeom>
          <a:noFill/>
          <a:ln/>
        </p:spPr>
        <p:txBody>
          <a:bodyPr wrap="square" rtlCol="0"/>
          <a:lstStyle>
            <a:lvl1pPr algn="l" indent="0" marL="0">
              <a:lnSpc>
                <a:spcPct val="95000"/>
              </a:lnSpc>
              <a:buNone/>
              <a:defRPr lang="en-US" sz="3600" b="1" dirty="0">
                <a:solidFill>
                  <a:schemeClr val="bg1"/>
                </a:solidFill>
                <a:latin typeface="Arial" pitchFamily="34" charset="0"/>
                <a:ea typeface="Arial" pitchFamily="34" charset="-122"/>
                <a:cs typeface="Arial" pitchFamily="34" charset="-120"/>
              </a:defRPr>
            </a:lvl1pPr>
          </a:lstStyle>
          <a:p>
            <a:pPr algn="l" indent="0" marL="0">
              <a:lnSpc>
                <a:spcPct val="95000"/>
              </a:lnSpc>
              <a:buNone/>
            </a:pPr>
            <a:endParaRPr lang="en-US" sz="3600" dirty="0"/>
          </a:p>
        </p:txBody>
      </p:sp>
      <p:sp>
        <p:nvSpPr>
          <p:cNvPr id="25" name="Slide Number Placeholder 0"/>
          <p:cNvSpPr>
            <a:spLocks noGrp="1"/>
          </p:cNvSpPr>
          <p:nvPr>
            <p:ph type="sldNum" sz="quarter" idx="4294967295"/>
          </p:nvPr>
        </p:nvSpPr>
        <p:spPr>
          <a:xfrm>
            <a:off x="10617200" y="6261100"/>
            <a:ext cx="762000" cy="22860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latin typeface="Courier New"/>
                <a:ea typeface="Courier New"/>
                <a:cs typeface="Courier New"/>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ARK_SPLIT">
    <p:bg>
      <p:bgPr>
        <a:solidFill>
          <a:srgbClr val="0E151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812800" y="6261100"/>
            <a:ext cx="228600" cy="228600"/>
          </a:xfrm>
          <a:prstGeom prst="rect">
            <a:avLst/>
          </a:prstGeom>
        </p:spPr>
      </p:pic>
      <p:sp>
        <p:nvSpPr>
          <p:cNvPr id="3" name="Text 0"/>
          <p:cNvSpPr/>
          <p:nvPr/>
        </p:nvSpPr>
        <p:spPr>
          <a:xfrm>
            <a:off x="1117600" y="6261100"/>
            <a:ext cx="1905000" cy="228600"/>
          </a:xfrm>
          <a:prstGeom prst="rect">
            <a:avLst/>
          </a:prstGeom>
          <a:noFill/>
          <a:ln/>
        </p:spPr>
        <p:txBody>
          <a:bodyPr wrap="square" lIns="0" tIns="0" rIns="0" bIns="0" rtlCol="0" anchor="ctr"/>
          <a:lstStyle/>
          <a:p>
            <a:pPr indent="0" marL="0">
              <a:buNone/>
            </a:pPr>
            <a:r>
              <a:rPr lang="en-US" sz="1200" b="1" dirty="0">
                <a:solidFill>
                  <a:schemeClr val="bg1"/>
                </a:solidFill>
              </a:rPr>
              <a:t>Gaskiyya</a:t>
            </a:r>
            <a:endParaRPr lang="en-US" sz="1200" dirty="0"/>
          </a:p>
        </p:txBody>
      </p:sp>
      <p:sp>
        <p:nvSpPr>
          <p:cNvPr id="4" name="Text 1"/>
          <p:cNvSpPr/>
          <p:nvPr>
            <p:ph idx="102" type="title" hasCustomPrompt="1"/>
          </p:nvPr>
        </p:nvSpPr>
        <p:spPr>
          <a:xfrm>
            <a:off x="812800" y="1130300"/>
            <a:ext cx="5207000" cy="1143000"/>
          </a:xfrm>
          <a:prstGeom prst="rect">
            <a:avLst/>
          </a:prstGeom>
          <a:noFill/>
          <a:ln/>
        </p:spPr>
        <p:txBody>
          <a:bodyPr wrap="square" rtlCol="0"/>
          <a:lstStyle>
            <a:lvl1pPr algn="l" indent="0" marL="0">
              <a:lnSpc>
                <a:spcPct val="95000"/>
              </a:lnSpc>
              <a:buNone/>
              <a:defRPr lang="en-US" sz="3600" b="1" dirty="0">
                <a:solidFill>
                  <a:schemeClr val="bg1"/>
                </a:solidFill>
                <a:latin typeface="Arial" pitchFamily="34" charset="0"/>
                <a:ea typeface="Arial" pitchFamily="34" charset="-122"/>
                <a:cs typeface="Arial" pitchFamily="34" charset="-120"/>
              </a:defRPr>
            </a:lvl1pPr>
          </a:lstStyle>
          <a:p>
            <a:pPr algn="l" indent="0" marL="0">
              <a:lnSpc>
                <a:spcPct val="95000"/>
              </a:lnSpc>
              <a:buNone/>
            </a:pPr>
            <a:endParaRPr lang="en-US" sz="3600" dirty="0"/>
          </a:p>
        </p:txBody>
      </p:sp>
      <p:sp>
        <p:nvSpPr>
          <p:cNvPr id="25" name="Slide Number Placeholder 0"/>
          <p:cNvSpPr>
            <a:spLocks noGrp="1"/>
          </p:cNvSpPr>
          <p:nvPr>
            <p:ph type="sldNum" sz="quarter" idx="4294967295"/>
          </p:nvPr>
        </p:nvSpPr>
        <p:spPr>
          <a:xfrm>
            <a:off x="10617200" y="6261100"/>
            <a:ext cx="762000" cy="22860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latin typeface="Courier New"/>
                <a:ea typeface="Courier New"/>
                <a:cs typeface="Courier New"/>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EMERALD_SPLIT">
    <p:bg>
      <p:bgPr>
        <a:solidFill>
          <a:srgbClr val="0A7A55"/>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812800" y="6261100"/>
            <a:ext cx="228600" cy="228600"/>
          </a:xfrm>
          <a:prstGeom prst="rect">
            <a:avLst/>
          </a:prstGeom>
        </p:spPr>
      </p:pic>
      <p:sp>
        <p:nvSpPr>
          <p:cNvPr id="3" name="Text 0"/>
          <p:cNvSpPr/>
          <p:nvPr/>
        </p:nvSpPr>
        <p:spPr>
          <a:xfrm>
            <a:off x="1117600" y="6261100"/>
            <a:ext cx="1905000" cy="228600"/>
          </a:xfrm>
          <a:prstGeom prst="rect">
            <a:avLst/>
          </a:prstGeom>
          <a:noFill/>
          <a:ln/>
        </p:spPr>
        <p:txBody>
          <a:bodyPr wrap="square" lIns="0" tIns="0" rIns="0" bIns="0" rtlCol="0" anchor="ctr"/>
          <a:lstStyle/>
          <a:p>
            <a:pPr indent="0" marL="0">
              <a:buNone/>
            </a:pPr>
            <a:r>
              <a:rPr lang="en-US" sz="1200" b="1" dirty="0">
                <a:solidFill>
                  <a:schemeClr val="bg1"/>
                </a:solidFill>
              </a:rPr>
              <a:t>Gaskiyya</a:t>
            </a:r>
            <a:endParaRPr lang="en-US" sz="1200" dirty="0"/>
          </a:p>
        </p:txBody>
      </p:sp>
      <p:sp>
        <p:nvSpPr>
          <p:cNvPr id="4" name="Text 1"/>
          <p:cNvSpPr/>
          <p:nvPr>
            <p:ph idx="102" type="title" hasCustomPrompt="1"/>
          </p:nvPr>
        </p:nvSpPr>
        <p:spPr>
          <a:xfrm>
            <a:off x="812800" y="1130300"/>
            <a:ext cx="5461000" cy="1397000"/>
          </a:xfrm>
          <a:prstGeom prst="rect">
            <a:avLst/>
          </a:prstGeom>
          <a:noFill/>
          <a:ln/>
        </p:spPr>
        <p:txBody>
          <a:bodyPr wrap="square" rtlCol="0"/>
          <a:lstStyle>
            <a:lvl1pPr algn="l" indent="0" marL="0">
              <a:lnSpc>
                <a:spcPct val="95000"/>
              </a:lnSpc>
              <a:buNone/>
              <a:defRPr lang="en-US" sz="4800" b="1" dirty="0">
                <a:solidFill>
                  <a:schemeClr val="bg1"/>
                </a:solidFill>
                <a:latin typeface="Arial" pitchFamily="34" charset="0"/>
                <a:ea typeface="Arial" pitchFamily="34" charset="-122"/>
                <a:cs typeface="Arial" pitchFamily="34" charset="-120"/>
              </a:defRPr>
            </a:lvl1pPr>
          </a:lstStyle>
          <a:p>
            <a:pPr algn="l" indent="0" marL="0">
              <a:lnSpc>
                <a:spcPct val="95000"/>
              </a:lnSpc>
              <a:buNone/>
            </a:pPr>
            <a:endParaRPr lang="en-US" sz="4800" dirty="0"/>
          </a:p>
        </p:txBody>
      </p:sp>
      <p:sp>
        <p:nvSpPr>
          <p:cNvPr id="25" name="Slide Number Placeholder 0"/>
          <p:cNvSpPr>
            <a:spLocks noGrp="1"/>
          </p:cNvSpPr>
          <p:nvPr>
            <p:ph type="sldNum" sz="quarter" idx="4294967295"/>
          </p:nvPr>
        </p:nvSpPr>
        <p:spPr>
          <a:xfrm>
            <a:off x="10617200" y="6261100"/>
            <a:ext cx="762000" cy="22860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5"/>
                </a:solidFill>
                <a:latin typeface="Courier New"/>
                <a:ea typeface="Courier New"/>
                <a:cs typeface="Courier New"/>
              </a:defRPr>
            </a:lvl1pPr>
          </a:lstStyle>
          <a:p>
            <a:pPr algn="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FULL_BLEED">
    <p:bg>
      <p:bgPr>
        <a:solidFill>
          <a:srgbClr val="0E1512"/>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17200" y="6261100"/>
            <a:ext cx="762000" cy="22860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latin typeface="Courier New"/>
                <a:ea typeface="Courier New"/>
                <a:cs typeface="Courier New"/>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7.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7.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6.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5.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4.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slideLayout" Target="../slideLayouts/slideLayout7.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7.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Gaskiyya logo">    </p:cNvPr>
          <p:cNvPicPr>
            <a:picLocks noChangeAspect="1"/>
          </p:cNvPicPr>
          <p:nvPr/>
        </p:nvPicPr>
        <p:blipFill>
          <a:blip r:embed="rId2"/>
          <a:stretch>
            <a:fillRect/>
          </a:stretch>
        </p:blipFill>
        <p:spPr>
          <a:xfrm>
            <a:off x="812800" y="1905000"/>
            <a:ext cx="762000" cy="762000"/>
          </a:xfrm>
          <a:prstGeom prst="rect">
            <a:avLst/>
          </a:prstGeom>
        </p:spPr>
      </p:pic>
      <p:sp>
        <p:nvSpPr>
          <p:cNvPr id="3" name="Title"/>
          <p:cNvSpPr txBox="1"/>
          <p:nvPr/>
        </p:nvSpPr>
        <p:spPr>
          <a:xfrm>
            <a:off x="812800" y="2870200"/>
            <a:ext cx="6350000" cy="1079500"/>
          </a:xfrm>
          <a:prstGeom prst="rect">
            <a:avLst/>
          </a:prstGeom>
          <a:noFill/>
          <a:ln/>
        </p:spPr>
        <p:txBody>
          <a:bodyPr wrap="square" lIns="0" tIns="0" rIns="0" bIns="0" rtlCol="0" anchor="t"/>
          <a:lstStyle/>
          <a:p>
            <a:pPr algn="l" indent="0" marL="0">
              <a:buNone/>
            </a:pPr>
            <a:r>
              <a:rPr lang="en-US" sz="8000" b="1" spc="-200" kern="0" dirty="0">
                <a:solidFill>
                  <a:schemeClr val="bg1"/>
                </a:solidFill>
              </a:rPr>
              <a:t>Gaskiyya</a:t>
            </a:r>
            <a:endParaRPr lang="en-US" sz="8000" dirty="0"/>
          </a:p>
        </p:txBody>
      </p:sp>
      <p:sp>
        <p:nvSpPr>
          <p:cNvPr id="4" name="Text 1"/>
          <p:cNvSpPr txBox="1"/>
          <p:nvPr/>
        </p:nvSpPr>
        <p:spPr>
          <a:xfrm>
            <a:off x="812800" y="4127500"/>
            <a:ext cx="6032500" cy="381000"/>
          </a:xfrm>
          <a:prstGeom prst="rect">
            <a:avLst/>
          </a:prstGeom>
          <a:noFill/>
          <a:ln/>
        </p:spPr>
        <p:txBody>
          <a:bodyPr wrap="square" lIns="0" tIns="0" rIns="0" bIns="0" rtlCol="0" anchor="t"/>
          <a:lstStyle/>
          <a:p>
            <a:pPr algn="l" indent="0" marL="0">
              <a:buNone/>
            </a:pPr>
            <a:r>
              <a:rPr lang="en-US" sz="2200" dirty="0">
                <a:solidFill>
                  <a:schemeClr val="bg1"/>
                </a:solidFill>
              </a:rPr>
              <a:t>Know it is </a:t>
            </a:r>
            <a:pPr algn="l" indent="0" marL="0">
              <a:buNone/>
            </a:pPr>
            <a:r>
              <a:rPr lang="en-US" sz="2200" dirty="0">
                <a:solidFill>
                  <a:srgbClr val="2FBF8A"/>
                </a:solidFill>
              </a:rPr>
              <a:t>really</a:t>
            </a:r>
            <a:pPr algn="l" indent="0" marL="0">
              <a:buNone/>
            </a:pPr>
            <a:r>
              <a:rPr lang="en-US" sz="2200" dirty="0">
                <a:solidFill>
                  <a:schemeClr val="bg1"/>
                </a:solidFill>
              </a:rPr>
              <a:t> your bank.</a:t>
            </a:r>
            <a:endParaRPr lang="en-US" sz="2200" dirty="0"/>
          </a:p>
        </p:txBody>
      </p:sp>
      <p:sp>
        <p:nvSpPr>
          <p:cNvPr id="5" name="Text 2"/>
          <p:cNvSpPr txBox="1"/>
          <p:nvPr/>
        </p:nvSpPr>
        <p:spPr>
          <a:xfrm>
            <a:off x="812800" y="4597400"/>
            <a:ext cx="6032500" cy="190500"/>
          </a:xfrm>
          <a:prstGeom prst="rect">
            <a:avLst/>
          </a:prstGeom>
          <a:noFill/>
          <a:ln/>
        </p:spPr>
        <p:txBody>
          <a:bodyPr wrap="square" lIns="0" tIns="0" rIns="0" bIns="0" rtlCol="0" anchor="t"/>
          <a:lstStyle/>
          <a:p>
            <a:pPr algn="l" indent="0" marL="0">
              <a:buNone/>
            </a:pPr>
            <a:r>
              <a:rPr lang="en-US" sz="1200" spc="150" kern="0" dirty="0">
                <a:solidFill>
                  <a:schemeClr val="bg2"/>
                </a:solidFill>
                <a:latin typeface="Courier New" pitchFamily="34" charset="0"/>
                <a:ea typeface="Courier New" pitchFamily="34" charset="-122"/>
                <a:cs typeface="Courier New" pitchFamily="34" charset="-120"/>
              </a:rPr>
              <a:t>“GASKIYA” MEANS TRUTH IN HAUSA</a:t>
            </a:r>
            <a:endParaRPr lang="en-US" sz="1200" dirty="0"/>
          </a:p>
        </p:txBody>
      </p:sp>
      <p:sp>
        <p:nvSpPr>
          <p:cNvPr id="6" name="Text 3"/>
          <p:cNvSpPr txBox="1"/>
          <p:nvPr/>
        </p:nvSpPr>
        <p:spPr>
          <a:xfrm>
            <a:off x="812800" y="6261100"/>
            <a:ext cx="5715000" cy="228600"/>
          </a:xfrm>
          <a:prstGeom prst="rect">
            <a:avLst/>
          </a:prstGeom>
          <a:noFill/>
          <a:ln/>
        </p:spPr>
        <p:txBody>
          <a:bodyPr wrap="square" lIns="0" tIns="0" rIns="0" bIns="0" rtlCol="0" anchor="ctr"/>
          <a:lstStyle/>
          <a:p>
            <a:pPr algn="l" indent="0" marL="0">
              <a:buNone/>
            </a:pPr>
            <a:r>
              <a:rPr lang="en-US" sz="1200" dirty="0">
                <a:solidFill>
                  <a:schemeClr val="bg2"/>
                </a:solidFill>
              </a:rPr>
              <a:t>Jhmeel Mikail · Mojeed Fathia — Zecathon 6.0</a:t>
            </a:r>
            <a:endParaRPr lang="en-US" sz="1200" dirty="0"/>
          </a:p>
        </p:txBody>
      </p:sp>
      <p:pic>
        <p:nvPicPr>
          <p:cNvPr id="7" name="Phone: Gaskiyya welcome screen: Is it really your bank?" descr="Gaskiyya welcome screen: Is it really your bank?">    </p:cNvPr>
          <p:cNvPicPr>
            <a:picLocks noChangeAspect="1"/>
          </p:cNvPicPr>
          <p:nvPr/>
        </p:nvPicPr>
        <p:blipFill>
          <a:blip r:embed="rId3"/>
          <a:stretch>
            <a:fillRect/>
          </a:stretch>
        </p:blipFill>
        <p:spPr>
          <a:xfrm rot="-480000">
            <a:off x="6719094" y="877094"/>
            <a:ext cx="2881313" cy="5186363"/>
          </a:xfrm>
          <a:prstGeom prst="rect">
            <a:avLst/>
          </a:prstGeom>
        </p:spPr>
      </p:pic>
      <p:pic>
        <p:nvPicPr>
          <p:cNvPr id="8" name="Phone: Result: Sent by your bank" descr="Result: Sent by your bank">    </p:cNvPr>
          <p:cNvPicPr>
            <a:picLocks noChangeAspect="1"/>
          </p:cNvPicPr>
          <p:nvPr/>
        </p:nvPicPr>
        <p:blipFill>
          <a:blip r:embed="rId4"/>
          <a:stretch>
            <a:fillRect/>
          </a:stretch>
        </p:blipFill>
        <p:spPr>
          <a:xfrm rot="300000">
            <a:off x="8397875" y="523875"/>
            <a:ext cx="3143250" cy="5657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Eyebrow"/>
          <p:cNvSpPr txBox="1"/>
          <p:nvPr/>
        </p:nvSpPr>
        <p:spPr>
          <a:xfrm>
            <a:off x="812800" y="812800"/>
            <a:ext cx="6985000" cy="190500"/>
          </a:xfrm>
          <a:prstGeom prst="rect">
            <a:avLst/>
          </a:prstGeom>
          <a:noFill/>
          <a:ln/>
        </p:spPr>
        <p:txBody>
          <a:bodyPr wrap="square" lIns="0" tIns="0" rIns="0" bIns="0" rtlCol="0" anchor="t"/>
          <a:lstStyle/>
          <a:p>
            <a:pPr algn="l" indent="0" marL="0">
              <a:buNone/>
            </a:pPr>
            <a:r>
              <a:rPr lang="en-US" sz="1200" b="1" spc="150" kern="0" dirty="0">
                <a:solidFill>
                  <a:schemeClr val="accent1"/>
                </a:solidFill>
                <a:latin typeface="Courier New" pitchFamily="34" charset="0"/>
                <a:ea typeface="Courier New" pitchFamily="34" charset="-122"/>
                <a:cs typeface="Courier New" pitchFamily="34" charset="-120"/>
              </a:rPr>
              <a:t>9:14 PM · SURULERE, LAGOS</a:t>
            </a:r>
            <a:endParaRPr lang="en-US" sz="1200" dirty="0"/>
          </a:p>
        </p:txBody>
      </p:sp>
      <p:sp>
        <p:nvSpPr>
          <p:cNvPr id="3" name="Text 1"/>
          <p:cNvSpPr/>
          <p:nvPr>
            <p:ph idx="102" type="title" hasCustomPrompt="1"/>
          </p:nvPr>
        </p:nvSpPr>
        <p:spPr>
          <a:xfrm>
            <a:off x="812800" y="1130300"/>
            <a:ext cx="4191000" cy="1524000"/>
          </a:xfrm>
          <a:prstGeom prst="rect">
            <a:avLst/>
          </a:prstGeom>
          <a:noFill/>
          <a:ln/>
        </p:spPr>
        <p:txBody>
          <a:bodyPr wrap="square" lIns="0" tIns="0" rIns="0" bIns="0" rtlCol="0" anchor="t"/>
          <a:lstStyle/>
          <a:p>
            <a:pPr algn="l" indent="0" marL="0">
              <a:lnSpc>
                <a:spcPct val="95000"/>
              </a:lnSpc>
              <a:buNone/>
            </a:pPr>
            <a:r>
              <a:rPr lang="en-US" sz="3600" b="1" dirty="0">
                <a:solidFill>
                  <a:schemeClr val="tx1"/>
                </a:solidFill>
                <a:latin typeface="Arial" pitchFamily="34" charset="0"/>
                <a:ea typeface="Arial" pitchFamily="34" charset="-122"/>
                <a:cs typeface="Arial" pitchFamily="34" charset="-120"/>
              </a:rPr>
              <a:t>Amina gets two texts from her bank</a:t>
            </a:r>
            <a:endParaRPr lang="en-US" sz="3600" dirty="0"/>
          </a:p>
        </p:txBody>
      </p:sp>
      <p:sp>
        <p:nvSpPr>
          <p:cNvPr id="4" name="Text 2"/>
          <p:cNvSpPr txBox="1"/>
          <p:nvPr/>
        </p:nvSpPr>
        <p:spPr>
          <a:xfrm>
            <a:off x="812800" y="2794000"/>
            <a:ext cx="4064000" cy="381000"/>
          </a:xfrm>
          <a:prstGeom prst="rect">
            <a:avLst/>
          </a:prstGeom>
          <a:noFill/>
          <a:ln/>
        </p:spPr>
        <p:txBody>
          <a:bodyPr wrap="square" lIns="0" tIns="0" rIns="0" bIns="0" rtlCol="0" anchor="t"/>
          <a:lstStyle/>
          <a:p>
            <a:pPr algn="l" indent="0" marL="0">
              <a:buNone/>
            </a:pPr>
            <a:r>
              <a:rPr lang="en-US" sz="2200" dirty="0">
                <a:solidFill>
                  <a:schemeClr val="tx2"/>
                </a:solidFill>
              </a:rPr>
              <a:t>Spot the fake.</a:t>
            </a:r>
            <a:endParaRPr lang="en-US" sz="2200" dirty="0"/>
          </a:p>
        </p:txBody>
      </p:sp>
      <p:sp>
        <p:nvSpPr>
          <p:cNvPr id="5" name="Text 3"/>
          <p:cNvSpPr txBox="1"/>
          <p:nvPr/>
        </p:nvSpPr>
        <p:spPr>
          <a:xfrm>
            <a:off x="812800" y="4191000"/>
            <a:ext cx="4064000" cy="762000"/>
          </a:xfrm>
          <a:prstGeom prst="rect">
            <a:avLst/>
          </a:prstGeom>
          <a:noFill/>
          <a:ln/>
        </p:spPr>
        <p:txBody>
          <a:bodyPr wrap="square" lIns="0" tIns="0" rIns="0" bIns="0" rtlCol="0" anchor="t"/>
          <a:lstStyle/>
          <a:p>
            <a:pPr algn="l" indent="0" marL="0">
              <a:lnSpc>
                <a:spcPct val="110000"/>
              </a:lnSpc>
              <a:buNone/>
            </a:pPr>
            <a:r>
              <a:rPr lang="en-US" sz="2200" b="1" dirty="0">
                <a:solidFill>
                  <a:schemeClr val="accent3"/>
                </a:solidFill>
              </a:rPr>
              <a:t>One hyphen. That’s all a fraudster needs.</a:t>
            </a:r>
            <a:endParaRPr lang="en-US" sz="2200" dirty="0"/>
          </a:p>
        </p:txBody>
      </p:sp>
      <p:sp>
        <p:nvSpPr>
          <p:cNvPr id="6" name="SMS card 9:14 PM"/>
          <p:cNvSpPr/>
          <p:nvPr/>
        </p:nvSpPr>
        <p:spPr>
          <a:xfrm>
            <a:off x="5461000" y="952500"/>
            <a:ext cx="5918200" cy="1905000"/>
          </a:xfrm>
          <a:prstGeom prst="roundRect">
            <a:avLst>
              <a:gd name="adj" fmla="val 12000"/>
            </a:avLst>
          </a:prstGeom>
          <a:solidFill>
            <a:srgbClr val="FFFFFF"/>
          </a:solidFill>
          <a:ln/>
          <a:effectLst>
            <a:outerShdw sx="100000" sy="100000" kx="0" ky="0" algn="bl" rotWithShape="0" blurRad="228600" dist="76200" dir="5400000">
              <a:srgbClr val="0E1512">
                <a:alpha val="12000"/>
              </a:srgbClr>
            </a:outerShdw>
          </a:effectLst>
        </p:spPr>
      </p:sp>
      <p:sp>
        <p:nvSpPr>
          <p:cNvPr id="7" name="Text 5"/>
          <p:cNvSpPr txBox="1"/>
          <p:nvPr/>
        </p:nvSpPr>
        <p:spPr>
          <a:xfrm>
            <a:off x="5715000" y="1181100"/>
            <a:ext cx="3810000" cy="190500"/>
          </a:xfrm>
          <a:prstGeom prst="rect">
            <a:avLst/>
          </a:prstGeom>
          <a:noFill/>
          <a:ln/>
        </p:spPr>
        <p:txBody>
          <a:bodyPr wrap="square" lIns="0" tIns="0" rIns="0" bIns="0" rtlCol="0" anchor="t"/>
          <a:lstStyle/>
          <a:p>
            <a:pPr algn="l" indent="0" marL="0">
              <a:buNone/>
            </a:pPr>
            <a:r>
              <a:rPr lang="en-US" sz="1200" b="1" dirty="0">
                <a:solidFill>
                  <a:schemeClr val="tx2"/>
                </a:solidFill>
              </a:rPr>
              <a:t>DemoBank · SMS · 9:14 PM</a:t>
            </a:r>
            <a:endParaRPr lang="en-US" sz="1200" dirty="0"/>
          </a:p>
        </p:txBody>
      </p:sp>
      <p:sp>
        <p:nvSpPr>
          <p:cNvPr id="8" name="SMS bubble 9:14 PM"/>
          <p:cNvSpPr/>
          <p:nvPr/>
        </p:nvSpPr>
        <p:spPr>
          <a:xfrm>
            <a:off x="5715000" y="1485900"/>
            <a:ext cx="5410200" cy="1143000"/>
          </a:xfrm>
          <a:prstGeom prst="roundRect">
            <a:avLst>
              <a:gd name="adj" fmla="val 15556"/>
            </a:avLst>
          </a:prstGeom>
          <a:solidFill>
            <a:srgbClr val="E9E9EB"/>
          </a:solidFill>
          <a:ln/>
        </p:spPr>
      </p:sp>
      <p:sp>
        <p:nvSpPr>
          <p:cNvPr id="9" name="Text 7"/>
          <p:cNvSpPr txBox="1"/>
          <p:nvPr/>
        </p:nvSpPr>
        <p:spPr>
          <a:xfrm>
            <a:off x="5892800" y="1612900"/>
            <a:ext cx="5054600" cy="889000"/>
          </a:xfrm>
          <a:prstGeom prst="rect">
            <a:avLst/>
          </a:prstGeom>
          <a:noFill/>
          <a:ln/>
        </p:spPr>
        <p:txBody>
          <a:bodyPr wrap="square" lIns="0" tIns="0" rIns="0" bIns="0" rtlCol="0" anchor="ctr"/>
          <a:lstStyle/>
          <a:p>
            <a:pPr algn="l" indent="0" marL="0">
              <a:lnSpc>
                <a:spcPct val="130000"/>
              </a:lnSpc>
              <a:buNone/>
            </a:pPr>
            <a:r>
              <a:rPr lang="en-US" sz="1600" dirty="0">
                <a:solidFill>
                  <a:schemeClr val="tx1"/>
                </a:solidFill>
              </a:rPr>
              <a:t>A new device signed in to your account. Review it at </a:t>
            </a:r>
            <a:pPr algn="l" indent="0" marL="0">
              <a:lnSpc>
                <a:spcPct val="130000"/>
              </a:lnSpc>
              <a:buNone/>
            </a:pPr>
            <a:r>
              <a:rPr lang="en-US" sz="1600" b="1" dirty="0">
                <a:solidFill>
                  <a:schemeClr val="tx1"/>
                </a:solidFill>
              </a:rPr>
              <a:t>demobank.ng/security</a:t>
            </a:r>
            <a:endParaRPr lang="en-US" sz="1600" dirty="0"/>
          </a:p>
        </p:txBody>
      </p:sp>
      <p:sp>
        <p:nvSpPr>
          <p:cNvPr id="10" name="SMS card 9:16 PM"/>
          <p:cNvSpPr/>
          <p:nvPr/>
        </p:nvSpPr>
        <p:spPr>
          <a:xfrm>
            <a:off x="5461000" y="3175000"/>
            <a:ext cx="5918200" cy="1905000"/>
          </a:xfrm>
          <a:prstGeom prst="roundRect">
            <a:avLst>
              <a:gd name="adj" fmla="val 12000"/>
            </a:avLst>
          </a:prstGeom>
          <a:solidFill>
            <a:srgbClr val="FFFFFF"/>
          </a:solidFill>
          <a:ln/>
          <a:effectLst>
            <a:outerShdw sx="100000" sy="100000" kx="0" ky="0" algn="bl" rotWithShape="0" blurRad="228600" dist="76200" dir="5400000">
              <a:srgbClr val="0E1512">
                <a:alpha val="12000"/>
              </a:srgbClr>
            </a:outerShdw>
          </a:effectLst>
        </p:spPr>
      </p:sp>
      <p:sp>
        <p:nvSpPr>
          <p:cNvPr id="11" name="Text 9"/>
          <p:cNvSpPr txBox="1"/>
          <p:nvPr/>
        </p:nvSpPr>
        <p:spPr>
          <a:xfrm>
            <a:off x="5715000" y="3403600"/>
            <a:ext cx="3810000" cy="190500"/>
          </a:xfrm>
          <a:prstGeom prst="rect">
            <a:avLst/>
          </a:prstGeom>
          <a:noFill/>
          <a:ln/>
        </p:spPr>
        <p:txBody>
          <a:bodyPr wrap="square" lIns="0" tIns="0" rIns="0" bIns="0" rtlCol="0" anchor="t"/>
          <a:lstStyle/>
          <a:p>
            <a:pPr algn="l" indent="0" marL="0">
              <a:buNone/>
            </a:pPr>
            <a:r>
              <a:rPr lang="en-US" sz="1200" b="1" dirty="0">
                <a:solidFill>
                  <a:schemeClr val="tx2"/>
                </a:solidFill>
              </a:rPr>
              <a:t>DemoBank · SMS · 9:16 PM</a:t>
            </a:r>
            <a:endParaRPr lang="en-US" sz="1200" dirty="0"/>
          </a:p>
        </p:txBody>
      </p:sp>
      <p:sp>
        <p:nvSpPr>
          <p:cNvPr id="12" name="SMS bubble 9:16 PM"/>
          <p:cNvSpPr/>
          <p:nvPr/>
        </p:nvSpPr>
        <p:spPr>
          <a:xfrm>
            <a:off x="5715000" y="3708400"/>
            <a:ext cx="5410200" cy="1143000"/>
          </a:xfrm>
          <a:prstGeom prst="roundRect">
            <a:avLst>
              <a:gd name="adj" fmla="val 15556"/>
            </a:avLst>
          </a:prstGeom>
          <a:solidFill>
            <a:srgbClr val="E9E9EB"/>
          </a:solidFill>
          <a:ln/>
        </p:spPr>
      </p:sp>
      <p:sp>
        <p:nvSpPr>
          <p:cNvPr id="13" name="Text 11"/>
          <p:cNvSpPr txBox="1"/>
          <p:nvPr/>
        </p:nvSpPr>
        <p:spPr>
          <a:xfrm>
            <a:off x="5892800" y="3835400"/>
            <a:ext cx="5054600" cy="889000"/>
          </a:xfrm>
          <a:prstGeom prst="rect">
            <a:avLst/>
          </a:prstGeom>
          <a:noFill/>
          <a:ln/>
        </p:spPr>
        <p:txBody>
          <a:bodyPr wrap="square" lIns="0" tIns="0" rIns="0" bIns="0" rtlCol="0" anchor="ctr"/>
          <a:lstStyle/>
          <a:p>
            <a:pPr algn="l" indent="0" marL="0">
              <a:lnSpc>
                <a:spcPct val="130000"/>
              </a:lnSpc>
              <a:buNone/>
            </a:pPr>
            <a:r>
              <a:rPr lang="en-US" sz="1600" dirty="0">
                <a:solidFill>
                  <a:schemeClr val="tx1"/>
                </a:solidFill>
              </a:rPr>
              <a:t>A new device signed in to your account. Review it at </a:t>
            </a:r>
            <a:pPr algn="l" indent="0" marL="0">
              <a:lnSpc>
                <a:spcPct val="130000"/>
              </a:lnSpc>
              <a:buNone/>
            </a:pPr>
            <a:r>
              <a:rPr lang="en-US" sz="1600" b="1" dirty="0">
                <a:solidFill>
                  <a:schemeClr val="tx1"/>
                </a:solidFill>
              </a:rPr>
              <a:t>demo</a:t>
            </a:r>
            <a:pPr algn="l" indent="0" marL="0">
              <a:lnSpc>
                <a:spcPct val="130000"/>
              </a:lnSpc>
              <a:buNone/>
            </a:pPr>
            <a:r>
              <a:rPr lang="en-US" sz="1600" b="1" dirty="0">
                <a:solidFill>
                  <a:srgbClr val="C25E00"/>
                </a:solidFill>
              </a:rPr>
              <a:t>-</a:t>
            </a:r>
            <a:pPr algn="l" indent="0" marL="0">
              <a:lnSpc>
                <a:spcPct val="130000"/>
              </a:lnSpc>
              <a:buNone/>
            </a:pPr>
            <a:r>
              <a:rPr lang="en-US" sz="1600" b="1" dirty="0">
                <a:solidFill>
                  <a:schemeClr val="tx1"/>
                </a:solidFill>
              </a:rPr>
              <a:t>bank.ng/security</a:t>
            </a:r>
            <a:endParaRPr lang="en-US" sz="1600" dirty="0"/>
          </a:p>
        </p:txBody>
      </p:sp>
      <p:sp>
        <p:nvSpPr>
          <p:cNvPr id="14" name="Pill Real"/>
          <p:cNvSpPr/>
          <p:nvPr/>
        </p:nvSpPr>
        <p:spPr>
          <a:xfrm>
            <a:off x="9906000" y="774700"/>
            <a:ext cx="1270000" cy="330200"/>
          </a:xfrm>
          <a:prstGeom prst="roundRect">
            <a:avLst>
              <a:gd name="adj" fmla="val 50000"/>
            </a:avLst>
          </a:prstGeom>
          <a:solidFill>
            <a:srgbClr val="0A7A55"/>
          </a:solidFill>
          <a:ln/>
        </p:spPr>
      </p:sp>
      <p:sp>
        <p:nvSpPr>
          <p:cNvPr id="15" name="Text 13"/>
          <p:cNvSpPr txBox="1"/>
          <p:nvPr/>
        </p:nvSpPr>
        <p:spPr>
          <a:xfrm>
            <a:off x="9906000" y="774700"/>
            <a:ext cx="1270000" cy="330200"/>
          </a:xfrm>
          <a:prstGeom prst="rect">
            <a:avLst/>
          </a:prstGeom>
          <a:noFill/>
          <a:ln/>
        </p:spPr>
        <p:txBody>
          <a:bodyPr wrap="square" lIns="0" tIns="0" rIns="0" bIns="0" rtlCol="0" anchor="ctr"/>
          <a:lstStyle/>
          <a:p>
            <a:pPr algn="ctr" indent="0" marL="0">
              <a:buNone/>
            </a:pPr>
            <a:r>
              <a:rPr lang="en-US" sz="1200" b="1" dirty="0">
                <a:solidFill>
                  <a:srgbClr val="FFFFFF"/>
                </a:solidFill>
              </a:rPr>
              <a:t>Real</a:t>
            </a:r>
            <a:endParaRPr lang="en-US" sz="1200" dirty="0"/>
          </a:p>
        </p:txBody>
      </p:sp>
      <p:sp>
        <p:nvSpPr>
          <p:cNvPr id="16" name="Pill Fake"/>
          <p:cNvSpPr/>
          <p:nvPr/>
        </p:nvSpPr>
        <p:spPr>
          <a:xfrm>
            <a:off x="9906000" y="2997200"/>
            <a:ext cx="1270000" cy="330200"/>
          </a:xfrm>
          <a:prstGeom prst="roundRect">
            <a:avLst>
              <a:gd name="adj" fmla="val 50000"/>
            </a:avLst>
          </a:prstGeom>
          <a:solidFill>
            <a:srgbClr val="C25E00"/>
          </a:solidFill>
          <a:ln/>
        </p:spPr>
      </p:sp>
      <p:sp>
        <p:nvSpPr>
          <p:cNvPr id="17" name="Text 15"/>
          <p:cNvSpPr txBox="1"/>
          <p:nvPr/>
        </p:nvSpPr>
        <p:spPr>
          <a:xfrm>
            <a:off x="9906000" y="2997200"/>
            <a:ext cx="1270000" cy="330200"/>
          </a:xfrm>
          <a:prstGeom prst="rect">
            <a:avLst/>
          </a:prstGeom>
          <a:noFill/>
          <a:ln/>
        </p:spPr>
        <p:txBody>
          <a:bodyPr wrap="square" lIns="0" tIns="0" rIns="0" bIns="0" rtlCol="0" anchor="ctr"/>
          <a:lstStyle/>
          <a:p>
            <a:pPr algn="ctr" indent="0" marL="0">
              <a:buNone/>
            </a:pPr>
            <a:r>
              <a:rPr lang="en-US" sz="1200" b="1" dirty="0">
                <a:solidFill>
                  <a:srgbClr val="FFFFFF"/>
                </a:solidFill>
              </a:rPr>
              <a:t>Fake</a:t>
            </a:r>
            <a:endParaRPr lang="en-US" sz="1200" dirty="0"/>
          </a:p>
        </p:txBody>
      </p:sp>
      <p:sp>
        <p:nvSpPr>
          <p:cNvPr id="25" name="Slide Number Placeholder 0"/>
          <p:cNvSpPr>
            <a:spLocks noGrp="1"/>
          </p:cNvSpPr>
          <p:nvPr>
            <p:ph type="sldNum" sz="quarter" idx="4294967295"/>
          </p:nvPr>
        </p:nvSpPr>
        <p:spPr>
          <a:xfrm>
            <a:off x="10617200" y="6261100"/>
            <a:ext cx="762000" cy="22860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latin typeface="Courier New"/>
                <a:ea typeface="Courier New"/>
                <a:cs typeface="Courier New"/>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12800" y="1841500"/>
            <a:ext cx="10566400" cy="215900"/>
          </a:xfrm>
          <a:prstGeom prst="rect">
            <a:avLst/>
          </a:prstGeom>
          <a:noFill/>
          <a:ln/>
        </p:spPr>
        <p:txBody>
          <a:bodyPr wrap="square" lIns="0" tIns="0" rIns="0" bIns="0" rtlCol="0" anchor="t"/>
          <a:lstStyle/>
          <a:p>
            <a:pPr algn="ctr" indent="0" marL="0">
              <a:buNone/>
            </a:pPr>
            <a:r>
              <a:rPr lang="en-US" sz="1200" b="1" spc="200" kern="0" dirty="0">
                <a:solidFill>
                  <a:schemeClr val="accent4"/>
                </a:solidFill>
                <a:latin typeface="Courier New" pitchFamily="34" charset="0"/>
                <a:ea typeface="Courier New" pitchFamily="34" charset="-122"/>
                <a:cs typeface="Courier New" pitchFamily="34" charset="-120"/>
              </a:rPr>
              <a:t>AMINA IS NOT ALONE. EVERY DAY IN NIGERIA:</a:t>
            </a:r>
            <a:endParaRPr lang="en-US" sz="1200" dirty="0"/>
          </a:p>
        </p:txBody>
      </p:sp>
      <p:sp>
        <p:nvSpPr>
          <p:cNvPr id="3" name="Hero number"/>
          <p:cNvSpPr txBox="1"/>
          <p:nvPr/>
        </p:nvSpPr>
        <p:spPr>
          <a:xfrm>
            <a:off x="812800" y="2159000"/>
            <a:ext cx="10566400" cy="1460500"/>
          </a:xfrm>
          <a:prstGeom prst="rect">
            <a:avLst/>
          </a:prstGeom>
          <a:noFill/>
          <a:ln/>
        </p:spPr>
        <p:txBody>
          <a:bodyPr wrap="square" lIns="0" tIns="0" rIns="0" bIns="0" rtlCol="0" anchor="t"/>
          <a:lstStyle/>
          <a:p>
            <a:pPr algn="ctr" indent="0" marL="0">
              <a:buNone/>
            </a:pPr>
            <a:r>
              <a:rPr lang="en-US" sz="10000" b="1" spc="-300" kern="0" dirty="0">
                <a:solidFill>
                  <a:schemeClr val="accent4"/>
                </a:solidFill>
              </a:rPr>
              <a:t>₦70.8 million</a:t>
            </a:r>
            <a:endParaRPr lang="en-US" sz="10000" dirty="0"/>
          </a:p>
        </p:txBody>
      </p:sp>
      <p:sp>
        <p:nvSpPr>
          <p:cNvPr id="4" name="Text 2"/>
          <p:cNvSpPr txBox="1"/>
          <p:nvPr/>
        </p:nvSpPr>
        <p:spPr>
          <a:xfrm>
            <a:off x="812800" y="3683000"/>
            <a:ext cx="10566400" cy="381000"/>
          </a:xfrm>
          <a:prstGeom prst="rect">
            <a:avLst/>
          </a:prstGeom>
          <a:noFill/>
          <a:ln/>
        </p:spPr>
        <p:txBody>
          <a:bodyPr wrap="square" lIns="0" tIns="0" rIns="0" bIns="0" rtlCol="0" anchor="t"/>
          <a:lstStyle/>
          <a:p>
            <a:pPr algn="ctr" indent="0" marL="0">
              <a:buNone/>
            </a:pPr>
            <a:r>
              <a:rPr lang="en-US" sz="2200" dirty="0">
                <a:solidFill>
                  <a:schemeClr val="bg1"/>
                </a:solidFill>
              </a:rPr>
              <a:t>is lost to fraud.</a:t>
            </a:r>
            <a:endParaRPr lang="en-US" sz="2200" dirty="0"/>
          </a:p>
        </p:txBody>
      </p:sp>
      <p:sp>
        <p:nvSpPr>
          <p:cNvPr id="5" name="Shape 3"/>
          <p:cNvSpPr/>
          <p:nvPr/>
        </p:nvSpPr>
        <p:spPr>
          <a:xfrm>
            <a:off x="1587500" y="4381500"/>
            <a:ext cx="3810000" cy="558800"/>
          </a:xfrm>
          <a:prstGeom prst="roundRect">
            <a:avLst>
              <a:gd name="adj" fmla="val 50000"/>
            </a:avLst>
          </a:prstGeom>
          <a:solidFill>
            <a:srgbClr val="1F2622"/>
          </a:solidFill>
          <a:ln/>
        </p:spPr>
      </p:sp>
      <p:pic>
        <p:nvPicPr>
          <p:cNvPr id="6" name="Image 0" descr="preencoded.png">    </p:cNvPr>
          <p:cNvPicPr>
            <a:picLocks noChangeAspect="1"/>
          </p:cNvPicPr>
          <p:nvPr/>
        </p:nvPicPr>
        <p:blipFill>
          <a:blip r:embed="rId2"/>
          <a:stretch>
            <a:fillRect/>
          </a:stretch>
        </p:blipFill>
        <p:spPr>
          <a:xfrm>
            <a:off x="1816100" y="4533900"/>
            <a:ext cx="254000" cy="254000"/>
          </a:xfrm>
          <a:prstGeom prst="rect">
            <a:avLst/>
          </a:prstGeom>
        </p:spPr>
      </p:pic>
      <p:sp>
        <p:nvSpPr>
          <p:cNvPr id="7" name="Text 4"/>
          <p:cNvSpPr txBox="1"/>
          <p:nvPr/>
        </p:nvSpPr>
        <p:spPr>
          <a:xfrm>
            <a:off x="2171700" y="4381500"/>
            <a:ext cx="3048000" cy="558800"/>
          </a:xfrm>
          <a:prstGeom prst="rect">
            <a:avLst/>
          </a:prstGeom>
          <a:noFill/>
          <a:ln/>
        </p:spPr>
        <p:txBody>
          <a:bodyPr wrap="square" lIns="0" tIns="0" rIns="0" bIns="0" rtlCol="0" anchor="ctr"/>
          <a:lstStyle/>
          <a:p>
            <a:pPr algn="l" indent="0" marL="0">
              <a:buNone/>
            </a:pPr>
            <a:r>
              <a:rPr lang="en-US" sz="1600" dirty="0">
                <a:solidFill>
                  <a:schemeClr val="bg1"/>
                </a:solidFill>
              </a:rPr>
              <a:t>One case every </a:t>
            </a:r>
            <a:pPr algn="l" indent="0" marL="0">
              <a:buNone/>
            </a:pPr>
            <a:r>
              <a:rPr lang="en-US" sz="1600" b="1" dirty="0">
                <a:solidFill>
                  <a:schemeClr val="bg1"/>
                </a:solidFill>
              </a:rPr>
              <a:t>7.8 minutes</a:t>
            </a:r>
            <a:endParaRPr lang="en-US" sz="1600" dirty="0"/>
          </a:p>
        </p:txBody>
      </p:sp>
      <p:sp>
        <p:nvSpPr>
          <p:cNvPr id="8" name="Shape 5"/>
          <p:cNvSpPr/>
          <p:nvPr/>
        </p:nvSpPr>
        <p:spPr>
          <a:xfrm>
            <a:off x="5600700" y="4381500"/>
            <a:ext cx="5016500" cy="558800"/>
          </a:xfrm>
          <a:prstGeom prst="roundRect">
            <a:avLst>
              <a:gd name="adj" fmla="val 50000"/>
            </a:avLst>
          </a:prstGeom>
          <a:solidFill>
            <a:srgbClr val="1F2622"/>
          </a:solidFill>
          <a:ln/>
        </p:spPr>
      </p:sp>
      <p:pic>
        <p:nvPicPr>
          <p:cNvPr id="9" name="Image 1" descr="preencoded.png">    </p:cNvPr>
          <p:cNvPicPr>
            <a:picLocks noChangeAspect="1"/>
          </p:cNvPicPr>
          <p:nvPr/>
        </p:nvPicPr>
        <p:blipFill>
          <a:blip r:embed="rId3"/>
          <a:stretch>
            <a:fillRect/>
          </a:stretch>
        </p:blipFill>
        <p:spPr>
          <a:xfrm>
            <a:off x="5829300" y="4533900"/>
            <a:ext cx="254000" cy="254000"/>
          </a:xfrm>
          <a:prstGeom prst="rect">
            <a:avLst/>
          </a:prstGeom>
        </p:spPr>
      </p:pic>
      <p:sp>
        <p:nvSpPr>
          <p:cNvPr id="10" name="Text 6"/>
          <p:cNvSpPr txBox="1"/>
          <p:nvPr/>
        </p:nvSpPr>
        <p:spPr>
          <a:xfrm>
            <a:off x="6184900" y="4381500"/>
            <a:ext cx="4254500" cy="558800"/>
          </a:xfrm>
          <a:prstGeom prst="rect">
            <a:avLst/>
          </a:prstGeom>
          <a:noFill/>
          <a:ln/>
        </p:spPr>
        <p:txBody>
          <a:bodyPr wrap="square" lIns="0" tIns="0" rIns="0" bIns="0" rtlCol="0" anchor="ctr"/>
          <a:lstStyle/>
          <a:p>
            <a:pPr algn="l" indent="0" marL="0">
              <a:buNone/>
            </a:pPr>
            <a:r>
              <a:rPr lang="en-US" sz="1600" dirty="0">
                <a:solidFill>
                  <a:schemeClr val="bg1"/>
                </a:solidFill>
              </a:rPr>
              <a:t>#1 trick: </a:t>
            </a:r>
            <a:pPr algn="l" indent="0" marL="0">
              <a:buNone/>
            </a:pPr>
            <a:r>
              <a:rPr lang="en-US" sz="1600" b="1" dirty="0">
                <a:solidFill>
                  <a:schemeClr val="bg1"/>
                </a:solidFill>
              </a:rPr>
              <a:t>pretending to be your bank</a:t>
            </a:r>
            <a:endParaRPr lang="en-US" sz="1600" dirty="0"/>
          </a:p>
        </p:txBody>
      </p:sp>
      <p:sp>
        <p:nvSpPr>
          <p:cNvPr id="11" name="Text 7"/>
          <p:cNvSpPr txBox="1"/>
          <p:nvPr/>
        </p:nvSpPr>
        <p:spPr>
          <a:xfrm>
            <a:off x="812800" y="6261100"/>
            <a:ext cx="10566400" cy="228600"/>
          </a:xfrm>
          <a:prstGeom prst="rect">
            <a:avLst/>
          </a:prstGeom>
          <a:noFill/>
          <a:ln/>
        </p:spPr>
        <p:txBody>
          <a:bodyPr wrap="square" lIns="0" tIns="0" rIns="0" bIns="0" rtlCol="0" anchor="ctr"/>
          <a:lstStyle/>
          <a:p>
            <a:pPr algn="ctr" indent="0" marL="0">
              <a:buNone/>
            </a:pPr>
            <a:r>
              <a:rPr lang="en-US" sz="1200" dirty="0">
                <a:solidFill>
                  <a:srgbClr val="7D8782"/>
                </a:solidFill>
              </a:rPr>
              <a:t>NIBSS 2025: ₦25.85bn lost, 67,518 incidents; social engineering “the most prevalent technique” · daily and per-minute figures derived</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Eyebrow"/>
          <p:cNvSpPr txBox="1"/>
          <p:nvPr/>
        </p:nvSpPr>
        <p:spPr>
          <a:xfrm>
            <a:off x="812800" y="812800"/>
            <a:ext cx="6985000" cy="190500"/>
          </a:xfrm>
          <a:prstGeom prst="rect">
            <a:avLst/>
          </a:prstGeom>
          <a:noFill/>
          <a:ln/>
        </p:spPr>
        <p:txBody>
          <a:bodyPr wrap="square" lIns="0" tIns="0" rIns="0" bIns="0" rtlCol="0" anchor="t"/>
          <a:lstStyle/>
          <a:p>
            <a:pPr algn="l" indent="0" marL="0">
              <a:buNone/>
            </a:pPr>
            <a:r>
              <a:rPr lang="en-US" sz="1200" b="1" spc="150" kern="0" dirty="0">
                <a:solidFill>
                  <a:schemeClr val="accent5"/>
                </a:solidFill>
                <a:latin typeface="Courier New" pitchFamily="34" charset="0"/>
                <a:ea typeface="Courier New" pitchFamily="34" charset="-122"/>
                <a:cs typeface="Courier New" pitchFamily="34" charset="-120"/>
              </a:rPr>
              <a:t>9:17 PM · AMINA OPENS GASKIYYA</a:t>
            </a:r>
            <a:endParaRPr lang="en-US" sz="1200" dirty="0"/>
          </a:p>
        </p:txBody>
      </p:sp>
      <p:sp>
        <p:nvSpPr>
          <p:cNvPr id="3" name="Text 1"/>
          <p:cNvSpPr/>
          <p:nvPr>
            <p:ph idx="102" type="title" hasCustomPrompt="1"/>
          </p:nvPr>
        </p:nvSpPr>
        <p:spPr>
          <a:xfrm>
            <a:off x="812800" y="1130300"/>
            <a:ext cx="5461000" cy="1397000"/>
          </a:xfrm>
          <a:prstGeom prst="rect">
            <a:avLst/>
          </a:prstGeom>
          <a:noFill/>
          <a:ln/>
        </p:spPr>
        <p:txBody>
          <a:bodyPr wrap="square" lIns="0" tIns="0" rIns="0" bIns="0" rtlCol="0" anchor="t"/>
          <a:lstStyle/>
          <a:p>
            <a:pPr algn="l" indent="0" marL="0">
              <a:lnSpc>
                <a:spcPct val="95000"/>
              </a:lnSpc>
              <a:buNone/>
            </a:pPr>
            <a:r>
              <a:rPr lang="en-US" sz="4800" b="1" dirty="0">
                <a:solidFill>
                  <a:schemeClr val="bg1"/>
                </a:solidFill>
                <a:latin typeface="Arial" pitchFamily="34" charset="0"/>
                <a:ea typeface="Arial" pitchFamily="34" charset="-122"/>
                <a:cs typeface="Arial" pitchFamily="34" charset="-120"/>
              </a:rPr>
              <a:t>One tap. The truth.</a:t>
            </a:r>
            <a:endParaRPr lang="en-US" sz="4800" dirty="0"/>
          </a:p>
        </p:txBody>
      </p:sp>
      <p:sp>
        <p:nvSpPr>
          <p:cNvPr id="4" name="Text 2"/>
          <p:cNvSpPr txBox="1"/>
          <p:nvPr/>
        </p:nvSpPr>
        <p:spPr>
          <a:xfrm>
            <a:off x="812800" y="2667000"/>
            <a:ext cx="5207000" cy="571500"/>
          </a:xfrm>
          <a:prstGeom prst="rect">
            <a:avLst/>
          </a:prstGeom>
          <a:noFill/>
          <a:ln/>
        </p:spPr>
        <p:txBody>
          <a:bodyPr wrap="square" lIns="0" tIns="0" rIns="0" bIns="0" rtlCol="0" anchor="t"/>
          <a:lstStyle/>
          <a:p>
            <a:pPr algn="l" indent="0" marL="0">
              <a:lnSpc>
                <a:spcPct val="130000"/>
              </a:lnSpc>
              <a:buNone/>
            </a:pPr>
            <a:r>
              <a:rPr lang="en-US" sz="1600" dirty="0">
                <a:solidFill>
                  <a:schemeClr val="bg1"/>
                </a:solidFill>
              </a:rPr>
              <a:t>Not her eyes. Not AI. Her bank’s </a:t>
            </a:r>
            <a:pPr algn="l" indent="0" marL="0">
              <a:lnSpc>
                <a:spcPct val="130000"/>
              </a:lnSpc>
              <a:buNone/>
            </a:pPr>
            <a:r>
              <a:rPr lang="en-US" sz="1600" b="1" dirty="0">
                <a:solidFill>
                  <a:schemeClr val="bg1"/>
                </a:solidFill>
              </a:rPr>
              <a:t>own records</a:t>
            </a:r>
            <a:pPr algn="l" indent="0" marL="0">
              <a:lnSpc>
                <a:spcPct val="130000"/>
              </a:lnSpc>
              <a:buNone/>
            </a:pPr>
            <a:r>
              <a:rPr lang="en-US" sz="1600" dirty="0">
                <a:solidFill>
                  <a:schemeClr val="bg1"/>
                </a:solidFill>
              </a:rPr>
              <a:t> decide.</a:t>
            </a:r>
            <a:endParaRPr lang="en-US" sz="1600" dirty="0"/>
          </a:p>
        </p:txBody>
      </p:sp>
      <p:sp>
        <p:nvSpPr>
          <p:cNvPr id="5" name="Shape 3"/>
          <p:cNvSpPr/>
          <p:nvPr/>
        </p:nvSpPr>
        <p:spPr>
          <a:xfrm>
            <a:off x="812800" y="3429000"/>
            <a:ext cx="5207000" cy="0"/>
          </a:xfrm>
          <a:prstGeom prst="line">
            <a:avLst/>
          </a:prstGeom>
          <a:noFill/>
          <a:ln w="12700">
            <a:solidFill>
              <a:srgbClr val="3E9A78"/>
            </a:solidFill>
            <a:prstDash val="solid"/>
          </a:ln>
        </p:spPr>
      </p:sp>
      <p:sp>
        <p:nvSpPr>
          <p:cNvPr id="6" name="Text 4"/>
          <p:cNvSpPr txBox="1"/>
          <p:nvPr/>
        </p:nvSpPr>
        <p:spPr>
          <a:xfrm>
            <a:off x="812800" y="3543300"/>
            <a:ext cx="444500" cy="304800"/>
          </a:xfrm>
          <a:prstGeom prst="rect">
            <a:avLst/>
          </a:prstGeom>
          <a:noFill/>
          <a:ln/>
        </p:spPr>
        <p:txBody>
          <a:bodyPr wrap="square" lIns="0" tIns="0" rIns="0" bIns="0" rtlCol="0" anchor="ctr"/>
          <a:lstStyle/>
          <a:p>
            <a:pPr algn="l" indent="0" marL="0">
              <a:buNone/>
            </a:pPr>
            <a:r>
              <a:rPr lang="en-US" sz="1600" b="1" dirty="0">
                <a:solidFill>
                  <a:schemeClr val="accent5"/>
                </a:solidFill>
                <a:latin typeface="Courier New" pitchFamily="34" charset="0"/>
                <a:ea typeface="Courier New" pitchFamily="34" charset="-122"/>
                <a:cs typeface="Courier New" pitchFamily="34" charset="-120"/>
              </a:rPr>
              <a:t>01</a:t>
            </a:r>
            <a:endParaRPr lang="en-US" sz="1600" dirty="0"/>
          </a:p>
        </p:txBody>
      </p:sp>
      <p:sp>
        <p:nvSpPr>
          <p:cNvPr id="7" name="Text 5"/>
          <p:cNvSpPr txBox="1"/>
          <p:nvPr/>
        </p:nvSpPr>
        <p:spPr>
          <a:xfrm>
            <a:off x="1333500" y="3543300"/>
            <a:ext cx="4699000" cy="304800"/>
          </a:xfrm>
          <a:prstGeom prst="rect">
            <a:avLst/>
          </a:prstGeom>
          <a:noFill/>
          <a:ln/>
        </p:spPr>
        <p:txBody>
          <a:bodyPr wrap="square" lIns="0" tIns="0" rIns="0" bIns="0" rtlCol="0" anchor="ctr"/>
          <a:lstStyle/>
          <a:p>
            <a:pPr algn="l" indent="0" marL="0">
              <a:buNone/>
            </a:pPr>
            <a:r>
              <a:rPr lang="en-US" sz="1600" dirty="0">
                <a:solidFill>
                  <a:schemeClr val="bg1"/>
                </a:solidFill>
              </a:rPr>
              <a:t>Bank logs every message it sends</a:t>
            </a:r>
            <a:endParaRPr lang="en-US" sz="1600" dirty="0"/>
          </a:p>
        </p:txBody>
      </p:sp>
      <p:sp>
        <p:nvSpPr>
          <p:cNvPr id="8" name="Shape 6"/>
          <p:cNvSpPr/>
          <p:nvPr/>
        </p:nvSpPr>
        <p:spPr>
          <a:xfrm>
            <a:off x="812800" y="3962400"/>
            <a:ext cx="5207000" cy="0"/>
          </a:xfrm>
          <a:prstGeom prst="line">
            <a:avLst/>
          </a:prstGeom>
          <a:noFill/>
          <a:ln w="12700">
            <a:solidFill>
              <a:srgbClr val="3E9A78"/>
            </a:solidFill>
            <a:prstDash val="solid"/>
          </a:ln>
        </p:spPr>
      </p:sp>
      <p:sp>
        <p:nvSpPr>
          <p:cNvPr id="9" name="Text 7"/>
          <p:cNvSpPr txBox="1"/>
          <p:nvPr/>
        </p:nvSpPr>
        <p:spPr>
          <a:xfrm>
            <a:off x="812800" y="4076700"/>
            <a:ext cx="444500" cy="304800"/>
          </a:xfrm>
          <a:prstGeom prst="rect">
            <a:avLst/>
          </a:prstGeom>
          <a:noFill/>
          <a:ln/>
        </p:spPr>
        <p:txBody>
          <a:bodyPr wrap="square" lIns="0" tIns="0" rIns="0" bIns="0" rtlCol="0" anchor="ctr"/>
          <a:lstStyle/>
          <a:p>
            <a:pPr algn="l" indent="0" marL="0">
              <a:buNone/>
            </a:pPr>
            <a:r>
              <a:rPr lang="en-US" sz="1600" b="1" dirty="0">
                <a:solidFill>
                  <a:schemeClr val="accent5"/>
                </a:solidFill>
                <a:latin typeface="Courier New" pitchFamily="34" charset="0"/>
                <a:ea typeface="Courier New" pitchFamily="34" charset="-122"/>
                <a:cs typeface="Courier New" pitchFamily="34" charset="-120"/>
              </a:rPr>
              <a:t>02</a:t>
            </a:r>
            <a:endParaRPr lang="en-US" sz="1600" dirty="0"/>
          </a:p>
        </p:txBody>
      </p:sp>
      <p:sp>
        <p:nvSpPr>
          <p:cNvPr id="10" name="Text 8"/>
          <p:cNvSpPr txBox="1"/>
          <p:nvPr/>
        </p:nvSpPr>
        <p:spPr>
          <a:xfrm>
            <a:off x="1333500" y="4076700"/>
            <a:ext cx="4699000" cy="304800"/>
          </a:xfrm>
          <a:prstGeom prst="rect">
            <a:avLst/>
          </a:prstGeom>
          <a:noFill/>
          <a:ln/>
        </p:spPr>
        <p:txBody>
          <a:bodyPr wrap="square" lIns="0" tIns="0" rIns="0" bIns="0" rtlCol="0" anchor="ctr"/>
          <a:lstStyle/>
          <a:p>
            <a:pPr algn="l" indent="0" marL="0">
              <a:buNone/>
            </a:pPr>
            <a:r>
              <a:rPr lang="en-US" sz="1600" dirty="0">
                <a:solidFill>
                  <a:schemeClr val="bg1"/>
                </a:solidFill>
              </a:rPr>
              <a:t>Amina shares it with Gaskiyya</a:t>
            </a:r>
            <a:endParaRPr lang="en-US" sz="1600" dirty="0"/>
          </a:p>
        </p:txBody>
      </p:sp>
      <p:sp>
        <p:nvSpPr>
          <p:cNvPr id="11" name="Shape 9"/>
          <p:cNvSpPr/>
          <p:nvPr/>
        </p:nvSpPr>
        <p:spPr>
          <a:xfrm>
            <a:off x="812800" y="4495800"/>
            <a:ext cx="5207000" cy="0"/>
          </a:xfrm>
          <a:prstGeom prst="line">
            <a:avLst/>
          </a:prstGeom>
          <a:noFill/>
          <a:ln w="12700">
            <a:solidFill>
              <a:srgbClr val="3E9A78"/>
            </a:solidFill>
            <a:prstDash val="solid"/>
          </a:ln>
        </p:spPr>
      </p:sp>
      <p:sp>
        <p:nvSpPr>
          <p:cNvPr id="12" name="Text 10"/>
          <p:cNvSpPr txBox="1"/>
          <p:nvPr/>
        </p:nvSpPr>
        <p:spPr>
          <a:xfrm>
            <a:off x="812800" y="4610100"/>
            <a:ext cx="444500" cy="304800"/>
          </a:xfrm>
          <a:prstGeom prst="rect">
            <a:avLst/>
          </a:prstGeom>
          <a:noFill/>
          <a:ln/>
        </p:spPr>
        <p:txBody>
          <a:bodyPr wrap="square" lIns="0" tIns="0" rIns="0" bIns="0" rtlCol="0" anchor="ctr"/>
          <a:lstStyle/>
          <a:p>
            <a:pPr algn="l" indent="0" marL="0">
              <a:buNone/>
            </a:pPr>
            <a:r>
              <a:rPr lang="en-US" sz="1600" b="1" dirty="0">
                <a:solidFill>
                  <a:schemeClr val="accent5"/>
                </a:solidFill>
                <a:latin typeface="Courier New" pitchFamily="34" charset="0"/>
                <a:ea typeface="Courier New" pitchFamily="34" charset="-122"/>
                <a:cs typeface="Courier New" pitchFamily="34" charset="-120"/>
              </a:rPr>
              <a:t>03</a:t>
            </a:r>
            <a:endParaRPr lang="en-US" sz="1600" dirty="0"/>
          </a:p>
        </p:txBody>
      </p:sp>
      <p:sp>
        <p:nvSpPr>
          <p:cNvPr id="13" name="Text 11"/>
          <p:cNvSpPr txBox="1"/>
          <p:nvPr/>
        </p:nvSpPr>
        <p:spPr>
          <a:xfrm>
            <a:off x="1333500" y="4610100"/>
            <a:ext cx="4699000" cy="304800"/>
          </a:xfrm>
          <a:prstGeom prst="rect">
            <a:avLst/>
          </a:prstGeom>
          <a:noFill/>
          <a:ln/>
        </p:spPr>
        <p:txBody>
          <a:bodyPr wrap="square" lIns="0" tIns="0" rIns="0" bIns="0" rtlCol="0" anchor="ctr"/>
          <a:lstStyle/>
          <a:p>
            <a:pPr algn="l" indent="0" marL="0">
              <a:buNone/>
            </a:pPr>
            <a:r>
              <a:rPr lang="en-US" sz="1600" dirty="0">
                <a:solidFill>
                  <a:schemeClr val="bg1"/>
                </a:solidFill>
              </a:rPr>
              <a:t>Only an exact match confirms</a:t>
            </a:r>
            <a:endParaRPr lang="en-US" sz="1600" dirty="0"/>
          </a:p>
        </p:txBody>
      </p:sp>
      <p:pic>
        <p:nvPicPr>
          <p:cNvPr id="14" name="Phone: Result: Sent by your bank" descr="Result: Sent by your bank">    </p:cNvPr>
          <p:cNvPicPr>
            <a:picLocks noChangeAspect="1"/>
          </p:cNvPicPr>
          <p:nvPr/>
        </p:nvPicPr>
        <p:blipFill>
          <a:blip r:embed="rId1"/>
          <a:stretch>
            <a:fillRect/>
          </a:stretch>
        </p:blipFill>
        <p:spPr>
          <a:xfrm rot="-240000">
            <a:off x="6135688" y="547688"/>
            <a:ext cx="2968625" cy="5343525"/>
          </a:xfrm>
          <a:prstGeom prst="rect">
            <a:avLst/>
          </a:prstGeom>
        </p:spPr>
      </p:pic>
      <p:pic>
        <p:nvPicPr>
          <p:cNvPr id="15" name="Phone: Result: Not confirmed" descr="Result: Not confirmed">    </p:cNvPr>
          <p:cNvPicPr>
            <a:picLocks noChangeAspect="1"/>
          </p:cNvPicPr>
          <p:nvPr/>
        </p:nvPicPr>
        <p:blipFill>
          <a:blip r:embed="rId2"/>
          <a:stretch>
            <a:fillRect/>
          </a:stretch>
        </p:blipFill>
        <p:spPr>
          <a:xfrm rot="240000">
            <a:off x="8612188" y="801688"/>
            <a:ext cx="2968625" cy="5343525"/>
          </a:xfrm>
          <a:prstGeom prst="rect">
            <a:avLst/>
          </a:prstGeom>
        </p:spPr>
      </p:pic>
      <p:sp>
        <p:nvSpPr>
          <p:cNvPr id="25" name="Slide Number Placeholder 0"/>
          <p:cNvSpPr>
            <a:spLocks noGrp="1"/>
          </p:cNvSpPr>
          <p:nvPr>
            <p:ph type="sldNum" sz="quarter" idx="4294967295"/>
          </p:nvPr>
        </p:nvSpPr>
        <p:spPr>
          <a:xfrm>
            <a:off x="10617200" y="6261100"/>
            <a:ext cx="762000" cy="22860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5"/>
                </a:solidFill>
                <a:latin typeface="Courier New"/>
                <a:ea typeface="Courier New"/>
                <a:cs typeface="Courier New"/>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Eyebrow"/>
          <p:cNvSpPr txBox="1"/>
          <p:nvPr/>
        </p:nvSpPr>
        <p:spPr>
          <a:xfrm>
            <a:off x="812800" y="812800"/>
            <a:ext cx="6985000" cy="190500"/>
          </a:xfrm>
          <a:prstGeom prst="rect">
            <a:avLst/>
          </a:prstGeom>
          <a:noFill/>
          <a:ln/>
        </p:spPr>
        <p:txBody>
          <a:bodyPr wrap="square" lIns="0" tIns="0" rIns="0" bIns="0" rtlCol="0" anchor="t"/>
          <a:lstStyle/>
          <a:p>
            <a:pPr algn="l" indent="0" marL="0">
              <a:buNone/>
            </a:pPr>
            <a:r>
              <a:rPr lang="en-US" sz="1200" b="1" spc="150" kern="0" dirty="0">
                <a:solidFill>
                  <a:schemeClr val="accent2"/>
                </a:solidFill>
                <a:latin typeface="Courier New" pitchFamily="34" charset="0"/>
                <a:ea typeface="Courier New" pitchFamily="34" charset="-122"/>
                <a:cs typeface="Courier New" pitchFamily="34" charset="-120"/>
              </a:rPr>
              <a:t>NEXT MORNING · HER PHONE RINGS</a:t>
            </a:r>
            <a:endParaRPr lang="en-US" sz="1200" dirty="0"/>
          </a:p>
        </p:txBody>
      </p:sp>
      <p:sp>
        <p:nvSpPr>
          <p:cNvPr id="3" name="Text 1"/>
          <p:cNvSpPr/>
          <p:nvPr>
            <p:ph idx="102" type="title" hasCustomPrompt="1"/>
          </p:nvPr>
        </p:nvSpPr>
        <p:spPr>
          <a:xfrm>
            <a:off x="812800" y="1130300"/>
            <a:ext cx="5207000" cy="114300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latin typeface="Arial" pitchFamily="34" charset="0"/>
                <a:ea typeface="Arial" pitchFamily="34" charset="-122"/>
                <a:cs typeface="Arial" pitchFamily="34" charset="-120"/>
              </a:rPr>
              <a:t>“Hello madam, this is your bank.”</a:t>
            </a:r>
            <a:endParaRPr lang="en-US" sz="3600" dirty="0"/>
          </a:p>
        </p:txBody>
      </p:sp>
      <p:sp>
        <p:nvSpPr>
          <p:cNvPr id="4" name="Text 2"/>
          <p:cNvSpPr txBox="1"/>
          <p:nvPr/>
        </p:nvSpPr>
        <p:spPr>
          <a:xfrm>
            <a:off x="812800" y="2540000"/>
            <a:ext cx="4953000" cy="635000"/>
          </a:xfrm>
          <a:prstGeom prst="rect">
            <a:avLst/>
          </a:prstGeom>
          <a:noFill/>
          <a:ln/>
        </p:spPr>
        <p:txBody>
          <a:bodyPr wrap="square" lIns="0" tIns="0" rIns="0" bIns="0" rtlCol="0" anchor="t"/>
          <a:lstStyle/>
          <a:p>
            <a:pPr algn="l" indent="0" marL="0">
              <a:lnSpc>
                <a:spcPct val="130000"/>
              </a:lnSpc>
              <a:buNone/>
            </a:pPr>
            <a:r>
              <a:rPr lang="en-US" sz="1600" dirty="0">
                <a:solidFill>
                  <a:schemeClr val="bg2"/>
                </a:solidFill>
              </a:rPr>
              <a:t>Is it? The agent reads a 4-digit code. Her app shows the </a:t>
            </a:r>
            <a:pPr algn="l" indent="0" marL="0">
              <a:lnSpc>
                <a:spcPct val="130000"/>
              </a:lnSpc>
              <a:buNone/>
            </a:pPr>
            <a:r>
              <a:rPr lang="en-US" sz="1600" b="1" dirty="0">
                <a:solidFill>
                  <a:srgbClr val="F4F3EF"/>
                </a:solidFill>
              </a:rPr>
              <a:t>same code.</a:t>
            </a:r>
            <a:endParaRPr lang="en-US" sz="1600" dirty="0"/>
          </a:p>
        </p:txBody>
      </p:sp>
      <p:sp>
        <p:nvSpPr>
          <p:cNvPr id="5" name="Text 3"/>
          <p:cNvSpPr txBox="1"/>
          <p:nvPr/>
        </p:nvSpPr>
        <p:spPr>
          <a:xfrm>
            <a:off x="812800" y="3302000"/>
            <a:ext cx="4953000" cy="635000"/>
          </a:xfrm>
          <a:prstGeom prst="rect">
            <a:avLst/>
          </a:prstGeom>
          <a:noFill/>
          <a:ln/>
        </p:spPr>
        <p:txBody>
          <a:bodyPr wrap="square" lIns="0" tIns="0" rIns="0" bIns="0" rtlCol="0" anchor="t"/>
          <a:lstStyle/>
          <a:p>
            <a:pPr algn="l" indent="0" marL="0">
              <a:lnSpc>
                <a:spcPct val="130000"/>
              </a:lnSpc>
              <a:buNone/>
            </a:pPr>
            <a:r>
              <a:rPr lang="en-US" sz="1600" dirty="0">
                <a:solidFill>
                  <a:schemeClr val="bg2"/>
                </a:solidFill>
              </a:rPr>
              <a:t>No call announced? The app says it plainly: </a:t>
            </a:r>
            <a:pPr algn="l" indent="0" marL="0">
              <a:lnSpc>
                <a:spcPct val="130000"/>
              </a:lnSpc>
              <a:buNone/>
            </a:pPr>
            <a:r>
              <a:rPr lang="en-US" sz="1600" b="1" dirty="0">
                <a:solidFill>
                  <a:srgbClr val="FF9F0A"/>
                </a:solidFill>
              </a:rPr>
              <a:t>hang up.</a:t>
            </a:r>
            <a:endParaRPr lang="en-US" sz="1600" dirty="0"/>
          </a:p>
        </p:txBody>
      </p:sp>
      <p:pic>
        <p:nvPicPr>
          <p:cNvPr id="6" name="Phone: Calls: DemoBank is calling you now, code 0599" descr="Calls: DemoBank is calling you now, code 0599">    </p:cNvPr>
          <p:cNvPicPr>
            <a:picLocks noChangeAspect="1"/>
          </p:cNvPicPr>
          <p:nvPr/>
        </p:nvPicPr>
        <p:blipFill>
          <a:blip r:embed="rId1"/>
          <a:stretch>
            <a:fillRect/>
          </a:stretch>
        </p:blipFill>
        <p:spPr>
          <a:xfrm>
            <a:off x="5957094" y="419894"/>
            <a:ext cx="2881313" cy="5186363"/>
          </a:xfrm>
          <a:prstGeom prst="rect">
            <a:avLst/>
          </a:prstGeom>
        </p:spPr>
      </p:pic>
      <p:pic>
        <p:nvPicPr>
          <p:cNvPr id="7" name="Phone: Calls: Your bank is not calling you" descr="Calls: Your bank is not calling you">    </p:cNvPr>
          <p:cNvPicPr>
            <a:picLocks noChangeAspect="1"/>
          </p:cNvPicPr>
          <p:nvPr/>
        </p:nvPicPr>
        <p:blipFill>
          <a:blip r:embed="rId2"/>
          <a:stretch>
            <a:fillRect/>
          </a:stretch>
        </p:blipFill>
        <p:spPr>
          <a:xfrm>
            <a:off x="8687594" y="419894"/>
            <a:ext cx="2881313" cy="5186363"/>
          </a:xfrm>
          <a:prstGeom prst="rect">
            <a:avLst/>
          </a:prstGeom>
        </p:spPr>
      </p:pic>
      <p:sp>
        <p:nvSpPr>
          <p:cNvPr id="8" name="Text 4"/>
          <p:cNvSpPr txBox="1"/>
          <p:nvPr/>
        </p:nvSpPr>
        <p:spPr>
          <a:xfrm>
            <a:off x="6350000" y="5397500"/>
            <a:ext cx="2095500" cy="215900"/>
          </a:xfrm>
          <a:prstGeom prst="rect">
            <a:avLst/>
          </a:prstGeom>
          <a:noFill/>
          <a:ln/>
        </p:spPr>
        <p:txBody>
          <a:bodyPr wrap="square" lIns="0" tIns="0" rIns="0" bIns="0" rtlCol="0" anchor="t"/>
          <a:lstStyle/>
          <a:p>
            <a:pPr algn="ctr" indent="0" marL="0">
              <a:buNone/>
            </a:pPr>
            <a:r>
              <a:rPr lang="en-US" sz="1200" b="1" dirty="0">
                <a:solidFill>
                  <a:schemeClr val="accent2"/>
                </a:solidFill>
              </a:rPr>
              <a:t>Real bank call</a:t>
            </a:r>
            <a:endParaRPr lang="en-US" sz="1200" dirty="0"/>
          </a:p>
        </p:txBody>
      </p:sp>
      <p:sp>
        <p:nvSpPr>
          <p:cNvPr id="9" name="Text 5"/>
          <p:cNvSpPr txBox="1"/>
          <p:nvPr/>
        </p:nvSpPr>
        <p:spPr>
          <a:xfrm>
            <a:off x="9080500" y="5397500"/>
            <a:ext cx="2095500" cy="215900"/>
          </a:xfrm>
          <a:prstGeom prst="rect">
            <a:avLst/>
          </a:prstGeom>
          <a:noFill/>
          <a:ln/>
        </p:spPr>
        <p:txBody>
          <a:bodyPr wrap="square" lIns="0" tIns="0" rIns="0" bIns="0" rtlCol="0" anchor="t"/>
          <a:lstStyle/>
          <a:p>
            <a:pPr algn="ctr" indent="0" marL="0">
              <a:buNone/>
            </a:pPr>
            <a:r>
              <a:rPr lang="en-US" sz="1200" b="1" dirty="0">
                <a:solidFill>
                  <a:schemeClr val="accent4"/>
                </a:solidFill>
              </a:rPr>
              <a:t>Fraudster calling</a:t>
            </a:r>
            <a:endParaRPr lang="en-US" sz="1200" dirty="0"/>
          </a:p>
        </p:txBody>
      </p:sp>
      <p:sp>
        <p:nvSpPr>
          <p:cNvPr id="25" name="Slide Number Placeholder 0"/>
          <p:cNvSpPr>
            <a:spLocks noGrp="1"/>
          </p:cNvSpPr>
          <p:nvPr>
            <p:ph type="sldNum" sz="quarter" idx="4294967295"/>
          </p:nvPr>
        </p:nvSpPr>
        <p:spPr>
          <a:xfrm>
            <a:off x="10617200" y="6261100"/>
            <a:ext cx="762000" cy="22860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latin typeface="Courier New"/>
                <a:ea typeface="Courier New"/>
                <a:cs typeface="Courier New"/>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Eyebrow"/>
          <p:cNvSpPr txBox="1"/>
          <p:nvPr/>
        </p:nvSpPr>
        <p:spPr>
          <a:xfrm>
            <a:off x="812800" y="812800"/>
            <a:ext cx="6985000" cy="190500"/>
          </a:xfrm>
          <a:prstGeom prst="rect">
            <a:avLst/>
          </a:prstGeom>
          <a:noFill/>
          <a:ln/>
        </p:spPr>
        <p:txBody>
          <a:bodyPr wrap="square" lIns="0" tIns="0" rIns="0" bIns="0" rtlCol="0" anchor="t"/>
          <a:lstStyle/>
          <a:p>
            <a:pPr algn="l" indent="0" marL="0">
              <a:buNone/>
            </a:pPr>
            <a:r>
              <a:rPr lang="en-US" sz="1200" b="1" spc="150" kern="0" dirty="0">
                <a:solidFill>
                  <a:schemeClr val="accent1"/>
                </a:solidFill>
                <a:latin typeface="Courier New" pitchFamily="34" charset="0"/>
                <a:ea typeface="Courier New" pitchFamily="34" charset="-122"/>
                <a:cs typeface="Courier New" pitchFamily="34" charset="-120"/>
              </a:rPr>
              <a:t>THE REST OF HER DAY</a:t>
            </a:r>
            <a:endParaRPr lang="en-US" sz="1200" dirty="0"/>
          </a:p>
        </p:txBody>
      </p:sp>
      <p:sp>
        <p:nvSpPr>
          <p:cNvPr id="3" name="Text 1"/>
          <p:cNvSpPr/>
          <p:nvPr>
            <p:ph idx="102" type="title" hasCustomPrompt="1"/>
          </p:nvPr>
        </p:nvSpPr>
        <p:spPr>
          <a:xfrm>
            <a:off x="812800" y="1130300"/>
            <a:ext cx="10566400" cy="698500"/>
          </a:xfrm>
          <a:prstGeom prst="rect">
            <a:avLst/>
          </a:prstGeom>
          <a:noFill/>
          <a:ln/>
        </p:spPr>
        <p:txBody>
          <a:bodyPr wrap="square" lIns="0" tIns="0" rIns="0" bIns="0" rtlCol="0" anchor="t"/>
          <a:lstStyle/>
          <a:p>
            <a:pPr algn="l" indent="0" marL="0">
              <a:lnSpc>
                <a:spcPct val="95000"/>
              </a:lnSpc>
              <a:buNone/>
            </a:pPr>
            <a:r>
              <a:rPr lang="en-US" sz="3600" b="1" dirty="0">
                <a:solidFill>
                  <a:schemeClr val="tx1"/>
                </a:solidFill>
                <a:latin typeface="Arial" pitchFamily="34" charset="0"/>
                <a:ea typeface="Arial" pitchFamily="34" charset="-122"/>
                <a:cs typeface="Arial" pitchFamily="34" charset="-120"/>
              </a:rPr>
              <a:t>One app. Every trick in the book.</a:t>
            </a:r>
            <a:endParaRPr lang="en-US" sz="3600" dirty="0"/>
          </a:p>
        </p:txBody>
      </p:sp>
      <p:pic>
        <p:nvPicPr>
          <p:cNvPr id="4" name="Phone: “I’ve paid you” — true?" descr="“I’ve paid you” — true?">    </p:cNvPr>
          <p:cNvPicPr>
            <a:picLocks noChangeAspect="1"/>
          </p:cNvPicPr>
          <p:nvPr/>
        </p:nvPicPr>
        <p:blipFill>
          <a:blip r:embed="rId1"/>
          <a:stretch>
            <a:fillRect/>
          </a:stretch>
        </p:blipFill>
        <p:spPr>
          <a:xfrm>
            <a:off x="946944" y="1670844"/>
            <a:ext cx="2182813" cy="3929063"/>
          </a:xfrm>
          <a:prstGeom prst="rect">
            <a:avLst/>
          </a:prstGeom>
        </p:spPr>
      </p:pic>
      <p:sp>
        <p:nvSpPr>
          <p:cNvPr id="5" name="Text 2"/>
          <p:cNvSpPr txBox="1"/>
          <p:nvPr/>
        </p:nvSpPr>
        <p:spPr>
          <a:xfrm>
            <a:off x="768350" y="5461000"/>
            <a:ext cx="2540000" cy="215900"/>
          </a:xfrm>
          <a:prstGeom prst="rect">
            <a:avLst/>
          </a:prstGeom>
          <a:noFill/>
          <a:ln/>
        </p:spPr>
        <p:txBody>
          <a:bodyPr wrap="square" lIns="0" tIns="0" rIns="0" bIns="0" rtlCol="0" anchor="t"/>
          <a:lstStyle/>
          <a:p>
            <a:pPr algn="ctr" indent="0" marL="0">
              <a:buNone/>
            </a:pPr>
            <a:r>
              <a:rPr lang="en-US" sz="1200" b="1" dirty="0">
                <a:solidFill>
                  <a:schemeClr val="tx1"/>
                </a:solidFill>
              </a:rPr>
              <a:t>“I’ve paid you” — true?</a:t>
            </a:r>
            <a:endParaRPr lang="en-US" sz="1200" dirty="0"/>
          </a:p>
        </p:txBody>
      </p:sp>
      <p:pic>
        <p:nvPicPr>
          <p:cNvPr id="6" name="Phone: Is this loan app legal?" descr="Is this loan app legal?">    </p:cNvPr>
          <p:cNvPicPr>
            <a:picLocks noChangeAspect="1"/>
          </p:cNvPicPr>
          <p:nvPr/>
        </p:nvPicPr>
        <p:blipFill>
          <a:blip r:embed="rId2"/>
          <a:stretch>
            <a:fillRect/>
          </a:stretch>
        </p:blipFill>
        <p:spPr>
          <a:xfrm>
            <a:off x="3652044" y="1670844"/>
            <a:ext cx="2182813" cy="3929063"/>
          </a:xfrm>
          <a:prstGeom prst="rect">
            <a:avLst/>
          </a:prstGeom>
        </p:spPr>
      </p:pic>
      <p:sp>
        <p:nvSpPr>
          <p:cNvPr id="7" name="Text 3"/>
          <p:cNvSpPr txBox="1"/>
          <p:nvPr/>
        </p:nvSpPr>
        <p:spPr>
          <a:xfrm>
            <a:off x="3473450" y="5461000"/>
            <a:ext cx="2540000" cy="215900"/>
          </a:xfrm>
          <a:prstGeom prst="rect">
            <a:avLst/>
          </a:prstGeom>
          <a:noFill/>
          <a:ln/>
        </p:spPr>
        <p:txBody>
          <a:bodyPr wrap="square" lIns="0" tIns="0" rIns="0" bIns="0" rtlCol="0" anchor="t"/>
          <a:lstStyle/>
          <a:p>
            <a:pPr algn="ctr" indent="0" marL="0">
              <a:buNone/>
            </a:pPr>
            <a:r>
              <a:rPr lang="en-US" sz="1200" b="1" dirty="0">
                <a:solidFill>
                  <a:schemeClr val="tx1"/>
                </a:solidFill>
              </a:rPr>
              <a:t>Is this loan app legal?</a:t>
            </a:r>
            <a:endParaRPr lang="en-US" sz="1200" dirty="0"/>
          </a:p>
        </p:txBody>
      </p:sp>
      <p:pic>
        <p:nvPicPr>
          <p:cNvPr id="8" name="Phone: Is this link my bank?" descr="Is this link my bank?">    </p:cNvPr>
          <p:cNvPicPr>
            <a:picLocks noChangeAspect="1"/>
          </p:cNvPicPr>
          <p:nvPr/>
        </p:nvPicPr>
        <p:blipFill>
          <a:blip r:embed="rId3"/>
          <a:stretch>
            <a:fillRect/>
          </a:stretch>
        </p:blipFill>
        <p:spPr>
          <a:xfrm>
            <a:off x="6357144" y="1670844"/>
            <a:ext cx="2182813" cy="3929063"/>
          </a:xfrm>
          <a:prstGeom prst="rect">
            <a:avLst/>
          </a:prstGeom>
        </p:spPr>
      </p:pic>
      <p:sp>
        <p:nvSpPr>
          <p:cNvPr id="9" name="Text 4"/>
          <p:cNvSpPr txBox="1"/>
          <p:nvPr/>
        </p:nvSpPr>
        <p:spPr>
          <a:xfrm>
            <a:off x="6178550" y="5461000"/>
            <a:ext cx="2540000" cy="215900"/>
          </a:xfrm>
          <a:prstGeom prst="rect">
            <a:avLst/>
          </a:prstGeom>
          <a:noFill/>
          <a:ln/>
        </p:spPr>
        <p:txBody>
          <a:bodyPr wrap="square" lIns="0" tIns="0" rIns="0" bIns="0" rtlCol="0" anchor="t"/>
          <a:lstStyle/>
          <a:p>
            <a:pPr algn="ctr" indent="0" marL="0">
              <a:buNone/>
            </a:pPr>
            <a:r>
              <a:rPr lang="en-US" sz="1200" b="1" dirty="0">
                <a:solidFill>
                  <a:schemeClr val="tx1"/>
                </a:solidFill>
              </a:rPr>
              <a:t>Is this link my bank?</a:t>
            </a:r>
            <a:endParaRPr lang="en-US" sz="1200" dirty="0"/>
          </a:p>
        </p:txBody>
      </p:sp>
      <p:pic>
        <p:nvPicPr>
          <p:cNvPr id="10" name="Phone: Scam wave? Warned first." descr="Scam wave? Warned first.">    </p:cNvPr>
          <p:cNvPicPr>
            <a:picLocks noChangeAspect="1"/>
          </p:cNvPicPr>
          <p:nvPr/>
        </p:nvPicPr>
        <p:blipFill>
          <a:blip r:embed="rId4"/>
          <a:stretch>
            <a:fillRect/>
          </a:stretch>
        </p:blipFill>
        <p:spPr>
          <a:xfrm>
            <a:off x="9062244" y="1670844"/>
            <a:ext cx="2182813" cy="3929063"/>
          </a:xfrm>
          <a:prstGeom prst="rect">
            <a:avLst/>
          </a:prstGeom>
        </p:spPr>
      </p:pic>
      <p:sp>
        <p:nvSpPr>
          <p:cNvPr id="11" name="Text 5"/>
          <p:cNvSpPr txBox="1"/>
          <p:nvPr/>
        </p:nvSpPr>
        <p:spPr>
          <a:xfrm>
            <a:off x="8883650" y="5461000"/>
            <a:ext cx="2540000" cy="215900"/>
          </a:xfrm>
          <a:prstGeom prst="rect">
            <a:avLst/>
          </a:prstGeom>
          <a:noFill/>
          <a:ln/>
        </p:spPr>
        <p:txBody>
          <a:bodyPr wrap="square" lIns="0" tIns="0" rIns="0" bIns="0" rtlCol="0" anchor="t"/>
          <a:lstStyle/>
          <a:p>
            <a:pPr algn="ctr" indent="0" marL="0">
              <a:buNone/>
            </a:pPr>
            <a:r>
              <a:rPr lang="en-US" sz="1200" b="1" dirty="0">
                <a:solidFill>
                  <a:schemeClr val="tx1"/>
                </a:solidFill>
              </a:rPr>
              <a:t>Scam wave? Warned first.</a:t>
            </a:r>
            <a:endParaRPr lang="en-US" sz="1200" dirty="0"/>
          </a:p>
        </p:txBody>
      </p:sp>
      <p:sp>
        <p:nvSpPr>
          <p:cNvPr id="25" name="Slide Number Placeholder 0"/>
          <p:cNvSpPr>
            <a:spLocks noGrp="1"/>
          </p:cNvSpPr>
          <p:nvPr>
            <p:ph type="sldNum" sz="quarter" idx="4294967295"/>
          </p:nvPr>
        </p:nvSpPr>
        <p:spPr>
          <a:xfrm>
            <a:off x="10617200" y="6261100"/>
            <a:ext cx="762000" cy="22860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latin typeface="Courier New"/>
                <a:ea typeface="Courier New"/>
                <a:cs typeface="Courier New"/>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Eyebrow"/>
          <p:cNvSpPr txBox="1"/>
          <p:nvPr/>
        </p:nvSpPr>
        <p:spPr>
          <a:xfrm>
            <a:off x="812800" y="812800"/>
            <a:ext cx="6985000" cy="190500"/>
          </a:xfrm>
          <a:prstGeom prst="rect">
            <a:avLst/>
          </a:prstGeom>
          <a:noFill/>
          <a:ln/>
        </p:spPr>
        <p:txBody>
          <a:bodyPr wrap="square" lIns="0" tIns="0" rIns="0" bIns="0" rtlCol="0" anchor="t"/>
          <a:lstStyle/>
          <a:p>
            <a:pPr algn="l" indent="0" marL="0">
              <a:buNone/>
            </a:pPr>
            <a:r>
              <a:rPr lang="en-US" sz="1200" b="1" spc="150" kern="0" dirty="0">
                <a:solidFill>
                  <a:schemeClr val="accent2"/>
                </a:solidFill>
                <a:latin typeface="Courier New" pitchFamily="34" charset="0"/>
                <a:ea typeface="Courier New" pitchFamily="34" charset="-122"/>
                <a:cs typeface="Courier New" pitchFamily="34" charset="-120"/>
              </a:rPr>
              <a:t>AND HER MOTHER IN KANO?</a:t>
            </a:r>
            <a:endParaRPr lang="en-US" sz="1200" dirty="0"/>
          </a:p>
        </p:txBody>
      </p:sp>
      <p:sp>
        <p:nvSpPr>
          <p:cNvPr id="3" name="Text 1"/>
          <p:cNvSpPr/>
          <p:nvPr>
            <p:ph idx="102" type="title" hasCustomPrompt="1"/>
          </p:nvPr>
        </p:nvSpPr>
        <p:spPr>
          <a:xfrm>
            <a:off x="812800" y="1130300"/>
            <a:ext cx="10566400" cy="69850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latin typeface="Arial" pitchFamily="34" charset="0"/>
                <a:ea typeface="Arial" pitchFamily="34" charset="-122"/>
                <a:cs typeface="Arial" pitchFamily="34" charset="-120"/>
              </a:rPr>
              <a:t>Every phone. Every language.</a:t>
            </a:r>
            <a:endParaRPr lang="en-US" sz="3600" dirty="0"/>
          </a:p>
        </p:txBody>
      </p:sp>
      <p:sp>
        <p:nvSpPr>
          <p:cNvPr id="4" name="Shape 2"/>
          <p:cNvSpPr/>
          <p:nvPr/>
        </p:nvSpPr>
        <p:spPr>
          <a:xfrm>
            <a:off x="812800" y="2095500"/>
            <a:ext cx="5130800" cy="711200"/>
          </a:xfrm>
          <a:prstGeom prst="roundRect">
            <a:avLst>
              <a:gd name="adj" fmla="val 21429"/>
            </a:avLst>
          </a:prstGeom>
          <a:solidFill>
            <a:srgbClr val="18211D"/>
          </a:solidFill>
          <a:ln w="12700">
            <a:solidFill>
              <a:srgbClr val="2A3530"/>
            </a:solidFill>
            <a:prstDash val="solid"/>
          </a:ln>
        </p:spPr>
      </p:sp>
      <p:pic>
        <p:nvPicPr>
          <p:cNvPr id="5" name="Image 0" descr="preencoded.png">    </p:cNvPr>
          <p:cNvPicPr>
            <a:picLocks noChangeAspect="1"/>
          </p:cNvPicPr>
          <p:nvPr/>
        </p:nvPicPr>
        <p:blipFill>
          <a:blip r:embed="rId1"/>
          <a:stretch>
            <a:fillRect/>
          </a:stretch>
        </p:blipFill>
        <p:spPr>
          <a:xfrm>
            <a:off x="1041400" y="2298700"/>
            <a:ext cx="304800" cy="304800"/>
          </a:xfrm>
          <a:prstGeom prst="rect">
            <a:avLst/>
          </a:prstGeom>
        </p:spPr>
      </p:pic>
      <p:sp>
        <p:nvSpPr>
          <p:cNvPr id="6" name="Text 3"/>
          <p:cNvSpPr txBox="1"/>
          <p:nvPr/>
        </p:nvSpPr>
        <p:spPr>
          <a:xfrm>
            <a:off x="1549400" y="2209800"/>
            <a:ext cx="4191000" cy="254000"/>
          </a:xfrm>
          <a:prstGeom prst="rect">
            <a:avLst/>
          </a:prstGeom>
          <a:noFill/>
          <a:ln/>
        </p:spPr>
        <p:txBody>
          <a:bodyPr wrap="square" lIns="0" tIns="0" rIns="0" bIns="0" rtlCol="0" anchor="t"/>
          <a:lstStyle/>
          <a:p>
            <a:pPr algn="l" indent="0" marL="0">
              <a:buNone/>
            </a:pPr>
            <a:r>
              <a:rPr lang="en-US" sz="1600" b="1" dirty="0">
                <a:solidFill>
                  <a:schemeClr val="bg1"/>
                </a:solidFill>
              </a:rPr>
              <a:t>Bank app &amp; Gaskiyya app</a:t>
            </a:r>
            <a:endParaRPr lang="en-US" sz="1600" dirty="0"/>
          </a:p>
        </p:txBody>
      </p:sp>
      <p:sp>
        <p:nvSpPr>
          <p:cNvPr id="7" name="Text 4"/>
          <p:cNvSpPr txBox="1"/>
          <p:nvPr/>
        </p:nvSpPr>
        <p:spPr>
          <a:xfrm>
            <a:off x="1549400" y="2489200"/>
            <a:ext cx="4191000" cy="203200"/>
          </a:xfrm>
          <a:prstGeom prst="rect">
            <a:avLst/>
          </a:prstGeom>
          <a:noFill/>
          <a:ln/>
        </p:spPr>
        <p:txBody>
          <a:bodyPr wrap="square" lIns="0" tIns="0" rIns="0" bIns="0" rtlCol="0" anchor="t"/>
          <a:lstStyle/>
          <a:p>
            <a:pPr algn="l" indent="0" marL="0">
              <a:buNone/>
            </a:pPr>
            <a:r>
              <a:rPr lang="en-US" sz="1200" dirty="0">
                <a:solidFill>
                  <a:schemeClr val="bg2"/>
                </a:solidFill>
              </a:rPr>
              <a:t>iPhone and Android, with zero-click Shield</a:t>
            </a:r>
            <a:endParaRPr lang="en-US" sz="1200" dirty="0"/>
          </a:p>
        </p:txBody>
      </p:sp>
      <p:sp>
        <p:nvSpPr>
          <p:cNvPr id="8" name="Shape 5"/>
          <p:cNvSpPr/>
          <p:nvPr/>
        </p:nvSpPr>
        <p:spPr>
          <a:xfrm>
            <a:off x="812800" y="2933700"/>
            <a:ext cx="5130800" cy="711200"/>
          </a:xfrm>
          <a:prstGeom prst="roundRect">
            <a:avLst>
              <a:gd name="adj" fmla="val 21429"/>
            </a:avLst>
          </a:prstGeom>
          <a:solidFill>
            <a:srgbClr val="18211D"/>
          </a:solidFill>
          <a:ln w="12700">
            <a:solidFill>
              <a:srgbClr val="2A3530"/>
            </a:solidFill>
            <a:prstDash val="solid"/>
          </a:ln>
        </p:spPr>
      </p:sp>
      <p:pic>
        <p:nvPicPr>
          <p:cNvPr id="9" name="Image 1" descr="preencoded.png">    </p:cNvPr>
          <p:cNvPicPr>
            <a:picLocks noChangeAspect="1"/>
          </p:cNvPicPr>
          <p:nvPr/>
        </p:nvPicPr>
        <p:blipFill>
          <a:blip r:embed="rId2"/>
          <a:stretch>
            <a:fillRect/>
          </a:stretch>
        </p:blipFill>
        <p:spPr>
          <a:xfrm>
            <a:off x="1041400" y="3136900"/>
            <a:ext cx="304800" cy="304800"/>
          </a:xfrm>
          <a:prstGeom prst="rect">
            <a:avLst/>
          </a:prstGeom>
        </p:spPr>
      </p:pic>
      <p:sp>
        <p:nvSpPr>
          <p:cNvPr id="10" name="Text 6"/>
          <p:cNvSpPr txBox="1"/>
          <p:nvPr/>
        </p:nvSpPr>
        <p:spPr>
          <a:xfrm>
            <a:off x="1549400" y="3048000"/>
            <a:ext cx="4191000" cy="254000"/>
          </a:xfrm>
          <a:prstGeom prst="rect">
            <a:avLst/>
          </a:prstGeom>
          <a:noFill/>
          <a:ln/>
        </p:spPr>
        <p:txBody>
          <a:bodyPr wrap="square" lIns="0" tIns="0" rIns="0" bIns="0" rtlCol="0" anchor="t"/>
          <a:lstStyle/>
          <a:p>
            <a:pPr algn="l" indent="0" marL="0">
              <a:buNone/>
            </a:pPr>
            <a:r>
              <a:rPr lang="en-US" sz="1600" b="1" dirty="0">
                <a:solidFill>
                  <a:schemeClr val="bg1"/>
                </a:solidFill>
              </a:rPr>
              <a:t>WhatsApp</a:t>
            </a:r>
            <a:endParaRPr lang="en-US" sz="1600" dirty="0"/>
          </a:p>
        </p:txBody>
      </p:sp>
      <p:sp>
        <p:nvSpPr>
          <p:cNvPr id="11" name="Text 7"/>
          <p:cNvSpPr txBox="1"/>
          <p:nvPr/>
        </p:nvSpPr>
        <p:spPr>
          <a:xfrm>
            <a:off x="1549400" y="3327400"/>
            <a:ext cx="4191000" cy="203200"/>
          </a:xfrm>
          <a:prstGeom prst="rect">
            <a:avLst/>
          </a:prstGeom>
          <a:noFill/>
          <a:ln/>
        </p:spPr>
        <p:txBody>
          <a:bodyPr wrap="square" lIns="0" tIns="0" rIns="0" bIns="0" rtlCol="0" anchor="t"/>
          <a:lstStyle/>
          <a:p>
            <a:pPr algn="l" indent="0" marL="0">
              <a:buNone/>
            </a:pPr>
            <a:r>
              <a:rPr lang="en-US" sz="1200" dirty="0">
                <a:solidFill>
                  <a:schemeClr val="bg2"/>
                </a:solidFill>
              </a:rPr>
              <a:t>Forward the message. Get the truth.</a:t>
            </a:r>
            <a:endParaRPr lang="en-US" sz="1200" dirty="0"/>
          </a:p>
        </p:txBody>
      </p:sp>
      <p:sp>
        <p:nvSpPr>
          <p:cNvPr id="12" name="Shape 8"/>
          <p:cNvSpPr/>
          <p:nvPr/>
        </p:nvSpPr>
        <p:spPr>
          <a:xfrm>
            <a:off x="812800" y="3771900"/>
            <a:ext cx="5130800" cy="711200"/>
          </a:xfrm>
          <a:prstGeom prst="roundRect">
            <a:avLst>
              <a:gd name="adj" fmla="val 21429"/>
            </a:avLst>
          </a:prstGeom>
          <a:solidFill>
            <a:srgbClr val="18211D"/>
          </a:solidFill>
          <a:ln w="12700">
            <a:solidFill>
              <a:srgbClr val="2A3530"/>
            </a:solidFill>
            <a:prstDash val="solid"/>
          </a:ln>
        </p:spPr>
      </p:sp>
      <p:pic>
        <p:nvPicPr>
          <p:cNvPr id="13" name="Image 2" descr="preencoded.png">    </p:cNvPr>
          <p:cNvPicPr>
            <a:picLocks noChangeAspect="1"/>
          </p:cNvPicPr>
          <p:nvPr/>
        </p:nvPicPr>
        <p:blipFill>
          <a:blip r:embed="rId3"/>
          <a:stretch>
            <a:fillRect/>
          </a:stretch>
        </p:blipFill>
        <p:spPr>
          <a:xfrm>
            <a:off x="1041400" y="3975100"/>
            <a:ext cx="304800" cy="304800"/>
          </a:xfrm>
          <a:prstGeom prst="rect">
            <a:avLst/>
          </a:prstGeom>
        </p:spPr>
      </p:pic>
      <p:sp>
        <p:nvSpPr>
          <p:cNvPr id="14" name="Text 9"/>
          <p:cNvSpPr txBox="1"/>
          <p:nvPr/>
        </p:nvSpPr>
        <p:spPr>
          <a:xfrm>
            <a:off x="1549400" y="3886200"/>
            <a:ext cx="4191000" cy="254000"/>
          </a:xfrm>
          <a:prstGeom prst="rect">
            <a:avLst/>
          </a:prstGeom>
          <a:noFill/>
          <a:ln/>
        </p:spPr>
        <p:txBody>
          <a:bodyPr wrap="square" lIns="0" tIns="0" rIns="0" bIns="0" rtlCol="0" anchor="t"/>
          <a:lstStyle/>
          <a:p>
            <a:pPr algn="l" indent="0" marL="0">
              <a:buNone/>
            </a:pPr>
            <a:r>
              <a:rPr lang="en-US" sz="1600" b="1" dirty="0">
                <a:solidFill>
                  <a:schemeClr val="bg1"/>
                </a:solidFill>
              </a:rPr>
              <a:t>USSD on any phone</a:t>
            </a:r>
            <a:endParaRPr lang="en-US" sz="1600" dirty="0"/>
          </a:p>
        </p:txBody>
      </p:sp>
      <p:sp>
        <p:nvSpPr>
          <p:cNvPr id="15" name="Text 10"/>
          <p:cNvSpPr txBox="1"/>
          <p:nvPr/>
        </p:nvSpPr>
        <p:spPr>
          <a:xfrm>
            <a:off x="1549400" y="4165600"/>
            <a:ext cx="4191000" cy="203200"/>
          </a:xfrm>
          <a:prstGeom prst="rect">
            <a:avLst/>
          </a:prstGeom>
          <a:noFill/>
          <a:ln/>
        </p:spPr>
        <p:txBody>
          <a:bodyPr wrap="square" lIns="0" tIns="0" rIns="0" bIns="0" rtlCol="0" anchor="t"/>
          <a:lstStyle/>
          <a:p>
            <a:pPr algn="l" indent="0" marL="0">
              <a:buNone/>
            </a:pPr>
            <a:r>
              <a:rPr lang="en-US" sz="1200" dirty="0">
                <a:solidFill>
                  <a:schemeClr val="bg2"/>
                </a:solidFill>
              </a:rPr>
              <a:t>No data needed — 1 in 3 lines is still 2G</a:t>
            </a:r>
            <a:endParaRPr lang="en-US" sz="1200" dirty="0"/>
          </a:p>
        </p:txBody>
      </p:sp>
      <p:sp>
        <p:nvSpPr>
          <p:cNvPr id="16" name="USSD screen"/>
          <p:cNvSpPr/>
          <p:nvPr/>
        </p:nvSpPr>
        <p:spPr>
          <a:xfrm>
            <a:off x="6248400" y="2095500"/>
            <a:ext cx="5130800" cy="2387600"/>
          </a:xfrm>
          <a:prstGeom prst="roundRect">
            <a:avLst>
              <a:gd name="adj" fmla="val 8511"/>
            </a:avLst>
          </a:prstGeom>
          <a:solidFill>
            <a:srgbClr val="050807"/>
          </a:solidFill>
          <a:ln w="19050">
            <a:solidFill>
              <a:srgbClr val="2A3530"/>
            </a:solidFill>
            <a:prstDash val="solid"/>
          </a:ln>
        </p:spPr>
      </p:sp>
      <p:sp>
        <p:nvSpPr>
          <p:cNvPr id="17" name="Text 12"/>
          <p:cNvSpPr txBox="1"/>
          <p:nvPr/>
        </p:nvSpPr>
        <p:spPr>
          <a:xfrm>
            <a:off x="6502400" y="2298700"/>
            <a:ext cx="4622800" cy="215900"/>
          </a:xfrm>
          <a:prstGeom prst="rect">
            <a:avLst/>
          </a:prstGeom>
          <a:noFill/>
          <a:ln/>
        </p:spPr>
        <p:txBody>
          <a:bodyPr wrap="square" lIns="0" tIns="0" rIns="0" bIns="0" rtlCol="0" anchor="t"/>
          <a:lstStyle/>
          <a:p>
            <a:pPr algn="l" indent="0" marL="0">
              <a:buNone/>
            </a:pPr>
            <a:r>
              <a:rPr lang="en-US" sz="1200" b="1" spc="150" kern="0" dirty="0">
                <a:solidFill>
                  <a:schemeClr val="accent2"/>
                </a:solidFill>
                <a:latin typeface="Courier New" pitchFamily="34" charset="0"/>
                <a:ea typeface="Courier New" pitchFamily="34" charset="-122"/>
                <a:cs typeface="Courier New" pitchFamily="34" charset="-120"/>
              </a:rPr>
              <a:t>*347*123#</a:t>
            </a:r>
            <a:endParaRPr lang="en-US" sz="1200" dirty="0"/>
          </a:p>
        </p:txBody>
      </p:sp>
      <p:sp>
        <p:nvSpPr>
          <p:cNvPr id="18" name="Text 13"/>
          <p:cNvSpPr txBox="1"/>
          <p:nvPr/>
        </p:nvSpPr>
        <p:spPr>
          <a:xfrm>
            <a:off x="6502400" y="2603500"/>
            <a:ext cx="4622800" cy="635000"/>
          </a:xfrm>
          <a:prstGeom prst="rect">
            <a:avLst/>
          </a:prstGeom>
          <a:noFill/>
          <a:ln/>
        </p:spPr>
        <p:txBody>
          <a:bodyPr wrap="square" lIns="0" tIns="0" rIns="0" bIns="0" rtlCol="0" anchor="t"/>
          <a:lstStyle/>
          <a:p>
            <a:pPr algn="l" indent="0" marL="0">
              <a:lnSpc>
                <a:spcPct val="130000"/>
              </a:lnSpc>
              <a:buNone/>
            </a:pPr>
            <a:r>
              <a:rPr lang="en-US" sz="1600" dirty="0">
                <a:solidFill>
                  <a:schemeClr val="bg1"/>
                </a:solidFill>
                <a:latin typeface="Courier New" pitchFamily="34" charset="0"/>
                <a:ea typeface="Courier New" pitchFamily="34" charset="-122"/>
                <a:cs typeface="Courier New" pitchFamily="34" charset="-120"/>
              </a:rPr>
              <a:t>1 Is my bank calling me?</a:t>
            </a:r>
            <a:endParaRPr lang="en-US" sz="1600" dirty="0"/>
          </a:p>
          <a:p>
            <a:pPr algn="l" indent="0" marL="0">
              <a:lnSpc>
                <a:spcPct val="130000"/>
              </a:lnSpc>
              <a:buNone/>
            </a:pPr>
            <a:r>
              <a:rPr lang="en-US" sz="1600" dirty="0">
                <a:solidFill>
                  <a:schemeClr val="bg1"/>
                </a:solidFill>
                <a:latin typeface="Courier New" pitchFamily="34" charset="0"/>
                <a:ea typeface="Courier New" pitchFamily="34" charset="-122"/>
                <a:cs typeface="Courier New" pitchFamily="34" charset="-120"/>
              </a:rPr>
              <a:t>2 What did my bank send today?</a:t>
            </a:r>
            <a:endParaRPr lang="en-US" sz="1600" dirty="0"/>
          </a:p>
        </p:txBody>
      </p:sp>
      <p:sp>
        <p:nvSpPr>
          <p:cNvPr id="19" name="Shape 14"/>
          <p:cNvSpPr/>
          <p:nvPr/>
        </p:nvSpPr>
        <p:spPr>
          <a:xfrm>
            <a:off x="6502400" y="3352800"/>
            <a:ext cx="4622800" cy="0"/>
          </a:xfrm>
          <a:prstGeom prst="line">
            <a:avLst/>
          </a:prstGeom>
          <a:noFill/>
          <a:ln w="12700">
            <a:solidFill>
              <a:srgbClr val="2A3530"/>
            </a:solidFill>
            <a:prstDash val="solid"/>
          </a:ln>
        </p:spPr>
      </p:sp>
      <p:sp>
        <p:nvSpPr>
          <p:cNvPr id="20" name="Text 15"/>
          <p:cNvSpPr txBox="1"/>
          <p:nvPr/>
        </p:nvSpPr>
        <p:spPr>
          <a:xfrm>
            <a:off x="6502400" y="3467100"/>
            <a:ext cx="4622800" cy="190500"/>
          </a:xfrm>
          <a:prstGeom prst="rect">
            <a:avLst/>
          </a:prstGeom>
          <a:noFill/>
          <a:ln/>
        </p:spPr>
        <p:txBody>
          <a:bodyPr wrap="square" lIns="0" tIns="0" rIns="0" bIns="0" rtlCol="0" anchor="t"/>
          <a:lstStyle/>
          <a:p>
            <a:pPr algn="l" indent="0" marL="0">
              <a:buNone/>
            </a:pPr>
            <a:r>
              <a:rPr lang="en-US" sz="1200" dirty="0">
                <a:solidFill>
                  <a:srgbClr val="7D8782"/>
                </a:solidFill>
                <a:latin typeface="Courier New" pitchFamily="34" charset="0"/>
                <a:ea typeface="Courier New" pitchFamily="34" charset="-122"/>
                <a:cs typeface="Courier New" pitchFamily="34" charset="-120"/>
              </a:rPr>
              <a:t>Reply: 2</a:t>
            </a:r>
            <a:endParaRPr lang="en-US" sz="1200" dirty="0"/>
          </a:p>
        </p:txBody>
      </p:sp>
      <p:sp>
        <p:nvSpPr>
          <p:cNvPr id="21" name="Text 16"/>
          <p:cNvSpPr txBox="1"/>
          <p:nvPr/>
        </p:nvSpPr>
        <p:spPr>
          <a:xfrm>
            <a:off x="6502400" y="3721100"/>
            <a:ext cx="4622800" cy="635000"/>
          </a:xfrm>
          <a:prstGeom prst="rect">
            <a:avLst/>
          </a:prstGeom>
          <a:noFill/>
          <a:ln/>
        </p:spPr>
        <p:txBody>
          <a:bodyPr wrap="square" lIns="0" tIns="0" rIns="0" bIns="0" rtlCol="0" anchor="t"/>
          <a:lstStyle/>
          <a:p>
            <a:pPr algn="l" indent="0" marL="0">
              <a:lnSpc>
                <a:spcPct val="130000"/>
              </a:lnSpc>
              <a:buNone/>
            </a:pPr>
            <a:r>
              <a:rPr lang="en-US" sz="1600" dirty="0">
                <a:solidFill>
                  <a:schemeClr val="bg1"/>
                </a:solidFill>
                <a:latin typeface="Courier New" pitchFamily="34" charset="0"/>
                <a:ea typeface="Courier New" pitchFamily="34" charset="-122"/>
                <a:cs typeface="Courier New" pitchFamily="34" charset="-120"/>
              </a:rPr>
              <a:t>Today your bank sent 2 alerts and 1 OTP. None had a link.</a:t>
            </a:r>
            <a:endParaRPr lang="en-US" sz="1600" dirty="0"/>
          </a:p>
        </p:txBody>
      </p:sp>
      <p:sp>
        <p:nvSpPr>
          <p:cNvPr id="22" name="Pill Hello"/>
          <p:cNvSpPr/>
          <p:nvPr/>
        </p:nvSpPr>
        <p:spPr>
          <a:xfrm>
            <a:off x="812800" y="4864100"/>
            <a:ext cx="2032000" cy="444500"/>
          </a:xfrm>
          <a:prstGeom prst="roundRect">
            <a:avLst>
              <a:gd name="adj" fmla="val 50000"/>
            </a:avLst>
          </a:prstGeom>
          <a:solidFill>
            <a:srgbClr val="2FBF8A"/>
          </a:solidFill>
          <a:ln/>
        </p:spPr>
      </p:sp>
      <p:sp>
        <p:nvSpPr>
          <p:cNvPr id="23" name="Text 18"/>
          <p:cNvSpPr txBox="1"/>
          <p:nvPr/>
        </p:nvSpPr>
        <p:spPr>
          <a:xfrm>
            <a:off x="812800" y="4864100"/>
            <a:ext cx="2032000" cy="444500"/>
          </a:xfrm>
          <a:prstGeom prst="rect">
            <a:avLst/>
          </a:prstGeom>
          <a:noFill/>
          <a:ln/>
        </p:spPr>
        <p:txBody>
          <a:bodyPr wrap="square" lIns="0" tIns="0" rIns="0" bIns="0" rtlCol="0" anchor="ctr"/>
          <a:lstStyle/>
          <a:p>
            <a:pPr algn="ctr" indent="0" marL="0">
              <a:buNone/>
            </a:pPr>
            <a:r>
              <a:rPr lang="en-US" sz="1600" b="1" dirty="0">
                <a:solidFill>
                  <a:srgbClr val="0E1512"/>
                </a:solidFill>
              </a:rPr>
              <a:t>Hello</a:t>
            </a:r>
            <a:endParaRPr lang="en-US" sz="1600" dirty="0"/>
          </a:p>
        </p:txBody>
      </p:sp>
      <p:sp>
        <p:nvSpPr>
          <p:cNvPr id="24" name="Pill How far?"/>
          <p:cNvSpPr/>
          <p:nvPr/>
        </p:nvSpPr>
        <p:spPr>
          <a:xfrm>
            <a:off x="2946400" y="4864100"/>
            <a:ext cx="2032000" cy="444500"/>
          </a:xfrm>
          <a:prstGeom prst="roundRect">
            <a:avLst>
              <a:gd name="adj" fmla="val 50000"/>
            </a:avLst>
          </a:prstGeom>
          <a:solidFill>
            <a:srgbClr val="2FBF8A"/>
          </a:solidFill>
          <a:ln/>
        </p:spPr>
      </p:sp>
      <p:sp>
        <p:nvSpPr>
          <p:cNvPr id="25" name="Text 20"/>
          <p:cNvSpPr txBox="1"/>
          <p:nvPr/>
        </p:nvSpPr>
        <p:spPr>
          <a:xfrm>
            <a:off x="2946400" y="4864100"/>
            <a:ext cx="2032000" cy="444500"/>
          </a:xfrm>
          <a:prstGeom prst="rect">
            <a:avLst/>
          </a:prstGeom>
          <a:noFill/>
          <a:ln/>
        </p:spPr>
        <p:txBody>
          <a:bodyPr wrap="square" lIns="0" tIns="0" rIns="0" bIns="0" rtlCol="0" anchor="ctr"/>
          <a:lstStyle/>
          <a:p>
            <a:pPr algn="ctr" indent="0" marL="0">
              <a:buNone/>
            </a:pPr>
            <a:r>
              <a:rPr lang="en-US" sz="1600" b="1" dirty="0">
                <a:solidFill>
                  <a:srgbClr val="0E1512"/>
                </a:solidFill>
              </a:rPr>
              <a:t>How far?</a:t>
            </a:r>
            <a:endParaRPr lang="en-US" sz="1600" dirty="0"/>
          </a:p>
        </p:txBody>
      </p:sp>
      <p:sp>
        <p:nvSpPr>
          <p:cNvPr id="26" name="Pill Sannu"/>
          <p:cNvSpPr/>
          <p:nvPr/>
        </p:nvSpPr>
        <p:spPr>
          <a:xfrm>
            <a:off x="5080000" y="4864100"/>
            <a:ext cx="2032000" cy="444500"/>
          </a:xfrm>
          <a:prstGeom prst="roundRect">
            <a:avLst>
              <a:gd name="adj" fmla="val 50000"/>
            </a:avLst>
          </a:prstGeom>
          <a:solidFill>
            <a:srgbClr val="2FBF8A"/>
          </a:solidFill>
          <a:ln/>
        </p:spPr>
      </p:sp>
      <p:sp>
        <p:nvSpPr>
          <p:cNvPr id="27" name="Text 22"/>
          <p:cNvSpPr txBox="1"/>
          <p:nvPr/>
        </p:nvSpPr>
        <p:spPr>
          <a:xfrm>
            <a:off x="5080000" y="4864100"/>
            <a:ext cx="2032000" cy="444500"/>
          </a:xfrm>
          <a:prstGeom prst="rect">
            <a:avLst/>
          </a:prstGeom>
          <a:noFill/>
          <a:ln/>
        </p:spPr>
        <p:txBody>
          <a:bodyPr wrap="square" lIns="0" tIns="0" rIns="0" bIns="0" rtlCol="0" anchor="ctr"/>
          <a:lstStyle/>
          <a:p>
            <a:pPr algn="ctr" indent="0" marL="0">
              <a:buNone/>
            </a:pPr>
            <a:r>
              <a:rPr lang="en-US" sz="1600" b="1" dirty="0">
                <a:solidFill>
                  <a:srgbClr val="0E1512"/>
                </a:solidFill>
              </a:rPr>
              <a:t>Sannu</a:t>
            </a:r>
            <a:endParaRPr lang="en-US" sz="1600" dirty="0"/>
          </a:p>
        </p:txBody>
      </p:sp>
      <p:sp>
        <p:nvSpPr>
          <p:cNvPr id="28" name="Pill Ẹ n lẹ"/>
          <p:cNvSpPr/>
          <p:nvPr/>
        </p:nvSpPr>
        <p:spPr>
          <a:xfrm>
            <a:off x="7213600" y="4864100"/>
            <a:ext cx="2032000" cy="444500"/>
          </a:xfrm>
          <a:prstGeom prst="roundRect">
            <a:avLst>
              <a:gd name="adj" fmla="val 50000"/>
            </a:avLst>
          </a:prstGeom>
          <a:solidFill>
            <a:srgbClr val="2FBF8A"/>
          </a:solidFill>
          <a:ln/>
        </p:spPr>
      </p:sp>
      <p:sp>
        <p:nvSpPr>
          <p:cNvPr id="29" name="Text 24"/>
          <p:cNvSpPr txBox="1"/>
          <p:nvPr/>
        </p:nvSpPr>
        <p:spPr>
          <a:xfrm>
            <a:off x="7213600" y="4864100"/>
            <a:ext cx="2032000" cy="444500"/>
          </a:xfrm>
          <a:prstGeom prst="rect">
            <a:avLst/>
          </a:prstGeom>
          <a:noFill/>
          <a:ln/>
        </p:spPr>
        <p:txBody>
          <a:bodyPr wrap="square" lIns="0" tIns="0" rIns="0" bIns="0" rtlCol="0" anchor="ctr"/>
          <a:lstStyle/>
          <a:p>
            <a:pPr algn="ctr" indent="0" marL="0">
              <a:buNone/>
            </a:pPr>
            <a:r>
              <a:rPr lang="en-US" sz="1600" b="1" dirty="0">
                <a:solidFill>
                  <a:srgbClr val="0E1512"/>
                </a:solidFill>
              </a:rPr>
              <a:t>Ẹ n lẹ</a:t>
            </a:r>
            <a:endParaRPr lang="en-US" sz="1600" dirty="0"/>
          </a:p>
        </p:txBody>
      </p:sp>
      <p:sp>
        <p:nvSpPr>
          <p:cNvPr id="30" name="Pill Ndewo"/>
          <p:cNvSpPr/>
          <p:nvPr/>
        </p:nvSpPr>
        <p:spPr>
          <a:xfrm>
            <a:off x="9347200" y="4864100"/>
            <a:ext cx="2032000" cy="444500"/>
          </a:xfrm>
          <a:prstGeom prst="roundRect">
            <a:avLst>
              <a:gd name="adj" fmla="val 50000"/>
            </a:avLst>
          </a:prstGeom>
          <a:solidFill>
            <a:srgbClr val="2FBF8A"/>
          </a:solidFill>
          <a:ln/>
        </p:spPr>
      </p:sp>
      <p:sp>
        <p:nvSpPr>
          <p:cNvPr id="31" name="Text 26"/>
          <p:cNvSpPr txBox="1"/>
          <p:nvPr/>
        </p:nvSpPr>
        <p:spPr>
          <a:xfrm>
            <a:off x="9347200" y="4864100"/>
            <a:ext cx="2032000" cy="444500"/>
          </a:xfrm>
          <a:prstGeom prst="rect">
            <a:avLst/>
          </a:prstGeom>
          <a:noFill/>
          <a:ln/>
        </p:spPr>
        <p:txBody>
          <a:bodyPr wrap="square" lIns="0" tIns="0" rIns="0" bIns="0" rtlCol="0" anchor="ctr"/>
          <a:lstStyle/>
          <a:p>
            <a:pPr algn="ctr" indent="0" marL="0">
              <a:buNone/>
            </a:pPr>
            <a:r>
              <a:rPr lang="en-US" sz="1600" b="1" dirty="0">
                <a:solidFill>
                  <a:srgbClr val="0E1512"/>
                </a:solidFill>
              </a:rPr>
              <a:t>Ndewo</a:t>
            </a:r>
            <a:endParaRPr lang="en-US" sz="1600" dirty="0"/>
          </a:p>
        </p:txBody>
      </p:sp>
      <p:sp>
        <p:nvSpPr>
          <p:cNvPr id="32" name="Text 27"/>
          <p:cNvSpPr txBox="1"/>
          <p:nvPr/>
        </p:nvSpPr>
        <p:spPr>
          <a:xfrm>
            <a:off x="812800" y="5410200"/>
            <a:ext cx="10566400" cy="203200"/>
          </a:xfrm>
          <a:prstGeom prst="rect">
            <a:avLst/>
          </a:prstGeom>
          <a:noFill/>
          <a:ln/>
        </p:spPr>
        <p:txBody>
          <a:bodyPr wrap="square" lIns="0" tIns="0" rIns="0" bIns="0" rtlCol="0" anchor="t"/>
          <a:lstStyle/>
          <a:p>
            <a:pPr algn="ctr" indent="0" marL="0">
              <a:buNone/>
            </a:pPr>
            <a:r>
              <a:rPr lang="en-US" sz="1200" dirty="0">
                <a:solidFill>
                  <a:schemeClr val="bg2"/>
                </a:solidFill>
              </a:rPr>
              <a:t>English · Pidgin · Hausa · Yoruba · Igbo</a:t>
            </a:r>
            <a:endParaRPr lang="en-US" sz="1200" dirty="0"/>
          </a:p>
        </p:txBody>
      </p:sp>
      <p:sp>
        <p:nvSpPr>
          <p:cNvPr id="25" name="Slide Number Placeholder 0"/>
          <p:cNvSpPr>
            <a:spLocks noGrp="1"/>
          </p:cNvSpPr>
          <p:nvPr>
            <p:ph type="sldNum" sz="quarter" idx="4294967295"/>
          </p:nvPr>
        </p:nvSpPr>
        <p:spPr>
          <a:xfrm>
            <a:off x="10617200" y="6261100"/>
            <a:ext cx="762000" cy="22860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latin typeface="Courier New"/>
                <a:ea typeface="Courier New"/>
                <a:cs typeface="Courier New"/>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Eyebrow"/>
          <p:cNvSpPr txBox="1"/>
          <p:nvPr/>
        </p:nvSpPr>
        <p:spPr>
          <a:xfrm>
            <a:off x="812800" y="812800"/>
            <a:ext cx="6985000" cy="190500"/>
          </a:xfrm>
          <a:prstGeom prst="rect">
            <a:avLst/>
          </a:prstGeom>
          <a:noFill/>
          <a:ln/>
        </p:spPr>
        <p:txBody>
          <a:bodyPr wrap="square" lIns="0" tIns="0" rIns="0" bIns="0" rtlCol="0" anchor="t"/>
          <a:lstStyle/>
          <a:p>
            <a:pPr algn="l" indent="0" marL="0">
              <a:buNone/>
            </a:pPr>
            <a:r>
              <a:rPr lang="en-US" sz="1200" b="1" spc="150" kern="0" dirty="0">
                <a:solidFill>
                  <a:schemeClr val="accent1"/>
                </a:solidFill>
                <a:latin typeface="Courier New" pitchFamily="34" charset="0"/>
                <a:ea typeface="Courier New" pitchFamily="34" charset="-122"/>
                <a:cs typeface="Courier New" pitchFamily="34" charset="-120"/>
              </a:rPr>
              <a:t>FOR THE BANK</a:t>
            </a:r>
            <a:endParaRPr lang="en-US" sz="1200" dirty="0"/>
          </a:p>
        </p:txBody>
      </p:sp>
      <p:sp>
        <p:nvSpPr>
          <p:cNvPr id="3" name="Text 1"/>
          <p:cNvSpPr/>
          <p:nvPr>
            <p:ph idx="102" type="title" hasCustomPrompt="1"/>
          </p:nvPr>
        </p:nvSpPr>
        <p:spPr>
          <a:xfrm>
            <a:off x="812800" y="1130300"/>
            <a:ext cx="10566400" cy="698500"/>
          </a:xfrm>
          <a:prstGeom prst="rect">
            <a:avLst/>
          </a:prstGeom>
          <a:noFill/>
          <a:ln/>
        </p:spPr>
        <p:txBody>
          <a:bodyPr wrap="square" lIns="0" tIns="0" rIns="0" bIns="0" rtlCol="0" anchor="t"/>
          <a:lstStyle/>
          <a:p>
            <a:pPr algn="l" indent="0" marL="0">
              <a:lnSpc>
                <a:spcPct val="95000"/>
              </a:lnSpc>
              <a:buNone/>
            </a:pPr>
            <a:r>
              <a:rPr lang="en-US" sz="3600" b="1" dirty="0">
                <a:solidFill>
                  <a:schemeClr val="tx1"/>
                </a:solidFill>
                <a:latin typeface="Arial" pitchFamily="34" charset="0"/>
                <a:ea typeface="Arial" pitchFamily="34" charset="-122"/>
                <a:cs typeface="Arial" pitchFamily="34" charset="-120"/>
              </a:rPr>
              <a:t>One API call. Nothing to leak.</a:t>
            </a:r>
            <a:endParaRPr lang="en-US" sz="3600" dirty="0"/>
          </a:p>
        </p:txBody>
      </p:sp>
      <p:pic>
        <p:nvPicPr>
          <p:cNvPr id="4" name="Image 0" descr="Bank console fraud desk: AI groups 3 reports into one scam campaign with a draft warning">    </p:cNvPr>
          <p:cNvPicPr>
            <a:picLocks noChangeAspect="1"/>
          </p:cNvPicPr>
          <p:nvPr/>
        </p:nvPicPr>
        <p:blipFill>
          <a:blip r:embed="rId1"/>
          <a:stretch>
            <a:fillRect/>
          </a:stretch>
        </p:blipFill>
        <p:spPr>
          <a:xfrm>
            <a:off x="812800" y="2006600"/>
            <a:ext cx="6007100" cy="3810000"/>
          </a:xfrm>
          <a:prstGeom prst="rect">
            <a:avLst/>
          </a:prstGeom>
          <a:effectLst>
            <a:outerShdw sx="100000" sy="100000" kx="0" ky="0" algn="bl" rotWithShape="0" blurRad="304800" dist="127000" dir="5400000">
              <a:srgbClr val="0E1512">
                <a:alpha val="25000"/>
              </a:srgbClr>
            </a:outerShdw>
          </a:effectLst>
        </p:spPr>
      </p:pic>
      <p:sp>
        <p:nvSpPr>
          <p:cNvPr id="5" name="Text 2"/>
          <p:cNvSpPr txBox="1"/>
          <p:nvPr/>
        </p:nvSpPr>
        <p:spPr>
          <a:xfrm>
            <a:off x="812800" y="5905500"/>
            <a:ext cx="6007100" cy="215900"/>
          </a:xfrm>
          <a:prstGeom prst="rect">
            <a:avLst/>
          </a:prstGeom>
          <a:noFill/>
          <a:ln/>
        </p:spPr>
        <p:txBody>
          <a:bodyPr wrap="square" lIns="0" tIns="0" rIns="0" bIns="0" rtlCol="0" anchor="t"/>
          <a:lstStyle/>
          <a:p>
            <a:pPr algn="l" indent="0" marL="0">
              <a:buNone/>
            </a:pPr>
            <a:r>
              <a:rPr lang="en-US" sz="1200" dirty="0">
                <a:solidFill>
                  <a:schemeClr val="tx2"/>
                </a:solidFill>
              </a:rPr>
              <a:t>Fraud desk: AI groups reports into a scam campaign. A human approves the warning.</a:t>
            </a:r>
            <a:endParaRPr lang="en-US" sz="1200" dirty="0"/>
          </a:p>
        </p:txBody>
      </p:sp>
      <p:sp>
        <p:nvSpPr>
          <p:cNvPr id="6" name="Text 3"/>
          <p:cNvSpPr txBox="1"/>
          <p:nvPr/>
        </p:nvSpPr>
        <p:spPr>
          <a:xfrm>
            <a:off x="7239000" y="2006600"/>
            <a:ext cx="4127500" cy="571500"/>
          </a:xfrm>
          <a:prstGeom prst="rect">
            <a:avLst/>
          </a:prstGeom>
          <a:noFill/>
          <a:ln/>
        </p:spPr>
        <p:txBody>
          <a:bodyPr wrap="square" lIns="0" tIns="0" rIns="0" bIns="0" rtlCol="0" anchor="ctr"/>
          <a:lstStyle/>
          <a:p>
            <a:pPr algn="l" indent="0" marL="0">
              <a:buNone/>
            </a:pPr>
            <a:r>
              <a:rPr lang="en-US" sz="3600" b="1" dirty="0">
                <a:solidFill>
                  <a:schemeClr val="accent1"/>
                </a:solidFill>
              </a:rPr>
              <a:t>6,000+</a:t>
            </a:r>
            <a:endParaRPr lang="en-US" sz="3600" dirty="0"/>
          </a:p>
        </p:txBody>
      </p:sp>
      <p:sp>
        <p:nvSpPr>
          <p:cNvPr id="7" name="Text 4"/>
          <p:cNvSpPr txBox="1"/>
          <p:nvPr/>
        </p:nvSpPr>
        <p:spPr>
          <a:xfrm>
            <a:off x="7239000" y="2565400"/>
            <a:ext cx="4127500" cy="215900"/>
          </a:xfrm>
          <a:prstGeom prst="rect">
            <a:avLst/>
          </a:prstGeom>
          <a:noFill/>
          <a:ln/>
        </p:spPr>
        <p:txBody>
          <a:bodyPr wrap="square" lIns="0" tIns="0" rIns="0" bIns="0" rtlCol="0" anchor="t"/>
          <a:lstStyle/>
          <a:p>
            <a:pPr algn="l" indent="0" marL="0">
              <a:buNone/>
            </a:pPr>
            <a:r>
              <a:rPr lang="en-US" sz="1200" dirty="0">
                <a:solidFill>
                  <a:schemeClr val="tx1"/>
                </a:solidFill>
              </a:rPr>
              <a:t>checks per second</a:t>
            </a:r>
            <a:endParaRPr lang="en-US" sz="1200" dirty="0"/>
          </a:p>
        </p:txBody>
      </p:sp>
      <p:sp>
        <p:nvSpPr>
          <p:cNvPr id="8" name="Text 5"/>
          <p:cNvSpPr txBox="1"/>
          <p:nvPr/>
        </p:nvSpPr>
        <p:spPr>
          <a:xfrm>
            <a:off x="7239000" y="2959100"/>
            <a:ext cx="4127500" cy="571500"/>
          </a:xfrm>
          <a:prstGeom prst="rect">
            <a:avLst/>
          </a:prstGeom>
          <a:noFill/>
          <a:ln/>
        </p:spPr>
        <p:txBody>
          <a:bodyPr wrap="square" lIns="0" tIns="0" rIns="0" bIns="0" rtlCol="0" anchor="ctr"/>
          <a:lstStyle/>
          <a:p>
            <a:pPr algn="l" indent="0" marL="0">
              <a:buNone/>
            </a:pPr>
            <a:r>
              <a:rPr lang="en-US" sz="3600" b="1" dirty="0">
                <a:solidFill>
                  <a:schemeClr val="accent1"/>
                </a:solidFill>
              </a:rPr>
              <a:t>0</a:t>
            </a:r>
            <a:endParaRPr lang="en-US" sz="3600" dirty="0"/>
          </a:p>
        </p:txBody>
      </p:sp>
      <p:sp>
        <p:nvSpPr>
          <p:cNvPr id="9" name="Text 6"/>
          <p:cNvSpPr txBox="1"/>
          <p:nvPr/>
        </p:nvSpPr>
        <p:spPr>
          <a:xfrm>
            <a:off x="7239000" y="3517900"/>
            <a:ext cx="4127500" cy="215900"/>
          </a:xfrm>
          <a:prstGeom prst="rect">
            <a:avLst/>
          </a:prstGeom>
          <a:noFill/>
          <a:ln/>
        </p:spPr>
        <p:txBody>
          <a:bodyPr wrap="square" lIns="0" tIns="0" rIns="0" bIns="0" rtlCol="0" anchor="t"/>
          <a:lstStyle/>
          <a:p>
            <a:pPr algn="l" indent="0" marL="0">
              <a:buNone/>
            </a:pPr>
            <a:r>
              <a:rPr lang="en-US" sz="1200" dirty="0">
                <a:solidFill>
                  <a:schemeClr val="tx1"/>
                </a:solidFill>
              </a:rPr>
              <a:t>message texts stored</a:t>
            </a:r>
            <a:endParaRPr lang="en-US" sz="1200" dirty="0"/>
          </a:p>
        </p:txBody>
      </p:sp>
      <p:sp>
        <p:nvSpPr>
          <p:cNvPr id="10" name="Text 7"/>
          <p:cNvSpPr txBox="1"/>
          <p:nvPr/>
        </p:nvSpPr>
        <p:spPr>
          <a:xfrm>
            <a:off x="7239000" y="3911600"/>
            <a:ext cx="4127500" cy="571500"/>
          </a:xfrm>
          <a:prstGeom prst="rect">
            <a:avLst/>
          </a:prstGeom>
          <a:noFill/>
          <a:ln/>
        </p:spPr>
        <p:txBody>
          <a:bodyPr wrap="square" lIns="0" tIns="0" rIns="0" bIns="0" rtlCol="0" anchor="ctr"/>
          <a:lstStyle/>
          <a:p>
            <a:pPr algn="l" indent="0" marL="0">
              <a:buNone/>
            </a:pPr>
            <a:r>
              <a:rPr lang="en-US" sz="3600" b="1" dirty="0">
                <a:solidFill>
                  <a:schemeClr val="accent1"/>
                </a:solidFill>
              </a:rPr>
              <a:t>400+</a:t>
            </a:r>
            <a:endParaRPr lang="en-US" sz="3600" dirty="0"/>
          </a:p>
        </p:txBody>
      </p:sp>
      <p:sp>
        <p:nvSpPr>
          <p:cNvPr id="11" name="Text 8"/>
          <p:cNvSpPr txBox="1"/>
          <p:nvPr/>
        </p:nvSpPr>
        <p:spPr>
          <a:xfrm>
            <a:off x="7239000" y="4470400"/>
            <a:ext cx="4127500" cy="215900"/>
          </a:xfrm>
          <a:prstGeom prst="rect">
            <a:avLst/>
          </a:prstGeom>
          <a:noFill/>
          <a:ln/>
        </p:spPr>
        <p:txBody>
          <a:bodyPr wrap="square" lIns="0" tIns="0" rIns="0" bIns="0" rtlCol="0" anchor="t"/>
          <a:lstStyle/>
          <a:p>
            <a:pPr algn="l" indent="0" marL="0">
              <a:buNone/>
            </a:pPr>
            <a:r>
              <a:rPr lang="en-US" sz="1200" dirty="0">
                <a:solidFill>
                  <a:schemeClr val="tx1"/>
                </a:solidFill>
              </a:rPr>
              <a:t>automated tests</a:t>
            </a:r>
            <a:endParaRPr lang="en-US" sz="1200" dirty="0"/>
          </a:p>
        </p:txBody>
      </p:sp>
      <p:sp>
        <p:nvSpPr>
          <p:cNvPr id="12" name="Text 9"/>
          <p:cNvSpPr txBox="1"/>
          <p:nvPr/>
        </p:nvSpPr>
        <p:spPr>
          <a:xfrm>
            <a:off x="7239000" y="4864100"/>
            <a:ext cx="4127500" cy="571500"/>
          </a:xfrm>
          <a:prstGeom prst="rect">
            <a:avLst/>
          </a:prstGeom>
          <a:noFill/>
          <a:ln/>
        </p:spPr>
        <p:txBody>
          <a:bodyPr wrap="square" lIns="0" tIns="0" rIns="0" bIns="0" rtlCol="0" anchor="ctr"/>
          <a:lstStyle/>
          <a:p>
            <a:pPr algn="l" indent="0" marL="0">
              <a:buNone/>
            </a:pPr>
            <a:r>
              <a:rPr lang="en-US" sz="3600" b="1" dirty="0">
                <a:solidFill>
                  <a:schemeClr val="accent1"/>
                </a:solidFill>
              </a:rPr>
              <a:t>Live</a:t>
            </a:r>
            <a:endParaRPr lang="en-US" sz="3600" dirty="0"/>
          </a:p>
        </p:txBody>
      </p:sp>
      <p:sp>
        <p:nvSpPr>
          <p:cNvPr id="13" name="Text 10"/>
          <p:cNvSpPr txBox="1"/>
          <p:nvPr/>
        </p:nvSpPr>
        <p:spPr>
          <a:xfrm>
            <a:off x="7239000" y="5422900"/>
            <a:ext cx="4127500" cy="215900"/>
          </a:xfrm>
          <a:prstGeom prst="rect">
            <a:avLst/>
          </a:prstGeom>
          <a:noFill/>
          <a:ln/>
        </p:spPr>
        <p:txBody>
          <a:bodyPr wrap="square" lIns="0" tIns="0" rIns="0" bIns="0" rtlCol="0" anchor="t"/>
          <a:lstStyle/>
          <a:p>
            <a:pPr algn="l" indent="0" marL="0">
              <a:buNone/>
            </a:pPr>
            <a:r>
              <a:rPr lang="en-US" sz="1200" dirty="0">
                <a:solidFill>
                  <a:schemeClr val="tx1"/>
                </a:solidFill>
              </a:rPr>
              <a:t>on AWS today</a:t>
            </a:r>
            <a:endParaRPr lang="en-US" sz="1200" dirty="0"/>
          </a:p>
        </p:txBody>
      </p:sp>
      <p:sp>
        <p:nvSpPr>
          <p:cNvPr id="14" name="Text 11"/>
          <p:cNvSpPr txBox="1"/>
          <p:nvPr/>
        </p:nvSpPr>
        <p:spPr>
          <a:xfrm>
            <a:off x="3556000" y="6261100"/>
            <a:ext cx="6350000" cy="228600"/>
          </a:xfrm>
          <a:prstGeom prst="rect">
            <a:avLst/>
          </a:prstGeom>
          <a:noFill/>
          <a:ln/>
        </p:spPr>
        <p:txBody>
          <a:bodyPr wrap="square" lIns="0" tIns="0" rIns="0" bIns="0" rtlCol="0" anchor="ctr"/>
          <a:lstStyle/>
          <a:p>
            <a:pPr algn="ctr" indent="0" marL="0">
              <a:buNone/>
            </a:pPr>
            <a:r>
              <a:rPr lang="en-US" sz="1200" dirty="0">
                <a:solidFill>
                  <a:schemeClr val="tx2"/>
                </a:solidFill>
              </a:rPr>
              <a:t>Banks pay a licence + per message · Customers check free</a:t>
            </a:r>
            <a:endParaRPr lang="en-US" sz="1200" dirty="0"/>
          </a:p>
        </p:txBody>
      </p:sp>
      <p:sp>
        <p:nvSpPr>
          <p:cNvPr id="25" name="Slide Number Placeholder 0"/>
          <p:cNvSpPr>
            <a:spLocks noGrp="1"/>
          </p:cNvSpPr>
          <p:nvPr>
            <p:ph type="sldNum" sz="quarter" idx="4294967295"/>
          </p:nvPr>
        </p:nvSpPr>
        <p:spPr>
          <a:xfrm>
            <a:off x="10617200" y="6261100"/>
            <a:ext cx="762000" cy="22860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latin typeface="Courier New"/>
                <a:ea typeface="Courier New"/>
                <a:cs typeface="Courier New"/>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12800" y="2095500"/>
            <a:ext cx="177800" cy="177800"/>
          </a:xfrm>
          <a:prstGeom prst="ellipse">
            <a:avLst/>
          </a:prstGeom>
          <a:solidFill>
            <a:srgbClr val="FF453A"/>
          </a:solidFill>
          <a:ln/>
          <a:effectLst>
            <a:outerShdw sx="100000" sy="100000" kx="0" ky="0" algn="bl" rotWithShape="0" blurRad="152400" dist="50800" dir="5400000">
              <a:srgbClr val="FF453A">
                <a:alpha val="80000"/>
              </a:srgbClr>
            </a:outerShdw>
          </a:effectLst>
        </p:spPr>
      </p:sp>
      <p:sp>
        <p:nvSpPr>
          <p:cNvPr id="3" name="Text 1"/>
          <p:cNvSpPr txBox="1"/>
          <p:nvPr/>
        </p:nvSpPr>
        <p:spPr>
          <a:xfrm>
            <a:off x="1117600" y="2044700"/>
            <a:ext cx="3810000" cy="279400"/>
          </a:xfrm>
          <a:prstGeom prst="rect">
            <a:avLst/>
          </a:prstGeom>
          <a:noFill/>
          <a:ln/>
        </p:spPr>
        <p:txBody>
          <a:bodyPr wrap="square" lIns="0" tIns="0" rIns="0" bIns="0" rtlCol="0" anchor="ctr"/>
          <a:lstStyle/>
          <a:p>
            <a:pPr algn="l" indent="0" marL="0">
              <a:buNone/>
            </a:pPr>
            <a:r>
              <a:rPr lang="en-US" sz="1600" b="1" spc="200" kern="0" dirty="0">
                <a:solidFill>
                  <a:schemeClr val="bg1"/>
                </a:solidFill>
                <a:latin typeface="Courier New" pitchFamily="34" charset="0"/>
                <a:ea typeface="Courier New" pitchFamily="34" charset="-122"/>
                <a:cs typeface="Courier New" pitchFamily="34" charset="-120"/>
              </a:rPr>
              <a:t>LIVE DEMO</a:t>
            </a:r>
            <a:endParaRPr lang="en-US" sz="1600" dirty="0"/>
          </a:p>
        </p:txBody>
      </p:sp>
      <p:sp>
        <p:nvSpPr>
          <p:cNvPr id="4" name="Title"/>
          <p:cNvSpPr txBox="1"/>
          <p:nvPr/>
        </p:nvSpPr>
        <p:spPr>
          <a:xfrm>
            <a:off x="812800" y="2540000"/>
            <a:ext cx="7302500" cy="2095500"/>
          </a:xfrm>
          <a:prstGeom prst="rect">
            <a:avLst/>
          </a:prstGeom>
          <a:noFill/>
          <a:ln/>
        </p:spPr>
        <p:txBody>
          <a:bodyPr wrap="square" lIns="0" tIns="0" rIns="0" bIns="0" rtlCol="0" anchor="t"/>
          <a:lstStyle/>
          <a:p>
            <a:pPr algn="l" indent="0" marL="0">
              <a:lnSpc>
                <a:spcPct val="95000"/>
              </a:lnSpc>
              <a:buNone/>
            </a:pPr>
            <a:r>
              <a:rPr lang="en-US" sz="8000" b="1" spc="-200" kern="0" dirty="0">
                <a:solidFill>
                  <a:schemeClr val="bg1"/>
                </a:solidFill>
              </a:rPr>
              <a:t>Let’s try to scam Amina.</a:t>
            </a:r>
            <a:endParaRPr lang="en-US" sz="8000" dirty="0"/>
          </a:p>
        </p:txBody>
      </p:sp>
      <p:sp>
        <p:nvSpPr>
          <p:cNvPr id="5" name="Text 3"/>
          <p:cNvSpPr txBox="1"/>
          <p:nvPr/>
        </p:nvSpPr>
        <p:spPr>
          <a:xfrm>
            <a:off x="812800" y="4762500"/>
            <a:ext cx="6350000" cy="381000"/>
          </a:xfrm>
          <a:prstGeom prst="rect">
            <a:avLst/>
          </a:prstGeom>
          <a:noFill/>
          <a:ln/>
        </p:spPr>
        <p:txBody>
          <a:bodyPr wrap="square" lIns="0" tIns="0" rIns="0" bIns="0" rtlCol="0" anchor="t"/>
          <a:lstStyle/>
          <a:p>
            <a:pPr algn="l" indent="0" marL="0">
              <a:buNone/>
            </a:pPr>
            <a:r>
              <a:rPr lang="en-US" sz="2200" dirty="0">
                <a:solidFill>
                  <a:schemeClr val="accent4"/>
                </a:solidFill>
              </a:rPr>
              <a:t>Right now. On a real phone.</a:t>
            </a:r>
            <a:endParaRPr lang="en-US" sz="2200" dirty="0"/>
          </a:p>
        </p:txBody>
      </p:sp>
      <p:pic>
        <p:nvPicPr>
          <p:cNvPr id="6" name="Phone: Result: Not confirmed" descr="Result: Not confirmed">    </p:cNvPr>
          <p:cNvPicPr>
            <a:picLocks noChangeAspect="1"/>
          </p:cNvPicPr>
          <p:nvPr/>
        </p:nvPicPr>
        <p:blipFill>
          <a:blip r:embed="rId2"/>
          <a:stretch>
            <a:fillRect/>
          </a:stretch>
        </p:blipFill>
        <p:spPr>
          <a:xfrm rot="300000">
            <a:off x="8461375" y="523875"/>
            <a:ext cx="3143250" cy="5657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Eyebrow"/>
          <p:cNvSpPr txBox="1"/>
          <p:nvPr/>
        </p:nvSpPr>
        <p:spPr>
          <a:xfrm>
            <a:off x="812800" y="812800"/>
            <a:ext cx="6985000" cy="190500"/>
          </a:xfrm>
          <a:prstGeom prst="rect">
            <a:avLst/>
          </a:prstGeom>
          <a:noFill/>
          <a:ln/>
        </p:spPr>
        <p:txBody>
          <a:bodyPr wrap="square" lIns="0" tIns="0" rIns="0" bIns="0" rtlCol="0" anchor="t"/>
          <a:lstStyle/>
          <a:p>
            <a:pPr algn="l" indent="0" marL="0">
              <a:buNone/>
            </a:pPr>
            <a:r>
              <a:rPr lang="en-US" sz="1200" b="1" spc="150" kern="0" dirty="0">
                <a:solidFill>
                  <a:schemeClr val="accent2"/>
                </a:solidFill>
                <a:latin typeface="Courier New" pitchFamily="34" charset="0"/>
                <a:ea typeface="Courier New" pitchFamily="34" charset="-122"/>
                <a:cs typeface="Courier New" pitchFamily="34" charset="-120"/>
              </a:rPr>
              <a:t>WHAT’S NEXT</a:t>
            </a:r>
            <a:endParaRPr lang="en-US" sz="1200" dirty="0"/>
          </a:p>
        </p:txBody>
      </p:sp>
      <p:sp>
        <p:nvSpPr>
          <p:cNvPr id="3" name="Title"/>
          <p:cNvSpPr txBox="1"/>
          <p:nvPr/>
        </p:nvSpPr>
        <p:spPr>
          <a:xfrm>
            <a:off x="812800" y="1130300"/>
            <a:ext cx="6985000" cy="114300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rPr>
              <a:t>Pilot with Zenith Bank. Then every bank.</a:t>
            </a:r>
            <a:endParaRPr lang="en-US" sz="3600" dirty="0"/>
          </a:p>
        </p:txBody>
      </p:sp>
      <p:sp>
        <p:nvSpPr>
          <p:cNvPr id="4" name="Shape 2"/>
          <p:cNvSpPr/>
          <p:nvPr/>
        </p:nvSpPr>
        <p:spPr>
          <a:xfrm>
            <a:off x="812800" y="2540000"/>
            <a:ext cx="2190750" cy="0"/>
          </a:xfrm>
          <a:prstGeom prst="line">
            <a:avLst/>
          </a:prstGeom>
          <a:noFill/>
          <a:ln w="28575">
            <a:solidFill>
              <a:srgbClr val="2FBF8A"/>
            </a:solidFill>
            <a:prstDash val="solid"/>
          </a:ln>
        </p:spPr>
      </p:sp>
      <p:sp>
        <p:nvSpPr>
          <p:cNvPr id="5" name="Text 3"/>
          <p:cNvSpPr txBox="1"/>
          <p:nvPr/>
        </p:nvSpPr>
        <p:spPr>
          <a:xfrm>
            <a:off x="812800" y="2667000"/>
            <a:ext cx="2190750" cy="190500"/>
          </a:xfrm>
          <a:prstGeom prst="rect">
            <a:avLst/>
          </a:prstGeom>
          <a:noFill/>
          <a:ln/>
        </p:spPr>
        <p:txBody>
          <a:bodyPr wrap="square" lIns="0" tIns="0" rIns="0" bIns="0" rtlCol="0" anchor="t"/>
          <a:lstStyle/>
          <a:p>
            <a:pPr algn="l" indent="0" marL="0">
              <a:buNone/>
            </a:pPr>
            <a:r>
              <a:rPr lang="en-US" sz="1200" dirty="0">
                <a:solidFill>
                  <a:schemeClr val="accent2"/>
                </a:solidFill>
                <a:latin typeface="Courier New" pitchFamily="34" charset="0"/>
                <a:ea typeface="Courier New" pitchFamily="34" charset="-122"/>
                <a:cs typeface="Courier New" pitchFamily="34" charset="-120"/>
              </a:rPr>
              <a:t>Month 1–3</a:t>
            </a:r>
            <a:endParaRPr lang="en-US" sz="1200" dirty="0"/>
          </a:p>
        </p:txBody>
      </p:sp>
      <p:sp>
        <p:nvSpPr>
          <p:cNvPr id="6" name="Text 4"/>
          <p:cNvSpPr txBox="1"/>
          <p:nvPr/>
        </p:nvSpPr>
        <p:spPr>
          <a:xfrm>
            <a:off x="812800" y="2895600"/>
            <a:ext cx="2190750" cy="254000"/>
          </a:xfrm>
          <a:prstGeom prst="rect">
            <a:avLst/>
          </a:prstGeom>
          <a:noFill/>
          <a:ln/>
        </p:spPr>
        <p:txBody>
          <a:bodyPr wrap="square" lIns="0" tIns="0" rIns="0" bIns="0" rtlCol="0" anchor="t"/>
          <a:lstStyle/>
          <a:p>
            <a:pPr algn="l" indent="0" marL="0">
              <a:buNone/>
            </a:pPr>
            <a:r>
              <a:rPr lang="en-US" sz="1600" b="1" dirty="0">
                <a:solidFill>
                  <a:schemeClr val="bg1"/>
                </a:solidFill>
              </a:rPr>
              <a:t>Pilot</a:t>
            </a:r>
            <a:endParaRPr lang="en-US" sz="1600" dirty="0"/>
          </a:p>
        </p:txBody>
      </p:sp>
      <p:sp>
        <p:nvSpPr>
          <p:cNvPr id="7" name="Text 5"/>
          <p:cNvSpPr txBox="1"/>
          <p:nvPr/>
        </p:nvSpPr>
        <p:spPr>
          <a:xfrm>
            <a:off x="812800" y="3175000"/>
            <a:ext cx="2190750" cy="381000"/>
          </a:xfrm>
          <a:prstGeom prst="rect">
            <a:avLst/>
          </a:prstGeom>
          <a:noFill/>
          <a:ln/>
        </p:spPr>
        <p:txBody>
          <a:bodyPr wrap="square" lIns="0" tIns="0" rIns="0" bIns="0" rtlCol="0" anchor="t"/>
          <a:lstStyle/>
          <a:p>
            <a:pPr algn="l" indent="0" marL="0">
              <a:buNone/>
            </a:pPr>
            <a:r>
              <a:rPr lang="en-US" sz="1200" dirty="0">
                <a:solidFill>
                  <a:schemeClr val="bg2"/>
                </a:solidFill>
              </a:rPr>
              <a:t>One message type + bank calls</a:t>
            </a:r>
            <a:endParaRPr lang="en-US" sz="1200" dirty="0"/>
          </a:p>
        </p:txBody>
      </p:sp>
      <p:sp>
        <p:nvSpPr>
          <p:cNvPr id="8" name="Shape 6"/>
          <p:cNvSpPr/>
          <p:nvPr/>
        </p:nvSpPr>
        <p:spPr>
          <a:xfrm>
            <a:off x="3206750" y="2540000"/>
            <a:ext cx="2190750" cy="0"/>
          </a:xfrm>
          <a:prstGeom prst="line">
            <a:avLst/>
          </a:prstGeom>
          <a:noFill/>
          <a:ln w="28575">
            <a:solidFill>
              <a:srgbClr val="3A4540"/>
            </a:solidFill>
            <a:prstDash val="solid"/>
          </a:ln>
        </p:spPr>
      </p:sp>
      <p:sp>
        <p:nvSpPr>
          <p:cNvPr id="9" name="Text 7"/>
          <p:cNvSpPr txBox="1"/>
          <p:nvPr/>
        </p:nvSpPr>
        <p:spPr>
          <a:xfrm>
            <a:off x="3206750" y="2667000"/>
            <a:ext cx="2190750" cy="190500"/>
          </a:xfrm>
          <a:prstGeom prst="rect">
            <a:avLst/>
          </a:prstGeom>
          <a:noFill/>
          <a:ln/>
        </p:spPr>
        <p:txBody>
          <a:bodyPr wrap="square" lIns="0" tIns="0" rIns="0" bIns="0" rtlCol="0" anchor="t"/>
          <a:lstStyle/>
          <a:p>
            <a:pPr algn="l" indent="0" marL="0">
              <a:buNone/>
            </a:pPr>
            <a:r>
              <a:rPr lang="en-US" sz="1200" dirty="0">
                <a:solidFill>
                  <a:schemeClr val="bg2"/>
                </a:solidFill>
                <a:latin typeface="Courier New" pitchFamily="34" charset="0"/>
                <a:ea typeface="Courier New" pitchFamily="34" charset="-122"/>
                <a:cs typeface="Courier New" pitchFamily="34" charset="-120"/>
              </a:rPr>
              <a:t>Next</a:t>
            </a:r>
            <a:endParaRPr lang="en-US" sz="1200" dirty="0"/>
          </a:p>
        </p:txBody>
      </p:sp>
      <p:sp>
        <p:nvSpPr>
          <p:cNvPr id="10" name="Text 8"/>
          <p:cNvSpPr txBox="1"/>
          <p:nvPr/>
        </p:nvSpPr>
        <p:spPr>
          <a:xfrm>
            <a:off x="3206750" y="2895600"/>
            <a:ext cx="2190750" cy="254000"/>
          </a:xfrm>
          <a:prstGeom prst="rect">
            <a:avLst/>
          </a:prstGeom>
          <a:noFill/>
          <a:ln/>
        </p:spPr>
        <p:txBody>
          <a:bodyPr wrap="square" lIns="0" tIns="0" rIns="0" bIns="0" rtlCol="0" anchor="t"/>
          <a:lstStyle/>
          <a:p>
            <a:pPr algn="l" indent="0" marL="0">
              <a:buNone/>
            </a:pPr>
            <a:r>
              <a:rPr lang="en-US" sz="1600" b="1" dirty="0">
                <a:solidFill>
                  <a:schemeClr val="bg1"/>
                </a:solidFill>
              </a:rPr>
              <a:t>Full rollout</a:t>
            </a:r>
            <a:endParaRPr lang="en-US" sz="1600" dirty="0"/>
          </a:p>
        </p:txBody>
      </p:sp>
      <p:sp>
        <p:nvSpPr>
          <p:cNvPr id="11" name="Text 9"/>
          <p:cNvSpPr txBox="1"/>
          <p:nvPr/>
        </p:nvSpPr>
        <p:spPr>
          <a:xfrm>
            <a:off x="3206750" y="3175000"/>
            <a:ext cx="2190750" cy="381000"/>
          </a:xfrm>
          <a:prstGeom prst="rect">
            <a:avLst/>
          </a:prstGeom>
          <a:noFill/>
          <a:ln/>
        </p:spPr>
        <p:txBody>
          <a:bodyPr wrap="square" lIns="0" tIns="0" rIns="0" bIns="0" rtlCol="0" anchor="t"/>
          <a:lstStyle/>
          <a:p>
            <a:pPr algn="l" indent="0" marL="0">
              <a:buNone/>
            </a:pPr>
            <a:r>
              <a:rPr lang="en-US" sz="1200" dirty="0">
                <a:solidFill>
                  <a:schemeClr val="bg2"/>
                </a:solidFill>
              </a:rPr>
              <a:t>All messages, USSD with telcos</a:t>
            </a:r>
            <a:endParaRPr lang="en-US" sz="1200" dirty="0"/>
          </a:p>
        </p:txBody>
      </p:sp>
      <p:sp>
        <p:nvSpPr>
          <p:cNvPr id="12" name="Shape 10"/>
          <p:cNvSpPr/>
          <p:nvPr/>
        </p:nvSpPr>
        <p:spPr>
          <a:xfrm>
            <a:off x="5600700" y="2540000"/>
            <a:ext cx="2190750" cy="0"/>
          </a:xfrm>
          <a:prstGeom prst="line">
            <a:avLst/>
          </a:prstGeom>
          <a:noFill/>
          <a:ln w="28575">
            <a:solidFill>
              <a:srgbClr val="3A4540"/>
            </a:solidFill>
            <a:prstDash val="solid"/>
          </a:ln>
        </p:spPr>
      </p:sp>
      <p:sp>
        <p:nvSpPr>
          <p:cNvPr id="13" name="Text 11"/>
          <p:cNvSpPr txBox="1"/>
          <p:nvPr/>
        </p:nvSpPr>
        <p:spPr>
          <a:xfrm>
            <a:off x="5600700" y="2667000"/>
            <a:ext cx="2190750" cy="190500"/>
          </a:xfrm>
          <a:prstGeom prst="rect">
            <a:avLst/>
          </a:prstGeom>
          <a:noFill/>
          <a:ln/>
        </p:spPr>
        <p:txBody>
          <a:bodyPr wrap="square" lIns="0" tIns="0" rIns="0" bIns="0" rtlCol="0" anchor="t"/>
          <a:lstStyle/>
          <a:p>
            <a:pPr algn="l" indent="0" marL="0">
              <a:buNone/>
            </a:pPr>
            <a:r>
              <a:rPr lang="en-US" sz="1200" dirty="0">
                <a:solidFill>
                  <a:schemeClr val="bg2"/>
                </a:solidFill>
                <a:latin typeface="Courier New" pitchFamily="34" charset="0"/>
                <a:ea typeface="Courier New" pitchFamily="34" charset="-122"/>
                <a:cs typeface="Courier New" pitchFamily="34" charset="-120"/>
              </a:rPr>
              <a:t>Then</a:t>
            </a:r>
            <a:endParaRPr lang="en-US" sz="1200" dirty="0"/>
          </a:p>
        </p:txBody>
      </p:sp>
      <p:sp>
        <p:nvSpPr>
          <p:cNvPr id="14" name="Text 12"/>
          <p:cNvSpPr txBox="1"/>
          <p:nvPr/>
        </p:nvSpPr>
        <p:spPr>
          <a:xfrm>
            <a:off x="5600700" y="2895600"/>
            <a:ext cx="2190750" cy="254000"/>
          </a:xfrm>
          <a:prstGeom prst="rect">
            <a:avLst/>
          </a:prstGeom>
          <a:noFill/>
          <a:ln/>
        </p:spPr>
        <p:txBody>
          <a:bodyPr wrap="square" lIns="0" tIns="0" rIns="0" bIns="0" rtlCol="0" anchor="t"/>
          <a:lstStyle/>
          <a:p>
            <a:pPr algn="l" indent="0" marL="0">
              <a:buNone/>
            </a:pPr>
            <a:r>
              <a:rPr lang="en-US" sz="1600" b="1" dirty="0">
                <a:solidFill>
                  <a:schemeClr val="bg1"/>
                </a:solidFill>
              </a:rPr>
              <a:t>One registry</a:t>
            </a:r>
            <a:endParaRPr lang="en-US" sz="1600" dirty="0"/>
          </a:p>
        </p:txBody>
      </p:sp>
      <p:sp>
        <p:nvSpPr>
          <p:cNvPr id="15" name="Text 13"/>
          <p:cNvSpPr txBox="1"/>
          <p:nvPr/>
        </p:nvSpPr>
        <p:spPr>
          <a:xfrm>
            <a:off x="5600700" y="3175000"/>
            <a:ext cx="2190750" cy="381000"/>
          </a:xfrm>
          <a:prstGeom prst="rect">
            <a:avLst/>
          </a:prstGeom>
          <a:noFill/>
          <a:ln/>
        </p:spPr>
        <p:txBody>
          <a:bodyPr wrap="square" lIns="0" tIns="0" rIns="0" bIns="0" rtlCol="0" anchor="t"/>
          <a:lstStyle/>
          <a:p>
            <a:pPr algn="l" indent="0" marL="0">
              <a:buNone/>
            </a:pPr>
            <a:r>
              <a:rPr lang="en-US" sz="1200" dirty="0">
                <a:solidFill>
                  <a:schemeClr val="bg2"/>
                </a:solidFill>
              </a:rPr>
              <a:t>Every bank, fintech, agency</a:t>
            </a:r>
            <a:endParaRPr lang="en-US" sz="1200" dirty="0"/>
          </a:p>
        </p:txBody>
      </p:sp>
      <p:pic>
        <p:nvPicPr>
          <p:cNvPr id="16" name="Image 0" descr="Jhmeel Mikail">    </p:cNvPr>
          <p:cNvPicPr>
            <a:picLocks noChangeAspect="1"/>
          </p:cNvPicPr>
          <p:nvPr/>
        </p:nvPicPr>
        <p:blipFill>
          <a:blip r:embed="rId1"/>
          <a:stretch>
            <a:fillRect/>
          </a:stretch>
        </p:blipFill>
        <p:spPr>
          <a:xfrm>
            <a:off x="812800" y="4064000"/>
            <a:ext cx="762000" cy="762000"/>
          </a:xfrm>
          <a:prstGeom prst="rect">
            <a:avLst/>
          </a:prstGeom>
        </p:spPr>
      </p:pic>
      <p:sp>
        <p:nvSpPr>
          <p:cNvPr id="17" name="Text 14"/>
          <p:cNvSpPr txBox="1"/>
          <p:nvPr/>
        </p:nvSpPr>
        <p:spPr>
          <a:xfrm>
            <a:off x="1727200" y="4191000"/>
            <a:ext cx="2032000" cy="254000"/>
          </a:xfrm>
          <a:prstGeom prst="rect">
            <a:avLst/>
          </a:prstGeom>
          <a:noFill/>
          <a:ln/>
        </p:spPr>
        <p:txBody>
          <a:bodyPr wrap="square" lIns="0" tIns="0" rIns="0" bIns="0" rtlCol="0" anchor="t"/>
          <a:lstStyle/>
          <a:p>
            <a:pPr algn="l" indent="0" marL="0">
              <a:buNone/>
            </a:pPr>
            <a:r>
              <a:rPr lang="en-US" sz="1600" b="1" dirty="0">
                <a:solidFill>
                  <a:schemeClr val="bg1"/>
                </a:solidFill>
              </a:rPr>
              <a:t>Jhmeel Mikail</a:t>
            </a:r>
            <a:endParaRPr lang="en-US" sz="1600" dirty="0"/>
          </a:p>
        </p:txBody>
      </p:sp>
      <p:sp>
        <p:nvSpPr>
          <p:cNvPr id="18" name="Text 15"/>
          <p:cNvSpPr txBox="1"/>
          <p:nvPr/>
        </p:nvSpPr>
        <p:spPr>
          <a:xfrm>
            <a:off x="1727200" y="4470400"/>
            <a:ext cx="2032000" cy="203200"/>
          </a:xfrm>
          <a:prstGeom prst="rect">
            <a:avLst/>
          </a:prstGeom>
          <a:noFill/>
          <a:ln/>
        </p:spPr>
        <p:txBody>
          <a:bodyPr wrap="square" lIns="0" tIns="0" rIns="0" bIns="0" rtlCol="0" anchor="t"/>
          <a:lstStyle/>
          <a:p>
            <a:pPr algn="l" indent="0" marL="0">
              <a:buNone/>
            </a:pPr>
            <a:r>
              <a:rPr lang="en-US" sz="1200" dirty="0">
                <a:solidFill>
                  <a:schemeClr val="bg2"/>
                </a:solidFill>
                <a:latin typeface="Courier New" pitchFamily="34" charset="0"/>
                <a:ea typeface="Courier New" pitchFamily="34" charset="-122"/>
                <a:cs typeface="Courier New" pitchFamily="34" charset="-120"/>
              </a:rPr>
              <a:t>Software engineer</a:t>
            </a:r>
            <a:endParaRPr lang="en-US" sz="1200" dirty="0"/>
          </a:p>
        </p:txBody>
      </p:sp>
      <p:pic>
        <p:nvPicPr>
          <p:cNvPr id="19" name="Image 1" descr="Mojeed Fathia">    </p:cNvPr>
          <p:cNvPicPr>
            <a:picLocks noChangeAspect="1"/>
          </p:cNvPicPr>
          <p:nvPr/>
        </p:nvPicPr>
        <p:blipFill>
          <a:blip r:embed="rId2"/>
          <a:stretch>
            <a:fillRect/>
          </a:stretch>
        </p:blipFill>
        <p:spPr>
          <a:xfrm>
            <a:off x="3810000" y="4064000"/>
            <a:ext cx="762000" cy="762000"/>
          </a:xfrm>
          <a:prstGeom prst="rect">
            <a:avLst/>
          </a:prstGeom>
        </p:spPr>
      </p:pic>
      <p:sp>
        <p:nvSpPr>
          <p:cNvPr id="20" name="Text 16"/>
          <p:cNvSpPr txBox="1"/>
          <p:nvPr/>
        </p:nvSpPr>
        <p:spPr>
          <a:xfrm>
            <a:off x="4724400" y="4191000"/>
            <a:ext cx="2032000" cy="254000"/>
          </a:xfrm>
          <a:prstGeom prst="rect">
            <a:avLst/>
          </a:prstGeom>
          <a:noFill/>
          <a:ln/>
        </p:spPr>
        <p:txBody>
          <a:bodyPr wrap="square" lIns="0" tIns="0" rIns="0" bIns="0" rtlCol="0" anchor="t"/>
          <a:lstStyle/>
          <a:p>
            <a:pPr algn="l" indent="0" marL="0">
              <a:buNone/>
            </a:pPr>
            <a:r>
              <a:rPr lang="en-US" sz="1600" b="1" dirty="0">
                <a:solidFill>
                  <a:schemeClr val="bg1"/>
                </a:solidFill>
              </a:rPr>
              <a:t>Mojeed Fathia</a:t>
            </a:r>
            <a:endParaRPr lang="en-US" sz="1600" dirty="0"/>
          </a:p>
        </p:txBody>
      </p:sp>
      <p:sp>
        <p:nvSpPr>
          <p:cNvPr id="21" name="Text 17"/>
          <p:cNvSpPr txBox="1"/>
          <p:nvPr/>
        </p:nvSpPr>
        <p:spPr>
          <a:xfrm>
            <a:off x="4724400" y="4470400"/>
            <a:ext cx="2032000" cy="203200"/>
          </a:xfrm>
          <a:prstGeom prst="rect">
            <a:avLst/>
          </a:prstGeom>
          <a:noFill/>
          <a:ln/>
        </p:spPr>
        <p:txBody>
          <a:bodyPr wrap="square" lIns="0" tIns="0" rIns="0" bIns="0" rtlCol="0" anchor="t"/>
          <a:lstStyle/>
          <a:p>
            <a:pPr algn="l" indent="0" marL="0">
              <a:buNone/>
            </a:pPr>
            <a:r>
              <a:rPr lang="en-US" sz="1200" dirty="0">
                <a:solidFill>
                  <a:schemeClr val="bg2"/>
                </a:solidFill>
                <a:latin typeface="Courier New" pitchFamily="34" charset="0"/>
                <a:ea typeface="Courier New" pitchFamily="34" charset="-122"/>
                <a:cs typeface="Courier New" pitchFamily="34" charset="-120"/>
              </a:rPr>
              <a:t>Business analyst</a:t>
            </a:r>
            <a:endParaRPr lang="en-US" sz="1200" dirty="0"/>
          </a:p>
        </p:txBody>
      </p:sp>
      <p:pic>
        <p:nvPicPr>
          <p:cNvPr id="22" name="Image 2" descr="Gaskiyya logo">    </p:cNvPr>
          <p:cNvPicPr>
            <a:picLocks noChangeAspect="1"/>
          </p:cNvPicPr>
          <p:nvPr/>
        </p:nvPicPr>
        <p:blipFill>
          <a:blip r:embed="rId3"/>
          <a:stretch>
            <a:fillRect/>
          </a:stretch>
        </p:blipFill>
        <p:spPr>
          <a:xfrm>
            <a:off x="8509000" y="1397000"/>
            <a:ext cx="2794000" cy="2794000"/>
          </a:xfrm>
          <a:prstGeom prst="rect">
            <a:avLst/>
          </a:prstGeom>
        </p:spPr>
      </p:pic>
      <p:sp>
        <p:nvSpPr>
          <p:cNvPr id="23" name="Text 18"/>
          <p:cNvSpPr txBox="1"/>
          <p:nvPr/>
        </p:nvSpPr>
        <p:spPr>
          <a:xfrm>
            <a:off x="8318500" y="4572000"/>
            <a:ext cx="3048000" cy="762000"/>
          </a:xfrm>
          <a:prstGeom prst="rect">
            <a:avLst/>
          </a:prstGeom>
          <a:noFill/>
          <a:ln/>
        </p:spPr>
        <p:txBody>
          <a:bodyPr wrap="square" lIns="0" tIns="0" rIns="0" bIns="0" rtlCol="0" anchor="t"/>
          <a:lstStyle/>
          <a:p>
            <a:pPr algn="ctr" indent="0" marL="0">
              <a:buNone/>
            </a:pPr>
            <a:r>
              <a:rPr lang="en-US" sz="2200" b="1" dirty="0">
                <a:solidFill>
                  <a:schemeClr val="bg1"/>
                </a:solidFill>
              </a:rPr>
              <a:t>Know it is really your bank.</a:t>
            </a:r>
            <a:endParaRPr lang="en-US" sz="2200" dirty="0"/>
          </a:p>
        </p:txBody>
      </p:sp>
    </p:spTree>
  </p:cSld>
  <p:clrMapOvr>
    <a:masterClrMapping/>
  </p:clrMapOvr>
</p:sld>
</file>

<file path=ppt/theme/theme1.xml><?xml version="1.0" encoding="utf-8"?>
<a:theme xmlns:a="http://schemas.openxmlformats.org/drawingml/2006/main" name="Gaskiyya">
  <a:themeElements>
    <a:clrScheme name="Gaskiyya">
      <a:dk1>
        <a:srgbClr val="0E1512"/>
      </a:dk1>
      <a:lt1>
        <a:srgbClr val="F4F3EF"/>
      </a:lt1>
      <a:dk2>
        <a:srgbClr val="5E6762"/>
      </a:dk2>
      <a:lt2>
        <a:srgbClr val="A3ADA8"/>
      </a:lt2>
      <a:accent1>
        <a:srgbClr val="0A7A55"/>
      </a:accent1>
      <a:accent2>
        <a:srgbClr val="2FBF8A"/>
      </a:accent2>
      <a:accent3>
        <a:srgbClr val="C25E00"/>
      </a:accent3>
      <a:accent4>
        <a:srgbClr val="FF9F0A"/>
      </a:accent4>
      <a:accent5>
        <a:srgbClr val="C9F2DF"/>
      </a:accent5>
      <a:accent6>
        <a:srgbClr val="1F2622"/>
      </a:accent6>
      <a:hlink>
        <a:srgbClr val="0A7A55"/>
      </a:hlink>
      <a:folHlink>
        <a:srgbClr val="5E6762"/>
      </a:folHlink>
    </a:clrScheme>
    <a:fontScheme name="Gaskiyya">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Gaskiyya — Zecathon 6.0</dc:title>
  <dc:subject>PptxGenJS Presentation</dc:subject>
  <dc:creator>Jhmeel Mikail, Mojeed Fathia</dc:creator>
  <cp:lastModifiedBy>Jhmeel Mikail, Mojeed Fathia</cp:lastModifiedBy>
  <cp:revision>1</cp:revision>
  <dcterms:created xsi:type="dcterms:W3CDTF">2026-10-22T10:02:23Z</dcterms:created>
  <dcterms:modified xsi:type="dcterms:W3CDTF">2026-10-22T10:02:23Z</dcterms:modified>
</cp:coreProperties>
</file>