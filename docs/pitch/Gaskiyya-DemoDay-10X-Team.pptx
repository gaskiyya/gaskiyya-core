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40287f1-9a39-f35e-c0c6-816cc2181a6c}">
          <p14:sldIdLst>
            <p14:sldId id="256"/>
            <p14:sldId id="257"/>
          </p14:sldIdLst>
        </p14:section>
        <p14:section name="Problem" id="{3bd560be-5603-d954-339a-97b930573f72}">
          <p14:sldIdLst>
            <p14:sldId id="258"/>
            <p14:sldId id="259"/>
          </p14:sldIdLst>
        </p14:section>
        <p14:section name="Solution" id="{1eb32f9f-46c7-596b-3724-751f805801d2}">
          <p14:sldIdLst>
            <p14:sldId id="260"/>
          </p14:sldIdLst>
        </p14:section>
        <p14:section name="Impact and growth" id="{9e6e2d24-2281-5220-97ed-59b779c53a5a}">
          <p14:sldIdLst>
            <p14:sldId id="261"/>
            <p14:sldId id="262"/>
            <p14:sldId id="263"/>
          </p14:sldIdLst>
        </p14:section>
        <p14:section name="Live demo" id="{2b1e66a0-a47b-32d1-cac6-adcdb23e5d1e}">
          <p14:sldIdLst>
            <p14:sldId id="264"/>
          </p14:sldIdLst>
        </p14:section>
        <p14:section name="Close" id="{3c4fcc5a-3760-c91e-7dc2-330f16dcb068}">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Respondents who said yes (%)</c:v>
                </c:pt>
              </c:strCache>
            </c:strRef>
          </c:tx>
          <c:spPr>
            <a:solidFill>
              <a:srgbClr val="0A7A55"/>
            </a:solidFill>
            <a:effectLst/>
          </c:spPr>
          <c:invertIfNegative val="0"/>
          <c:dLbls>
            <c:numFmt formatCode="0&quot;%&quot;" sourceLinked="0"/>
            <c:txPr>
              <a:bodyPr/>
              <a:lstStyle/>
              <a:p>
                <a:pPr>
                  <a:defRPr b="0" i="0" strike="noStrike" sz="1600" u="none">
                    <a:solidFill>
                      <a:srgbClr val="0E1512"/>
                    </a:solidFill>
                    <a:latin typeface="+mn-lt"/>
                  </a:defRPr>
                </a:pPr>
              </a:p>
            </c:txPr>
            <c:showLegendKey val="0"/>
            <c:showVal val="1"/>
            <c:showCatName val="0"/>
            <c:showSerName val="0"/>
            <c:showPercent val="0"/>
            <c:showBubbleSize val="0"/>
            <c:showLeaderLines val="0"/>
          </c:dLbls>
          <c:cat>
            <c:multiLvlStrRef>
              <c:f>Sheet1!$A$2:$A$5</c:f>
              <c:multiLvlStrCache>
                <c:ptCount val="4"/>
                <c:lvl>
                  <c:pt idx="0">
                    <c:v>Hung up on a real bank call</c:v>
                  </c:pt>
                  <c:pt idx="1">
                    <c:v>Ignored a real bank message</c:v>
                  </c:pt>
                  <c:pt idx="2">
                    <c:v>Lost money, or someone close did</c:v>
                  </c:pt>
                  <c:pt idx="3">
                    <c:v>Would find Gaskiyya useful</c:v>
                  </c:pt>
                </c:lvl>
              </c:multiLvlStrCache>
            </c:multiLvlStrRef>
          </c:cat>
          <c:val>
            <c:numRef>
              <c:f>Sheet1!$B$2:$B$5</c:f>
              <c:numCache>
                <c:formatCode>General</c:formatCode>
                <c:ptCount val="4"/>
                <c:pt idx="0">
                  <c:v>58</c:v>
                </c:pt>
                <c:pt idx="1">
                  <c:v>42</c:v>
                </c:pt>
                <c:pt idx="2">
                  <c:v>33</c:v>
                </c:pt>
                <c:pt idx="3">
                  <c:v>73</c:v>
                </c:pt>
              </c:numCache>
            </c:numRef>
          </c:val>
        </c:ser>
        <c:dLbls>
          <c:numFmt formatCode="0&quot;%&quot;" sourceLinked="0"/>
          <c:txPr>
            <a:bodyPr/>
            <a:lstStyle/>
            <a:p>
              <a:pPr>
                <a:defRPr b="0" i="0" strike="noStrike" sz="1600" u="none">
                  <a:solidFill>
                    <a:srgbClr val="0E1512"/>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600" b="0" i="0" u="none" strike="noStrike">
                <a:solidFill>
                  <a:srgbClr val="0E1512"/>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9525" cap="flat">
              <a:solidFill>
                <a:srgbClr val="DAD8D2"/>
              </a:solidFill>
              <a:prstDash val="solid"/>
              <a:round/>
            </a:ln>
          </c:spPr>
        </c:majorGridlines>
        <c:numFmt formatCode="0&quot;%&quot;" sourceLinked="0"/>
        <c:majorTickMark val="out"/>
        <c:minorTickMark val="none"/>
        <c:tickLblPos val="low"/>
        <c:spPr>
          <a:ln w="12700" cap="flat">
            <a:noFill/>
            <a:prstDash val="solid"/>
            <a:round/>
          </a:ln>
        </c:spPr>
        <c:txPr>
          <a:bodyPr/>
          <a:lstStyle/>
          <a:p>
            <a:pPr>
              <a:defRPr sz="1400" b="0" i="0" u="none" strike="noStrike">
                <a:solidFill>
                  <a:srgbClr val="5E6762"/>
                </a:solidFill>
                <a:latin typeface="+mn-lt"/>
              </a:defRPr>
            </a:pPr>
            <a:endParaRPr lang="en-US"/>
          </a:p>
        </c:txPr>
        <c:crossAx val="2094734554"/>
        <c:crosses val="autoZero"/>
        <c:crossBetween val="between"/>
        <c:majorUnit val="25"/>
      </c:valAx>
      <c:spPr>
        <a:noFill/>
        <a:ln>
          <a:noFill/>
        </a:ln>
        <a:effectLst/>
      </c:spPr>
    </c:plotArea>
    <c:legend>
      <c:legendPos val="t"/>
      <c:overlay val="0"/>
      <c:txPr>
        <a:bodyPr/>
        <a:lstStyle/>
        <a:p>
          <a:pPr>
            <a:defRPr sz="1400">
              <a:solidFill>
                <a:srgbClr val="0E1512"/>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OLUWATOBI · 20 seconds
Good morning. We are 10X Team. I’m Oluwatobi, and this is Jhmeel. Our project is Gaskiyya. “Gaskiya” is the Hausa word for truth.
We’re working on Strengthening Trust in Digital Banking, and on one simple question: when a message or a call says it’s from your bank, how do you know it really is?
Let’s start somewhere unexpected.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JHMEEL · 45 seconds. The three lines appear one after another on their own. Let each one land.
[Line 1] Look at this little girl. She doesn’t look back. She knows her father will catch her.
[Line 2] That is trust. Not a contract, not a password. Just confidence that the person on the other side is who you think they are.
You have the same kind of trust with your bank. You trust it with your money, your information and your biggest decisions.
[Line 3, slow] Now imagine someone pretending to be him. Someone who looks like him, sounds like him, and knows your name.
[pause] That is exactly what happens every day when fraudsters pretend to be your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OLUWATOBI · 40 seconds
Imagine your phone rings. “Hello, this is your bank.” They know your name. They say there’s an urgent problem with your account and you need to act now.
Would you know if it was really your bank? What if the voice sounded convincing, or the SMS looked exactly right?
That’s what impersonation exploits. NIBSS reported social engineering as the most prevalent fraud technique in Nigeria in 2025, with ₦25.85 billion lost to fraud that year.
[point to the phone] Gaskiyya gives you a way to check before you act. Your bank registers what it really sends and every call it really makes. So when this “Bank Support” calls, the app says it plainly: your bank is not calling you.
For Q&amp;A: today we check SMS and WhatsApp text, links, contacts, and calls the bank announces through Gaskiyya. Not every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JHMEEL · 30 seconds
We didn’t want to guess, so we asked. 33 people answered our survey this week.
58% have hung up on a real call from their bank because they couldn’t tell if it was real. 42% ignored or deleted a real bank message because they thought it was fake. A third lost money to a fake message or call, or someone close to them did.
So fakes don’t just steal money. They make people distrust the real bank too.
And 73% rated a check like this useful, 4 or 5 out of 5.
For Q&amp;A: also, 64% want the check inside their own bank’s app, and 45% say they would trust digital banking more. It is a small, young sample (79% aged 18 to 25, mostly Lagos and the South-West), so we treat it as a signal, not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JHMEEL · 45 seconds
Three parties, three steps.
One: when the bank sends a message or places a call, its system makes one API call to the Gaskiyya registry. We store a keyed fingerprint, an HMAC-SHA-256 hash. Think of it as a seal that can’t be reversed. No message text, no phone numbers, so there’s nothing useful to steal.
Two: the customer checks. They share the message to the app, or look at the Calls screen when someone rings.
Three: the registry looks for an exact match for that customer’s number, and the customer gets one of three answers: confirmed, not confirmed, or cannot check. Change one character, or forward it to someone else, and it fails. If we can’t check, we say so. We never say “safe” by default.
Under the hood: a Flutter app for iOS and Android, a TypeScript and Fastify API on Firestore, deployed with Docker on AWS through CI/CD. GenAI only explains a failed check in plain language. It never decides.
Honest limitation: the bank side is simulated today. Connecting a real bank’s messaging system is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OLUWATOBI · 35 seconds
Who benefits?
Customers: a way to pause and check before clicking a link, calling back, or sharing a code.
Traders and small businesses: check that a transfer is real before handing over goods. No more fake “I’ve paid you” receipts.
Banks: customer reports of a fake message are grouped into a scam campaign, and a human approves every warning before it goes out. It complements the bank’s security. It doesn’t replace it.
And it works on any phone: in the bank’s app or ours, on WhatsApp, and by USSD for basic phones without data, in English, Pidgin, Hausa, Yoruba and Igbo. The translations still need native-speaker review.
Why it matters for inclusion: people only use digital banking if they feel confident in it. These are potential outcomes, and we want to measure them in a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JHMEEL · 20 seconds
It scales by design. Every bank joins through the same API. Each bank keeps its own keys and its own records, isolated from the others. And customers get one place to check messages from every bank they use: in their bank’s app or ours, on WhatsApp, or by USSD on any phone.
To get there we still need real bank integrations, a USSD short code with the telcos, security and privacy reviews, and operational support. Production scale isn’t proven yet. That’s what the pilot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JHMEEL · 25 seconds
We built this in three days. The registry is live on AWS, with the iOS and Android app, the bank console, WhatsApp and USSD, all deployed through CI/CD with automated tests.
Next three months. Month one: put it in front of real users and make sure every result is clear. Month two: a security and privacy review, better error handling, and the real requirements for connecting to a bank. Month three: a controlled pilot, if a partner bank agrees, measured properly.
The goal isn’t more features. It’s proving Gaskiyya is useful and reliable for real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 3 minutes. One drives the app and console, the other narrates (agree who does which before the pitch). Test data only. No real customer data, keys or tokens on screen.
1. THE BANK SENDS (20s): “On the left is the bank’s side, our bank console. On the right, a customer’s phone with Gaskiyya.” Console, Messages, send a security alert.
2. CUSTOMER SHARES IT (20s): On the phone, share the message to Gaskiyya.
3. SENT BY YOUR BANK (30s): The app shows “Sent by your bank.” “That message is genuine. The bank registered it a moment ago.”
4. TAMPERED COPY (40s): Paste the copy with the lookalike link (one hyphen added). Result: “Not confirmed”, plus what the bank actually sent in the last 24 hours and why this looks like a scam. Optional: paste the genuine message as a different customer. Also “Not confirmed”, because checks are bound to the recipient.
5. BANK CALLS (40s): Console, Calls, announce and call. The same 4-digit code appears on the agent screen and the phone. Hang up: the app now says your bank is not calling you.
Close (10s): point at the QR codes: “Scan these to try the website and the bank sandbox yourself.” Then: “Each time, the customer got a clear answer before clicking a link, sharing a code, or trusting a caller.”
If the live demo fails: switch to the backup screen recording and say clearly, “This is a recording of the same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OLUWATOBI · 30 seconds (calm, slow). The four words appear one after another on their own: OTP, message, link, call.
At the heart of digital banking is a relationship between a bank and its customers. That relationship becomes fragile when customers can’t tell a genuine message from an impersonation.
Gaskiyya is our answer: making verification a normal part of deciding what to do.
We’ve built the prototype, you’ve seen it work, and we know the next steps.
Every OTP, proven. Every message, proven. Every link, proven. Every call, proven.
Because when the truth is easier to verify, trust has a stronger foundation.
Thank you.
[Stop. Let the judges respond.]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PER">
    <p:bg>
      <p:bgPr>
        <a:solidFill>
          <a:srgbClr val="F4F3E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12800" y="6299200"/>
            <a:ext cx="203200" cy="203200"/>
          </a:xfrm>
          <a:prstGeom prst="rect">
            <a:avLst/>
          </a:prstGeom>
        </p:spPr>
      </p:pic>
      <p:sp>
        <p:nvSpPr>
          <p:cNvPr id="3" name="Text 0"/>
          <p:cNvSpPr/>
          <p:nvPr/>
        </p:nvSpPr>
        <p:spPr>
          <a:xfrm>
            <a:off x="1092200" y="6299200"/>
            <a:ext cx="1905000" cy="203200"/>
          </a:xfrm>
          <a:prstGeom prst="rect">
            <a:avLst/>
          </a:prstGeom>
          <a:noFill/>
          <a:ln/>
        </p:spPr>
        <p:txBody>
          <a:bodyPr wrap="square" lIns="0" tIns="0" rIns="0" bIns="0" rtlCol="0" anchor="ctr"/>
          <a:lstStyle/>
          <a:p>
            <a:pPr indent="0" marL="0">
              <a:buNone/>
            </a:pPr>
            <a:r>
              <a:rPr lang="en-US" sz="1100" dirty="0">
                <a:solidFill>
                  <a:schemeClr val="tx1"/>
                </a:solidFill>
                <a:latin typeface="Inter SemiBold" pitchFamily="34" charset="0"/>
                <a:ea typeface="Inter SemiBold" pitchFamily="34" charset="-122"/>
                <a:cs typeface="Inter SemiBold" pitchFamily="34" charset="-120"/>
              </a:rPr>
              <a:t>Gaskiyya</a:t>
            </a:r>
            <a:endParaRPr lang="en-US" sz="1100" dirty="0"/>
          </a:p>
        </p:txBody>
      </p:sp>
      <p:sp>
        <p:nvSpPr>
          <p:cNvPr id="4" name="Text 1"/>
          <p:cNvSpPr/>
          <p:nvPr>
            <p:ph idx="102" type="title" hasCustomPrompt="1"/>
          </p:nvPr>
        </p:nvSpPr>
        <p:spPr>
          <a:xfrm>
            <a:off x="812800" y="711200"/>
            <a:ext cx="10566400" cy="508000"/>
          </a:xfrm>
          <a:prstGeom prst="rect">
            <a:avLst/>
          </a:prstGeom>
          <a:noFill/>
          <a:ln/>
        </p:spPr>
        <p:txBody>
          <a:bodyPr wrap="square" rtlCol="0"/>
          <a:lstStyle>
            <a:lvl1pPr algn="l" indent="0" marL="0">
              <a:buNone/>
              <a:defRPr lang="en-US" sz="3200" dirty="0">
                <a:solidFill>
                  <a:schemeClr val="tx1"/>
                </a:solidFill>
                <a:latin typeface="Inter Display SemiBold" pitchFamily="34" charset="0"/>
                <a:ea typeface="Inter Display SemiBold" pitchFamily="34" charset="-122"/>
                <a:cs typeface="Inter Display SemiBold"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617200" y="6299200"/>
            <a:ext cx="762000" cy="20320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latin typeface="Inter Medium"/>
                <a:ea typeface="Inter Medium"/>
                <a:cs typeface="Inter Medium"/>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K">
    <p:bg>
      <p:bgPr>
        <a:solidFill>
          <a:srgbClr val="0E151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12800" y="6299200"/>
            <a:ext cx="203200" cy="203200"/>
          </a:xfrm>
          <a:prstGeom prst="rect">
            <a:avLst/>
          </a:prstGeom>
        </p:spPr>
      </p:pic>
      <p:sp>
        <p:nvSpPr>
          <p:cNvPr id="3" name="Text 0"/>
          <p:cNvSpPr/>
          <p:nvPr/>
        </p:nvSpPr>
        <p:spPr>
          <a:xfrm>
            <a:off x="1092200" y="6299200"/>
            <a:ext cx="1905000" cy="203200"/>
          </a:xfrm>
          <a:prstGeom prst="rect">
            <a:avLst/>
          </a:prstGeom>
          <a:noFill/>
          <a:ln/>
        </p:spPr>
        <p:txBody>
          <a:bodyPr wrap="square" lIns="0" tIns="0" rIns="0" bIns="0" rtlCol="0" anchor="ctr"/>
          <a:lstStyle/>
          <a:p>
            <a:pPr indent="0" marL="0">
              <a:buNone/>
            </a:pPr>
            <a:r>
              <a:rPr lang="en-US" sz="1100" dirty="0">
                <a:solidFill>
                  <a:schemeClr val="bg1"/>
                </a:solidFill>
                <a:latin typeface="Inter SemiBold" pitchFamily="34" charset="0"/>
                <a:ea typeface="Inter SemiBold" pitchFamily="34" charset="-122"/>
                <a:cs typeface="Inter SemiBold" pitchFamily="34" charset="-120"/>
              </a:rPr>
              <a:t>Gaskiyya</a:t>
            </a:r>
            <a:endParaRPr lang="en-US" sz="1100" dirty="0"/>
          </a:p>
        </p:txBody>
      </p:sp>
      <p:sp>
        <p:nvSpPr>
          <p:cNvPr id="4" name="Text 1"/>
          <p:cNvSpPr/>
          <p:nvPr>
            <p:ph idx="102" type="title" hasCustomPrompt="1"/>
          </p:nvPr>
        </p:nvSpPr>
        <p:spPr>
          <a:xfrm>
            <a:off x="812800" y="711200"/>
            <a:ext cx="10566400" cy="508000"/>
          </a:xfrm>
          <a:prstGeom prst="rect">
            <a:avLst/>
          </a:prstGeom>
          <a:noFill/>
          <a:ln/>
        </p:spPr>
        <p:txBody>
          <a:bodyPr wrap="square" rtlCol="0"/>
          <a:lstStyle>
            <a:lvl1pPr algn="l" indent="0" marL="0">
              <a:buNone/>
              <a:defRPr lang="en-US" sz="3200" dirty="0">
                <a:solidFill>
                  <a:schemeClr val="bg1"/>
                </a:solidFill>
                <a:latin typeface="Inter Display SemiBold" pitchFamily="34" charset="0"/>
                <a:ea typeface="Inter Display SemiBold" pitchFamily="34" charset="-122"/>
                <a:cs typeface="Inter Display SemiBold"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617200" y="6299200"/>
            <a:ext cx="762000" cy="20320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latin typeface="Inter Medium"/>
                <a:ea typeface="Inter Medium"/>
                <a:cs typeface="Inter Medium"/>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ULL">
    <p:bg>
      <p:bgPr>
        <a:solidFill>
          <a:srgbClr val="0E151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17200" y="6299200"/>
            <a:ext cx="762000" cy="20320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latin typeface="Inter Medium"/>
                <a:ea typeface="Inter Medium"/>
                <a:cs typeface="Inter Medium"/>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4.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2.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3.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Gaskiyya logo">    </p:cNvPr>
          <p:cNvPicPr>
            <a:picLocks noChangeAspect="1"/>
          </p:cNvPicPr>
          <p:nvPr/>
        </p:nvPicPr>
        <p:blipFill>
          <a:blip r:embed="rId2"/>
          <a:stretch>
            <a:fillRect/>
          </a:stretch>
        </p:blipFill>
        <p:spPr>
          <a:xfrm>
            <a:off x="812800" y="1905000"/>
            <a:ext cx="609600" cy="609600"/>
          </a:xfrm>
          <a:prstGeom prst="rect">
            <a:avLst/>
          </a:prstGeom>
        </p:spPr>
      </p:pic>
      <p:sp>
        <p:nvSpPr>
          <p:cNvPr id="3" name="Text 0"/>
          <p:cNvSpPr txBox="1"/>
          <p:nvPr/>
        </p:nvSpPr>
        <p:spPr>
          <a:xfrm>
            <a:off x="812800" y="2768600"/>
            <a:ext cx="5715000" cy="203200"/>
          </a:xfrm>
          <a:prstGeom prst="rect">
            <a:avLst/>
          </a:prstGeom>
          <a:noFill/>
          <a:ln/>
        </p:spPr>
        <p:txBody>
          <a:bodyPr wrap="square" lIns="0" tIns="0" rIns="0" bIns="0" rtlCol="0" anchor="t"/>
          <a:lstStyle/>
          <a:p>
            <a:pPr algn="l" indent="0" marL="0">
              <a:buNone/>
            </a:pPr>
            <a:r>
              <a:rPr lang="en-US" sz="1600" i="1" dirty="0">
                <a:solidFill>
                  <a:srgbClr val="A3ADA8"/>
                </a:solidFill>
                <a:latin typeface="Inter" pitchFamily="34" charset="0"/>
                <a:ea typeface="Inter" pitchFamily="34" charset="-122"/>
                <a:cs typeface="Inter" pitchFamily="34" charset="-120"/>
              </a:rPr>
              <a:t>Strengthening Trust in Digital Banking</a:t>
            </a:r>
            <a:endParaRPr lang="en-US" sz="1600" dirty="0"/>
          </a:p>
        </p:txBody>
      </p:sp>
      <p:sp>
        <p:nvSpPr>
          <p:cNvPr id="4" name="Title"/>
          <p:cNvSpPr txBox="1"/>
          <p:nvPr/>
        </p:nvSpPr>
        <p:spPr>
          <a:xfrm>
            <a:off x="812800" y="2984500"/>
            <a:ext cx="6350000" cy="1079500"/>
          </a:xfrm>
          <a:prstGeom prst="rect">
            <a:avLst/>
          </a:prstGeom>
          <a:noFill/>
          <a:ln/>
        </p:spPr>
        <p:txBody>
          <a:bodyPr wrap="square" lIns="0" tIns="0" rIns="0" bIns="0" rtlCol="0" anchor="t"/>
          <a:lstStyle/>
          <a:p>
            <a:pPr algn="l" indent="0" marL="0">
              <a:buNone/>
            </a:pPr>
            <a:r>
              <a:rPr lang="en-US" sz="8000" dirty="0">
                <a:solidFill>
                  <a:srgbClr val="F6F5F1"/>
                </a:solidFill>
                <a:latin typeface="Inter Display SemiBold" pitchFamily="34" charset="0"/>
                <a:ea typeface="Inter Display SemiBold" pitchFamily="34" charset="-122"/>
                <a:cs typeface="Inter Display SemiBold" pitchFamily="34" charset="-120"/>
              </a:rPr>
              <a:t>Gaskiyya</a:t>
            </a:r>
            <a:endParaRPr lang="en-US" sz="8000" dirty="0"/>
          </a:p>
        </p:txBody>
      </p:sp>
      <p:sp>
        <p:nvSpPr>
          <p:cNvPr id="5" name="Text 2"/>
          <p:cNvSpPr txBox="1"/>
          <p:nvPr/>
        </p:nvSpPr>
        <p:spPr>
          <a:xfrm>
            <a:off x="812800" y="4127500"/>
            <a:ext cx="5715000" cy="609600"/>
          </a:xfrm>
          <a:prstGeom prst="rect">
            <a:avLst/>
          </a:prstGeom>
          <a:noFill/>
          <a:ln/>
        </p:spPr>
        <p:txBody>
          <a:bodyPr wrap="square" lIns="0" tIns="0" rIns="0" bIns="0" rtlCol="0" anchor="t"/>
          <a:lstStyle/>
          <a:p>
            <a:pPr algn="l" indent="0" marL="0">
              <a:lnSpc>
                <a:spcPct val="110000"/>
              </a:lnSpc>
              <a:buNone/>
            </a:pPr>
            <a:r>
              <a:rPr lang="en-US" sz="2400" dirty="0">
                <a:solidFill>
                  <a:srgbClr val="F6F5F1"/>
                </a:solidFill>
                <a:latin typeface="Inter" pitchFamily="34" charset="0"/>
                <a:ea typeface="Inter" pitchFamily="34" charset="-122"/>
                <a:cs typeface="Inter" pitchFamily="34" charset="-120"/>
              </a:rPr>
              <a:t>The Truth Layer Between</a:t>
            </a:r>
            <a:endParaRPr lang="en-US" sz="2400" dirty="0"/>
          </a:p>
          <a:p>
            <a:pPr algn="l" indent="0" marL="0">
              <a:lnSpc>
                <a:spcPct val="110000"/>
              </a:lnSpc>
              <a:buNone/>
            </a:pPr>
            <a:r>
              <a:rPr lang="en-US" sz="2400" dirty="0">
                <a:solidFill>
                  <a:srgbClr val="34C48E"/>
                </a:solidFill>
                <a:latin typeface="Inter" pitchFamily="34" charset="0"/>
                <a:ea typeface="Inter" pitchFamily="34" charset="-122"/>
                <a:cs typeface="Inter" pitchFamily="34" charset="-120"/>
              </a:rPr>
              <a:t>Banks</a:t>
            </a:r>
            <a:pPr algn="l" indent="0" marL="0">
              <a:lnSpc>
                <a:spcPct val="110000"/>
              </a:lnSpc>
              <a:buNone/>
            </a:pPr>
            <a:r>
              <a:rPr lang="en-US" sz="2400" dirty="0">
                <a:solidFill>
                  <a:srgbClr val="F6F5F1"/>
                </a:solidFill>
                <a:latin typeface="Inter" pitchFamily="34" charset="0"/>
                <a:ea typeface="Inter" pitchFamily="34" charset="-122"/>
                <a:cs typeface="Inter" pitchFamily="34" charset="-120"/>
              </a:rPr>
              <a:t> and </a:t>
            </a:r>
            <a:pPr algn="l" indent="0" marL="0">
              <a:lnSpc>
                <a:spcPct val="110000"/>
              </a:lnSpc>
              <a:buNone/>
            </a:pPr>
            <a:r>
              <a:rPr lang="en-US" sz="2400" dirty="0">
                <a:solidFill>
                  <a:srgbClr val="34C48E"/>
                </a:solidFill>
                <a:latin typeface="Inter" pitchFamily="34" charset="0"/>
                <a:ea typeface="Inter" pitchFamily="34" charset="-122"/>
                <a:cs typeface="Inter" pitchFamily="34" charset="-120"/>
              </a:rPr>
              <a:t>Customers</a:t>
            </a:r>
            <a:endParaRPr lang="en-US" sz="2400" dirty="0"/>
          </a:p>
        </p:txBody>
      </p:sp>
      <p:sp>
        <p:nvSpPr>
          <p:cNvPr id="6" name="Text 3"/>
          <p:cNvSpPr txBox="1"/>
          <p:nvPr/>
        </p:nvSpPr>
        <p:spPr>
          <a:xfrm>
            <a:off x="812800" y="5029200"/>
            <a:ext cx="5715000" cy="177800"/>
          </a:xfrm>
          <a:prstGeom prst="rect">
            <a:avLst/>
          </a:prstGeom>
          <a:noFill/>
          <a:ln/>
        </p:spPr>
        <p:txBody>
          <a:bodyPr wrap="square" lIns="0" tIns="0" rIns="0" bIns="0" rtlCol="0" anchor="t"/>
          <a:lstStyle/>
          <a:p>
            <a:pPr algn="l" indent="0" marL="0">
              <a:buNone/>
            </a:pPr>
            <a:r>
              <a:rPr lang="en-US" sz="1100" spc="300" kern="0" dirty="0">
                <a:solidFill>
                  <a:srgbClr val="A3ADA8"/>
                </a:solidFill>
                <a:latin typeface="Inter Medium" pitchFamily="34" charset="0"/>
                <a:ea typeface="Inter Medium" pitchFamily="34" charset="-122"/>
                <a:cs typeface="Inter Medium" pitchFamily="34" charset="-120"/>
              </a:rPr>
              <a:t>“GASKIYA” MEANS TRUTH IN HAUSA</a:t>
            </a:r>
            <a:endParaRPr lang="en-US" sz="1100" dirty="0"/>
          </a:p>
        </p:txBody>
      </p:sp>
      <p:pic>
        <p:nvPicPr>
          <p:cNvPr id="7" name="Image 1" descr="Jhmeel">    </p:cNvPr>
          <p:cNvPicPr>
            <a:picLocks noChangeAspect="1"/>
          </p:cNvPicPr>
          <p:nvPr/>
        </p:nvPicPr>
        <p:blipFill>
          <a:blip r:embed="rId3"/>
          <a:stretch>
            <a:fillRect/>
          </a:stretch>
        </p:blipFill>
        <p:spPr>
          <a:xfrm>
            <a:off x="812800" y="5969000"/>
            <a:ext cx="406400" cy="406400"/>
          </a:xfrm>
          <a:prstGeom prst="rect">
            <a:avLst/>
          </a:prstGeom>
        </p:spPr>
      </p:pic>
      <p:pic>
        <p:nvPicPr>
          <p:cNvPr id="8" name="Image 2" descr="Oluwatobi">    </p:cNvPr>
          <p:cNvPicPr>
            <a:picLocks noChangeAspect="1"/>
          </p:cNvPicPr>
          <p:nvPr/>
        </p:nvPicPr>
        <p:blipFill>
          <a:blip r:embed="rId4"/>
          <a:stretch>
            <a:fillRect/>
          </a:stretch>
        </p:blipFill>
        <p:spPr>
          <a:xfrm>
            <a:off x="1130300" y="5969000"/>
            <a:ext cx="406400" cy="406400"/>
          </a:xfrm>
          <a:prstGeom prst="rect">
            <a:avLst/>
          </a:prstGeom>
        </p:spPr>
      </p:pic>
      <p:sp>
        <p:nvSpPr>
          <p:cNvPr id="9" name="Text 4"/>
          <p:cNvSpPr txBox="1"/>
          <p:nvPr/>
        </p:nvSpPr>
        <p:spPr>
          <a:xfrm>
            <a:off x="1689100" y="5969000"/>
            <a:ext cx="4445000" cy="406400"/>
          </a:xfrm>
          <a:prstGeom prst="rect">
            <a:avLst/>
          </a:prstGeom>
          <a:noFill/>
          <a:ln/>
        </p:spPr>
        <p:txBody>
          <a:bodyPr wrap="square" lIns="0" tIns="0" rIns="0" bIns="0" rtlCol="0" anchor="ctr"/>
          <a:lstStyle/>
          <a:p>
            <a:pPr algn="l" indent="0" marL="0">
              <a:buNone/>
            </a:pPr>
            <a:r>
              <a:rPr lang="en-US" sz="1400" dirty="0">
                <a:solidFill>
                  <a:srgbClr val="A3ADA8"/>
                </a:solidFill>
                <a:latin typeface="Inter" pitchFamily="34" charset="0"/>
                <a:ea typeface="Inter" pitchFamily="34" charset="-122"/>
                <a:cs typeface="Inter" pitchFamily="34" charset="-120"/>
              </a:rPr>
              <a:t>10X Team  ·  Jhmeel  ·  Oluwatobi</a:t>
            </a:r>
            <a:endParaRPr lang="en-US" sz="1400" dirty="0"/>
          </a:p>
        </p:txBody>
      </p:sp>
      <p:pic>
        <p:nvPicPr>
          <p:cNvPr id="10" name="App screenshot: Gaskiyya welcome: Is it really your bank?" descr="Gaskiyya welcome: Is it really your bank?">    </p:cNvPr>
          <p:cNvPicPr>
            <a:picLocks noChangeAspect="1"/>
          </p:cNvPicPr>
          <p:nvPr/>
        </p:nvPicPr>
        <p:blipFill>
          <a:blip r:embed="rId5"/>
          <a:stretch>
            <a:fillRect/>
          </a:stretch>
        </p:blipFill>
        <p:spPr>
          <a:xfrm rot="-480000">
            <a:off x="6719094" y="877094"/>
            <a:ext cx="2881313" cy="5186363"/>
          </a:xfrm>
          <a:prstGeom prst="rect">
            <a:avLst/>
          </a:prstGeom>
        </p:spPr>
      </p:pic>
      <p:pic>
        <p:nvPicPr>
          <p:cNvPr id="11" name="App screenshot: Result: Sent by your bank" descr="Result: Sent by your bank">    </p:cNvPr>
          <p:cNvPicPr>
            <a:picLocks noChangeAspect="1"/>
          </p:cNvPicPr>
          <p:nvPr/>
        </p:nvPicPr>
        <p:blipFill>
          <a:blip r:embed="rId6"/>
          <a:stretch>
            <a:fillRect/>
          </a:stretch>
        </p:blipFill>
        <p:spPr>
          <a:xfrm rot="300000">
            <a:off x="8397875" y="523875"/>
            <a:ext cx="3143250" cy="5657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Opening line 1"/>
          <p:cNvSpPr txBox="1"/>
          <p:nvPr/>
        </p:nvSpPr>
        <p:spPr>
          <a:xfrm>
            <a:off x="812800" y="4673600"/>
            <a:ext cx="10566400" cy="254000"/>
          </a:xfrm>
          <a:prstGeom prst="rect">
            <a:avLst/>
          </a:prstGeom>
          <a:noFill/>
          <a:ln/>
        </p:spPr>
        <p:txBody>
          <a:bodyPr wrap="square" lIns="0" tIns="0" rIns="0" bIns="0" rtlCol="0" anchor="t"/>
          <a:lstStyle/>
          <a:p>
            <a:pPr algn="ctr" indent="0" marL="0">
              <a:buNone/>
            </a:pPr>
            <a:r>
              <a:rPr lang="en-US" sz="2000" dirty="0">
                <a:solidFill>
                  <a:srgbClr val="E3F6EE"/>
                </a:solidFill>
                <a:latin typeface="Inter" pitchFamily="34" charset="0"/>
                <a:ea typeface="Inter" pitchFamily="34" charset="-122"/>
                <a:cs typeface="Inter" pitchFamily="34" charset="-120"/>
              </a:rPr>
              <a:t>She doesn’t look back. She knows he will catch her.</a:t>
            </a:r>
            <a:endParaRPr lang="en-US" sz="2000" dirty="0"/>
          </a:p>
        </p:txBody>
      </p:sp>
      <p:sp>
        <p:nvSpPr>
          <p:cNvPr id="3" name="Opening line 2"/>
          <p:cNvSpPr txBox="1"/>
          <p:nvPr/>
        </p:nvSpPr>
        <p:spPr>
          <a:xfrm>
            <a:off x="812800" y="5003800"/>
            <a:ext cx="10566400" cy="698500"/>
          </a:xfrm>
          <a:prstGeom prst="rect">
            <a:avLst/>
          </a:prstGeom>
          <a:noFill/>
          <a:ln/>
        </p:spPr>
        <p:txBody>
          <a:bodyPr wrap="square" lIns="0" tIns="0" rIns="0" bIns="0" rtlCol="0" anchor="t"/>
          <a:lstStyle/>
          <a:p>
            <a:pPr algn="ctr" indent="0" marL="0">
              <a:buNone/>
            </a:pPr>
            <a:r>
              <a:rPr lang="en-US" sz="5400" dirty="0">
                <a:solidFill>
                  <a:srgbClr val="FFFFFF"/>
                </a:solidFill>
                <a:latin typeface="Inter Display SemiBold" pitchFamily="34" charset="0"/>
                <a:ea typeface="Inter Display SemiBold" pitchFamily="34" charset="-122"/>
                <a:cs typeface="Inter Display SemiBold" pitchFamily="34" charset="-120"/>
              </a:rPr>
              <a:t>That is trust.</a:t>
            </a:r>
            <a:endParaRPr lang="en-US" sz="5400" dirty="0"/>
          </a:p>
        </p:txBody>
      </p:sp>
      <p:sp>
        <p:nvSpPr>
          <p:cNvPr id="4" name="Opening line 3"/>
          <p:cNvSpPr txBox="1"/>
          <p:nvPr/>
        </p:nvSpPr>
        <p:spPr>
          <a:xfrm>
            <a:off x="812800" y="5791200"/>
            <a:ext cx="10566400" cy="279400"/>
          </a:xfrm>
          <a:prstGeom prst="rect">
            <a:avLst/>
          </a:prstGeom>
          <a:noFill/>
          <a:ln/>
        </p:spPr>
        <p:txBody>
          <a:bodyPr wrap="square" lIns="0" tIns="0" rIns="0" bIns="0" rtlCol="0" anchor="t"/>
          <a:lstStyle/>
          <a:p>
            <a:pPr algn="ctr" indent="0" marL="0">
              <a:buNone/>
            </a:pPr>
            <a:r>
              <a:rPr lang="en-US" sz="2200" dirty="0">
                <a:solidFill>
                  <a:srgbClr val="FF9F0A"/>
                </a:solidFill>
                <a:latin typeface="Inter Medium" pitchFamily="34" charset="0"/>
                <a:ea typeface="Inter Medium" pitchFamily="34" charset="-122"/>
                <a:cs typeface="Inter Medium" pitchFamily="34" charset="-120"/>
              </a:rPr>
              <a:t>Now imagine someone pretending to be him.</a:t>
            </a:r>
            <a:endParaRPr lang="en-US"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childTnLst>
                          </p:cTn>
                        </p:par>
                        <p:par>
                          <p:cTn id="8" fill="hold">
                            <p:stCondLst>
                              <p:cond delay="1100"/>
                            </p:stCondLst>
                            <p:childTnLst>
                              <p:par>
                                <p:cTn id="9" presetID="10" presetClass="entr" presetSubtype="0" fill="hold" grpId="0" nodeType="afterEffect">
                                  <p:stCondLst>
                                    <p:cond delay="160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600"/>
                                        <p:tgtEl>
                                          <p:spTgt spid="3"/>
                                        </p:tgtEl>
                                      </p:cBhvr>
                                    </p:animEffect>
                                  </p:childTnLst>
                                </p:cTn>
                              </p:par>
                            </p:childTnLst>
                          </p:cTn>
                        </p:par>
                        <p:par>
                          <p:cTn id="12" fill="hold">
                            <p:stCondLst>
                              <p:cond delay="3300"/>
                            </p:stCondLst>
                            <p:childTnLst>
                              <p:par>
                                <p:cTn id="13" presetID="10" presetClass="entr" presetSubtype="0" fill="hold" grpId="0" nodeType="afterEffect">
                                  <p:stCondLst>
                                    <p:cond delay="16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6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812800" y="711200"/>
            <a:ext cx="10566400" cy="508000"/>
          </a:xfrm>
          <a:prstGeom prst="rect">
            <a:avLst/>
          </a:prstGeom>
          <a:noFill/>
          <a:ln/>
        </p:spPr>
        <p:txBody>
          <a:bodyPr wrap="square" lIns="0" tIns="0" rIns="0" bIns="0" rtlCol="0" anchor="t"/>
          <a:lstStyle/>
          <a:p>
            <a:pPr algn="l" indent="0" marL="0">
              <a:buNone/>
            </a:pPr>
            <a:r>
              <a:rPr lang="en-US" sz="3200" dirty="0">
                <a:solidFill>
                  <a:schemeClr val="tx1"/>
                </a:solidFill>
                <a:latin typeface="Inter Display SemiBold" pitchFamily="34" charset="0"/>
                <a:ea typeface="Inter Display SemiBold" pitchFamily="34" charset="-122"/>
                <a:cs typeface="Inter Display SemiBold" pitchFamily="34" charset="-120"/>
              </a:rPr>
              <a:t>What if it isn’t your bank?</a:t>
            </a:r>
            <a:endParaRPr lang="en-US" sz="3200" dirty="0"/>
          </a:p>
        </p:txBody>
      </p:sp>
      <p:pic>
        <p:nvPicPr>
          <p:cNvPr id="3" name="Image 0" descr="A trader on the phone looks worried while a man in a Bank Support cap pressures her; a call from Bank Support is on screen">    </p:cNvPr>
          <p:cNvPicPr>
            <a:picLocks noChangeAspect="1"/>
          </p:cNvPicPr>
          <p:nvPr/>
        </p:nvPicPr>
        <p:blipFill>
          <a:blip r:embed="rId1"/>
          <a:stretch>
            <a:fillRect/>
          </a:stretch>
        </p:blipFill>
        <p:spPr>
          <a:xfrm>
            <a:off x="812800" y="1473200"/>
            <a:ext cx="10566400" cy="2984500"/>
          </a:xfrm>
          <a:prstGeom prst="rect">
            <a:avLst/>
          </a:prstGeom>
        </p:spPr>
      </p:pic>
      <p:pic>
        <p:nvPicPr>
          <p:cNvPr id="4" name="Icon: Warning" descr="Warning">    </p:cNvPr>
          <p:cNvPicPr>
            <a:picLocks noChangeAspect="1"/>
          </p:cNvPicPr>
          <p:nvPr/>
        </p:nvPicPr>
        <p:blipFill>
          <a:blip r:embed="rId2"/>
          <a:stretch>
            <a:fillRect/>
          </a:stretch>
        </p:blipFill>
        <p:spPr>
          <a:xfrm>
            <a:off x="812800" y="4724400"/>
            <a:ext cx="355600" cy="355600"/>
          </a:xfrm>
          <a:prstGeom prst="rect">
            <a:avLst/>
          </a:prstGeom>
        </p:spPr>
      </p:pic>
      <p:sp>
        <p:nvSpPr>
          <p:cNvPr id="5" name="Text 1"/>
          <p:cNvSpPr txBox="1"/>
          <p:nvPr/>
        </p:nvSpPr>
        <p:spPr>
          <a:xfrm>
            <a:off x="1295400" y="4711700"/>
            <a:ext cx="5715000" cy="177800"/>
          </a:xfrm>
          <a:prstGeom prst="rect">
            <a:avLst/>
          </a:prstGeom>
          <a:noFill/>
          <a:ln/>
        </p:spPr>
        <p:txBody>
          <a:bodyPr wrap="square" lIns="0" tIns="0" rIns="0" bIns="0" rtlCol="0" anchor="t"/>
          <a:lstStyle/>
          <a:p>
            <a:pPr algn="l" indent="0" marL="0">
              <a:buNone/>
            </a:pPr>
            <a:r>
              <a:rPr lang="en-US" sz="1400" dirty="0">
                <a:solidFill>
                  <a:schemeClr val="accent3"/>
                </a:solidFill>
                <a:latin typeface="Inter SemiBold" pitchFamily="34" charset="0"/>
                <a:ea typeface="Inter SemiBold" pitchFamily="34" charset="-122"/>
                <a:cs typeface="Inter SemiBold" pitchFamily="34" charset="-120"/>
              </a:rPr>
              <a:t>The problem</a:t>
            </a:r>
            <a:endParaRPr lang="en-US" sz="1400" dirty="0"/>
          </a:p>
        </p:txBody>
      </p:sp>
      <p:sp>
        <p:nvSpPr>
          <p:cNvPr id="6" name="Text 2"/>
          <p:cNvSpPr txBox="1"/>
          <p:nvPr/>
        </p:nvSpPr>
        <p:spPr>
          <a:xfrm>
            <a:off x="1295400" y="4902200"/>
            <a:ext cx="6985000" cy="203200"/>
          </a:xfrm>
          <a:prstGeom prst="rect">
            <a:avLst/>
          </a:prstGeom>
          <a:noFill/>
          <a:ln/>
        </p:spPr>
        <p:txBody>
          <a:bodyPr wrap="square" lIns="0" tIns="0" rIns="0" bIns="0" rtlCol="0" anchor="t"/>
          <a:lstStyle/>
          <a:p>
            <a:pPr algn="l" indent="0" marL="0">
              <a:buNone/>
            </a:pPr>
            <a:r>
              <a:rPr lang="en-US" sz="1600" dirty="0">
                <a:solidFill>
                  <a:schemeClr val="tx1"/>
                </a:solidFill>
                <a:latin typeface="Inter" pitchFamily="34" charset="0"/>
                <a:ea typeface="Inter" pitchFamily="34" charset="-122"/>
                <a:cs typeface="Inter" pitchFamily="34" charset="-120"/>
              </a:rPr>
              <a:t>You can’t reliably tell a real bank call or message from a fake.</a:t>
            </a:r>
            <a:endParaRPr lang="en-US" sz="1600" dirty="0"/>
          </a:p>
        </p:txBody>
      </p:sp>
      <p:pic>
        <p:nvPicPr>
          <p:cNvPr id="7" name="Icon: Confirmed" descr="Confirmed">    </p:cNvPr>
          <p:cNvPicPr>
            <a:picLocks noChangeAspect="1"/>
          </p:cNvPicPr>
          <p:nvPr/>
        </p:nvPicPr>
        <p:blipFill>
          <a:blip r:embed="rId3"/>
          <a:stretch>
            <a:fillRect/>
          </a:stretch>
        </p:blipFill>
        <p:spPr>
          <a:xfrm>
            <a:off x="812800" y="5308600"/>
            <a:ext cx="355600" cy="355600"/>
          </a:xfrm>
          <a:prstGeom prst="rect">
            <a:avLst/>
          </a:prstGeom>
        </p:spPr>
      </p:pic>
      <p:sp>
        <p:nvSpPr>
          <p:cNvPr id="8" name="Text 3"/>
          <p:cNvSpPr txBox="1"/>
          <p:nvPr/>
        </p:nvSpPr>
        <p:spPr>
          <a:xfrm>
            <a:off x="1295400" y="5295900"/>
            <a:ext cx="5715000" cy="177800"/>
          </a:xfrm>
          <a:prstGeom prst="rect">
            <a:avLst/>
          </a:prstGeom>
          <a:noFill/>
          <a:ln/>
        </p:spPr>
        <p:txBody>
          <a:bodyPr wrap="square" lIns="0" tIns="0" rIns="0" bIns="0" rtlCol="0" anchor="t"/>
          <a:lstStyle/>
          <a:p>
            <a:pPr algn="l" indent="0" marL="0">
              <a:buNone/>
            </a:pPr>
            <a:r>
              <a:rPr lang="en-US" sz="1400" dirty="0">
                <a:solidFill>
                  <a:schemeClr val="accent1"/>
                </a:solidFill>
                <a:latin typeface="Inter SemiBold" pitchFamily="34" charset="0"/>
                <a:ea typeface="Inter SemiBold" pitchFamily="34" charset="-122"/>
                <a:cs typeface="Inter SemiBold" pitchFamily="34" charset="-120"/>
              </a:rPr>
              <a:t>Gaskiyya</a:t>
            </a:r>
            <a:endParaRPr lang="en-US" sz="1400" dirty="0"/>
          </a:p>
        </p:txBody>
      </p:sp>
      <p:sp>
        <p:nvSpPr>
          <p:cNvPr id="9" name="Text 4"/>
          <p:cNvSpPr txBox="1"/>
          <p:nvPr/>
        </p:nvSpPr>
        <p:spPr>
          <a:xfrm>
            <a:off x="1295400" y="5486400"/>
            <a:ext cx="6985000" cy="203200"/>
          </a:xfrm>
          <a:prstGeom prst="rect">
            <a:avLst/>
          </a:prstGeom>
          <a:noFill/>
          <a:ln/>
        </p:spPr>
        <p:txBody>
          <a:bodyPr wrap="square" lIns="0" tIns="0" rIns="0" bIns="0" rtlCol="0" anchor="t"/>
          <a:lstStyle/>
          <a:p>
            <a:pPr algn="l" indent="0" marL="0">
              <a:buNone/>
            </a:pPr>
            <a:r>
              <a:rPr lang="en-US" sz="1600" dirty="0">
                <a:solidFill>
                  <a:schemeClr val="tx1"/>
                </a:solidFill>
                <a:latin typeface="Inter" pitchFamily="34" charset="0"/>
                <a:ea typeface="Inter" pitchFamily="34" charset="-122"/>
                <a:cs typeface="Inter" pitchFamily="34" charset="-120"/>
              </a:rPr>
              <a:t>Check it against your bank’s own records, before you act.</a:t>
            </a:r>
            <a:endParaRPr lang="en-US" sz="1600" dirty="0"/>
          </a:p>
        </p:txBody>
      </p:sp>
      <p:sp>
        <p:nvSpPr>
          <p:cNvPr id="10" name="Source"/>
          <p:cNvSpPr txBox="1"/>
          <p:nvPr/>
        </p:nvSpPr>
        <p:spPr>
          <a:xfrm>
            <a:off x="812800" y="5969000"/>
            <a:ext cx="10566400" cy="177800"/>
          </a:xfrm>
          <a:prstGeom prst="rect">
            <a:avLst/>
          </a:prstGeom>
          <a:noFill/>
          <a:ln/>
        </p:spPr>
        <p:txBody>
          <a:bodyPr wrap="square" lIns="0" tIns="0" rIns="0" bIns="0" rtlCol="0" anchor="t"/>
          <a:lstStyle/>
          <a:p>
            <a:pPr algn="l" indent="0" marL="0">
              <a:buNone/>
            </a:pPr>
            <a:r>
              <a:rPr lang="en-US" sz="1100" dirty="0">
                <a:solidFill>
                  <a:schemeClr val="tx2"/>
                </a:solidFill>
                <a:latin typeface="Inter" pitchFamily="34" charset="0"/>
                <a:ea typeface="Inter" pitchFamily="34" charset="-122"/>
                <a:cs typeface="Inter" pitchFamily="34" charset="-120"/>
              </a:rPr>
              <a:t>Source: NIBSS, 22 January 2026: social engineering was the most prevalent fraud technique in Nigeria in 2025.</a:t>
            </a:r>
            <a:endParaRPr lang="en-US" sz="1100" dirty="0"/>
          </a:p>
        </p:txBody>
      </p:sp>
      <p:sp>
        <p:nvSpPr>
          <p:cNvPr id="25" name="Slide Number Placeholder 0"/>
          <p:cNvSpPr>
            <a:spLocks noGrp="1"/>
          </p:cNvSpPr>
          <p:nvPr>
            <p:ph type="sldNum" sz="quarter" idx="4294967295"/>
          </p:nvPr>
        </p:nvSpPr>
        <p:spPr>
          <a:xfrm>
            <a:off x="10617200" y="6299200"/>
            <a:ext cx="762000" cy="20320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latin typeface="Inter Medium"/>
                <a:ea typeface="Inter Medium"/>
                <a:cs typeface="Inter Medium"/>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812800" y="711200"/>
            <a:ext cx="10566400" cy="508000"/>
          </a:xfrm>
          <a:prstGeom prst="rect">
            <a:avLst/>
          </a:prstGeom>
          <a:noFill/>
          <a:ln/>
        </p:spPr>
        <p:txBody>
          <a:bodyPr wrap="square" lIns="0" tIns="0" rIns="0" bIns="0" rtlCol="0" anchor="t"/>
          <a:lstStyle/>
          <a:p>
            <a:pPr algn="l" indent="0" marL="0">
              <a:buNone/>
            </a:pPr>
            <a:r>
              <a:rPr lang="en-US" sz="3200" dirty="0">
                <a:solidFill>
                  <a:schemeClr val="tx1"/>
                </a:solidFill>
                <a:latin typeface="Inter Display SemiBold" pitchFamily="34" charset="0"/>
                <a:ea typeface="Inter Display SemiBold" pitchFamily="34" charset="-122"/>
                <a:cs typeface="Inter Display SemiBold" pitchFamily="34" charset="-120"/>
              </a:rPr>
              <a:t>What 33 people told us</a:t>
            </a:r>
            <a:endParaRPr lang="en-US" sz="3200" dirty="0"/>
          </a:p>
        </p:txBody>
      </p:sp>
      <p:graphicFrame>
        <p:nvGraphicFramePr>
          <p:cNvPr id="3" name="Survey chart" descr=""/>
          <p:cNvGraphicFramePr/>
          <p:nvPr/>
        </p:nvGraphicFramePr>
        <p:xfrm>
          <a:off x="812800" y="1473200"/>
          <a:ext cx="10566400" cy="4191000"/>
        </p:xfrm>
        <a:graphic xmlns:a="http://schemas.openxmlformats.org/drawingml/2006/main">
          <a:graphicData uri="http://schemas.openxmlformats.org/drawingml/2006/chart">
            <c:chart xmlns:c="http://schemas.openxmlformats.org/drawingml/2006/chart" r:id="rId1"/>
          </a:graphicData>
        </a:graphic>
      </p:graphicFrame>
      <p:sp>
        <p:nvSpPr>
          <p:cNvPr id="4" name="Source"/>
          <p:cNvSpPr txBox="1"/>
          <p:nvPr/>
        </p:nvSpPr>
        <p:spPr>
          <a:xfrm>
            <a:off x="812800" y="5969000"/>
            <a:ext cx="10566400" cy="177800"/>
          </a:xfrm>
          <a:prstGeom prst="rect">
            <a:avLst/>
          </a:prstGeom>
          <a:noFill/>
          <a:ln/>
        </p:spPr>
        <p:txBody>
          <a:bodyPr wrap="square" lIns="0" tIns="0" rIns="0" bIns="0" rtlCol="0" anchor="t"/>
          <a:lstStyle/>
          <a:p>
            <a:pPr algn="l" indent="0" marL="0">
              <a:buNone/>
            </a:pPr>
            <a:r>
              <a:rPr lang="en-US" sz="1100" dirty="0">
                <a:solidFill>
                  <a:schemeClr val="tx2"/>
                </a:solidFill>
                <a:latin typeface="Inter" pitchFamily="34" charset="0"/>
                <a:ea typeface="Inter" pitchFamily="34" charset="-122"/>
                <a:cs typeface="Inter" pitchFamily="34" charset="-120"/>
              </a:rPr>
              <a:t>Source: Gaskiyya user survey, October 2026, 33 respondents. “Useful” means a rating of 4 or 5 out of 5.</a:t>
            </a:r>
            <a:endParaRPr lang="en-US" sz="1100" dirty="0"/>
          </a:p>
        </p:txBody>
      </p:sp>
      <p:sp>
        <p:nvSpPr>
          <p:cNvPr id="25" name="Slide Number Placeholder 0"/>
          <p:cNvSpPr>
            <a:spLocks noGrp="1"/>
          </p:cNvSpPr>
          <p:nvPr>
            <p:ph type="sldNum" sz="quarter" idx="4294967295"/>
          </p:nvPr>
        </p:nvSpPr>
        <p:spPr>
          <a:xfrm>
            <a:off x="10617200" y="6299200"/>
            <a:ext cx="762000" cy="20320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latin typeface="Inter Medium"/>
                <a:ea typeface="Inter Medium"/>
                <a:cs typeface="Inter Medium"/>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812800" y="711200"/>
            <a:ext cx="10566400" cy="508000"/>
          </a:xfrm>
          <a:prstGeom prst="rect">
            <a:avLst/>
          </a:prstGeom>
          <a:noFill/>
          <a:ln/>
        </p:spPr>
        <p:txBody>
          <a:bodyPr wrap="square" lIns="0" tIns="0" rIns="0" bIns="0" rtlCol="0" anchor="t"/>
          <a:lstStyle/>
          <a:p>
            <a:pPr algn="l" indent="0" marL="0">
              <a:buNone/>
            </a:pPr>
            <a:r>
              <a:rPr lang="en-US" sz="3200" dirty="0">
                <a:solidFill>
                  <a:schemeClr val="tx1"/>
                </a:solidFill>
                <a:latin typeface="Inter Display SemiBold" pitchFamily="34" charset="0"/>
                <a:ea typeface="Inter Display SemiBold" pitchFamily="34" charset="-122"/>
                <a:cs typeface="Inter Display SemiBold" pitchFamily="34" charset="-120"/>
              </a:rPr>
              <a:t>How Gaskiyya works</a:t>
            </a:r>
            <a:endParaRPr lang="en-US" sz="3200" dirty="0"/>
          </a:p>
        </p:txBody>
      </p:sp>
      <p:sp>
        <p:nvSpPr>
          <p:cNvPr id="3" name="The bank"/>
          <p:cNvSpPr/>
          <p:nvPr/>
        </p:nvSpPr>
        <p:spPr>
          <a:xfrm>
            <a:off x="1460500" y="2413000"/>
            <a:ext cx="1270000" cy="1270000"/>
          </a:xfrm>
          <a:prstGeom prst="ellipse">
            <a:avLst/>
          </a:prstGeom>
          <a:solidFill>
            <a:srgbClr val="0E1512"/>
          </a:solidFill>
          <a:ln/>
          <a:effectLst>
            <a:outerShdw sx="100000" sy="100000" kx="0" ky="0" algn="bl" rotWithShape="0" blurRad="228600" dist="76200" dir="5400000">
              <a:srgbClr val="0E1512">
                <a:alpha val="15000"/>
              </a:srgbClr>
            </a:outerShdw>
          </a:effectLst>
        </p:spPr>
      </p:sp>
      <p:pic>
        <p:nvPicPr>
          <p:cNvPr id="4" name="Image 0" descr="The bank">    </p:cNvPr>
          <p:cNvPicPr>
            <a:picLocks noChangeAspect="1"/>
          </p:cNvPicPr>
          <p:nvPr/>
        </p:nvPicPr>
        <p:blipFill>
          <a:blip r:embed="rId1"/>
          <a:stretch>
            <a:fillRect/>
          </a:stretch>
        </p:blipFill>
        <p:spPr>
          <a:xfrm>
            <a:off x="1790700" y="2743200"/>
            <a:ext cx="609600" cy="609600"/>
          </a:xfrm>
          <a:prstGeom prst="rect">
            <a:avLst/>
          </a:prstGeom>
        </p:spPr>
      </p:pic>
      <p:sp>
        <p:nvSpPr>
          <p:cNvPr id="5" name="Gaskiyya registry"/>
          <p:cNvSpPr/>
          <p:nvPr/>
        </p:nvSpPr>
        <p:spPr>
          <a:xfrm>
            <a:off x="5270500" y="2222500"/>
            <a:ext cx="1651000" cy="1651000"/>
          </a:xfrm>
          <a:prstGeom prst="ellipse">
            <a:avLst/>
          </a:prstGeom>
          <a:solidFill>
            <a:srgbClr val="0A7A55"/>
          </a:solidFill>
          <a:ln/>
          <a:effectLst>
            <a:outerShdw sx="100000" sy="100000" kx="0" ky="0" algn="bl" rotWithShape="0" blurRad="228600" dist="76200" dir="5400000">
              <a:srgbClr val="0E1512">
                <a:alpha val="15000"/>
              </a:srgbClr>
            </a:outerShdw>
          </a:effectLst>
        </p:spPr>
      </p:sp>
      <p:pic>
        <p:nvPicPr>
          <p:cNvPr id="6" name="Image 1" descr="Gaskiyya registry">    </p:cNvPr>
          <p:cNvPicPr>
            <a:picLocks noChangeAspect="1"/>
          </p:cNvPicPr>
          <p:nvPr/>
        </p:nvPicPr>
        <p:blipFill>
          <a:blip r:embed="rId2"/>
          <a:stretch>
            <a:fillRect/>
          </a:stretch>
        </p:blipFill>
        <p:spPr>
          <a:xfrm>
            <a:off x="5619750" y="2571750"/>
            <a:ext cx="952500" cy="952500"/>
          </a:xfrm>
          <a:prstGeom prst="rect">
            <a:avLst/>
          </a:prstGeom>
        </p:spPr>
      </p:pic>
      <p:sp>
        <p:nvSpPr>
          <p:cNvPr id="7" name="The customer"/>
          <p:cNvSpPr/>
          <p:nvPr/>
        </p:nvSpPr>
        <p:spPr>
          <a:xfrm>
            <a:off x="9461500" y="2413000"/>
            <a:ext cx="1270000" cy="1270000"/>
          </a:xfrm>
          <a:prstGeom prst="ellipse">
            <a:avLst/>
          </a:prstGeom>
          <a:solidFill>
            <a:srgbClr val="0E1512"/>
          </a:solidFill>
          <a:ln/>
          <a:effectLst>
            <a:outerShdw sx="100000" sy="100000" kx="0" ky="0" algn="bl" rotWithShape="0" blurRad="228600" dist="76200" dir="5400000">
              <a:srgbClr val="0E1512">
                <a:alpha val="15000"/>
              </a:srgbClr>
            </a:outerShdw>
          </a:effectLst>
        </p:spPr>
      </p:sp>
      <p:pic>
        <p:nvPicPr>
          <p:cNvPr id="8" name="Image 2" descr="The customer">    </p:cNvPr>
          <p:cNvPicPr>
            <a:picLocks noChangeAspect="1"/>
          </p:cNvPicPr>
          <p:nvPr/>
        </p:nvPicPr>
        <p:blipFill>
          <a:blip r:embed="rId3"/>
          <a:stretch>
            <a:fillRect/>
          </a:stretch>
        </p:blipFill>
        <p:spPr>
          <a:xfrm>
            <a:off x="9791700" y="2743200"/>
            <a:ext cx="609600" cy="609600"/>
          </a:xfrm>
          <a:prstGeom prst="rect">
            <a:avLst/>
          </a:prstGeom>
        </p:spPr>
      </p:pic>
      <p:sp>
        <p:nvSpPr>
          <p:cNvPr id="9" name="Arrow: registers"/>
          <p:cNvSpPr/>
          <p:nvPr/>
        </p:nvSpPr>
        <p:spPr>
          <a:xfrm>
            <a:off x="2870200" y="2870200"/>
            <a:ext cx="2286000" cy="355600"/>
          </a:xfrm>
          <a:prstGeom prst="rightArrow">
            <a:avLst/>
          </a:prstGeom>
          <a:solidFill>
            <a:srgbClr val="0A7A55"/>
          </a:solidFill>
          <a:ln/>
        </p:spPr>
      </p:sp>
      <p:sp>
        <p:nvSpPr>
          <p:cNvPr id="10" name="Text 5"/>
          <p:cNvSpPr txBox="1"/>
          <p:nvPr/>
        </p:nvSpPr>
        <p:spPr>
          <a:xfrm>
            <a:off x="2616200" y="2463800"/>
            <a:ext cx="2794000" cy="228600"/>
          </a:xfrm>
          <a:prstGeom prst="rect">
            <a:avLst/>
          </a:prstGeom>
          <a:noFill/>
          <a:ln/>
        </p:spPr>
        <p:txBody>
          <a:bodyPr wrap="square" lIns="0" tIns="0" rIns="0" bIns="0" rtlCol="0" anchor="t"/>
          <a:lstStyle/>
          <a:p>
            <a:pPr algn="ctr" indent="0" marL="0">
              <a:buNone/>
            </a:pPr>
            <a:r>
              <a:rPr lang="en-US" sz="1400" dirty="0">
                <a:solidFill>
                  <a:schemeClr val="tx1"/>
                </a:solidFill>
                <a:latin typeface="Inter Medium" pitchFamily="34" charset="0"/>
                <a:ea typeface="Inter Medium" pitchFamily="34" charset="-122"/>
                <a:cs typeface="Inter Medium" pitchFamily="34" charset="-120"/>
              </a:rPr>
              <a:t>1  Registers what it sends</a:t>
            </a:r>
            <a:endParaRPr lang="en-US" sz="1400" dirty="0"/>
          </a:p>
        </p:txBody>
      </p:sp>
      <p:sp>
        <p:nvSpPr>
          <p:cNvPr id="11" name="Arrow: checks"/>
          <p:cNvSpPr/>
          <p:nvPr/>
        </p:nvSpPr>
        <p:spPr>
          <a:xfrm>
            <a:off x="7035800" y="2603500"/>
            <a:ext cx="2286000" cy="317500"/>
          </a:xfrm>
          <a:prstGeom prst="leftArrow">
            <a:avLst/>
          </a:prstGeom>
          <a:solidFill>
            <a:srgbClr val="0E1512"/>
          </a:solidFill>
          <a:ln/>
        </p:spPr>
      </p:sp>
      <p:sp>
        <p:nvSpPr>
          <p:cNvPr id="12" name="Text 7"/>
          <p:cNvSpPr txBox="1"/>
          <p:nvPr/>
        </p:nvSpPr>
        <p:spPr>
          <a:xfrm>
            <a:off x="6781800" y="2235200"/>
            <a:ext cx="2794000" cy="228600"/>
          </a:xfrm>
          <a:prstGeom prst="rect">
            <a:avLst/>
          </a:prstGeom>
          <a:noFill/>
          <a:ln/>
        </p:spPr>
        <p:txBody>
          <a:bodyPr wrap="square" lIns="0" tIns="0" rIns="0" bIns="0" rtlCol="0" anchor="t"/>
          <a:lstStyle/>
          <a:p>
            <a:pPr algn="ctr" indent="0" marL="0">
              <a:buNone/>
            </a:pPr>
            <a:r>
              <a:rPr lang="en-US" sz="1400" dirty="0">
                <a:solidFill>
                  <a:schemeClr val="tx1"/>
                </a:solidFill>
                <a:latin typeface="Inter Medium" pitchFamily="34" charset="0"/>
                <a:ea typeface="Inter Medium" pitchFamily="34" charset="-122"/>
                <a:cs typeface="Inter Medium" pitchFamily="34" charset="-120"/>
              </a:rPr>
              <a:t>2  Checks a message or call</a:t>
            </a:r>
            <a:endParaRPr lang="en-US" sz="1400" dirty="0"/>
          </a:p>
        </p:txBody>
      </p:sp>
      <p:sp>
        <p:nvSpPr>
          <p:cNvPr id="13" name="Arrow: answers"/>
          <p:cNvSpPr/>
          <p:nvPr/>
        </p:nvSpPr>
        <p:spPr>
          <a:xfrm>
            <a:off x="7035800" y="3175000"/>
            <a:ext cx="2286000" cy="317500"/>
          </a:xfrm>
          <a:prstGeom prst="rightArrow">
            <a:avLst/>
          </a:prstGeom>
          <a:solidFill>
            <a:srgbClr val="0A7A55"/>
          </a:solidFill>
          <a:ln/>
        </p:spPr>
      </p:sp>
      <p:sp>
        <p:nvSpPr>
          <p:cNvPr id="14" name="Text 9"/>
          <p:cNvSpPr txBox="1"/>
          <p:nvPr/>
        </p:nvSpPr>
        <p:spPr>
          <a:xfrm>
            <a:off x="6781800" y="3594100"/>
            <a:ext cx="2794000" cy="228600"/>
          </a:xfrm>
          <a:prstGeom prst="rect">
            <a:avLst/>
          </a:prstGeom>
          <a:noFill/>
          <a:ln/>
        </p:spPr>
        <p:txBody>
          <a:bodyPr wrap="square" lIns="0" tIns="0" rIns="0" bIns="0" rtlCol="0" anchor="t"/>
          <a:lstStyle/>
          <a:p>
            <a:pPr algn="ctr" indent="0" marL="0">
              <a:buNone/>
            </a:pPr>
            <a:r>
              <a:rPr lang="en-US" sz="1400" dirty="0">
                <a:solidFill>
                  <a:schemeClr val="tx1"/>
                </a:solidFill>
                <a:latin typeface="Inter Medium" pitchFamily="34" charset="0"/>
                <a:ea typeface="Inter Medium" pitchFamily="34" charset="-122"/>
                <a:cs typeface="Inter Medium" pitchFamily="34" charset="-120"/>
              </a:rPr>
              <a:t>3  Gets a clear answer</a:t>
            </a:r>
            <a:endParaRPr lang="en-US" sz="1400" dirty="0"/>
          </a:p>
        </p:txBody>
      </p:sp>
      <p:sp>
        <p:nvSpPr>
          <p:cNvPr id="15" name="Text 10"/>
          <p:cNvSpPr txBox="1"/>
          <p:nvPr/>
        </p:nvSpPr>
        <p:spPr>
          <a:xfrm>
            <a:off x="444500" y="4038600"/>
            <a:ext cx="3302000" cy="254000"/>
          </a:xfrm>
          <a:prstGeom prst="rect">
            <a:avLst/>
          </a:prstGeom>
          <a:noFill/>
          <a:ln/>
        </p:spPr>
        <p:txBody>
          <a:bodyPr wrap="square" lIns="0" tIns="0" rIns="0" bIns="0" rtlCol="0" anchor="t"/>
          <a:lstStyle/>
          <a:p>
            <a:pPr algn="ctr" indent="0" marL="0">
              <a:buNone/>
            </a:pPr>
            <a:r>
              <a:rPr lang="en-US" sz="2000" dirty="0">
                <a:solidFill>
                  <a:schemeClr val="tx1"/>
                </a:solidFill>
                <a:latin typeface="Inter Display SemiBold" pitchFamily="34" charset="0"/>
                <a:ea typeface="Inter Display SemiBold" pitchFamily="34" charset="-122"/>
                <a:cs typeface="Inter Display SemiBold" pitchFamily="34" charset="-120"/>
              </a:rPr>
              <a:t>The bank</a:t>
            </a:r>
            <a:endParaRPr lang="en-US" sz="2000" dirty="0"/>
          </a:p>
        </p:txBody>
      </p:sp>
      <p:sp>
        <p:nvSpPr>
          <p:cNvPr id="16" name="Text 11"/>
          <p:cNvSpPr txBox="1"/>
          <p:nvPr/>
        </p:nvSpPr>
        <p:spPr>
          <a:xfrm>
            <a:off x="444500" y="4381500"/>
            <a:ext cx="3302000" cy="190500"/>
          </a:xfrm>
          <a:prstGeom prst="rect">
            <a:avLst/>
          </a:prstGeom>
          <a:noFill/>
          <a:ln/>
        </p:spPr>
        <p:txBody>
          <a:bodyPr wrap="square" lIns="0" tIns="0" rIns="0" bIns="0" rtlCol="0" anchor="t"/>
          <a:lstStyle/>
          <a:p>
            <a:pPr algn="ctr" indent="0" marL="0">
              <a:buNone/>
            </a:pPr>
            <a:r>
              <a:rPr lang="en-US" sz="1400" dirty="0">
                <a:solidFill>
                  <a:schemeClr val="tx2"/>
                </a:solidFill>
                <a:latin typeface="Inter" pitchFamily="34" charset="0"/>
                <a:ea typeface="Inter" pitchFamily="34" charset="-122"/>
                <a:cs typeface="Inter" pitchFamily="34" charset="-120"/>
              </a:rPr>
              <a:t>Sends SMS, calls and OTPs</a:t>
            </a:r>
            <a:endParaRPr lang="en-US" sz="1400" dirty="0"/>
          </a:p>
        </p:txBody>
      </p:sp>
      <p:sp>
        <p:nvSpPr>
          <p:cNvPr id="17" name="Text 12"/>
          <p:cNvSpPr txBox="1"/>
          <p:nvPr/>
        </p:nvSpPr>
        <p:spPr>
          <a:xfrm>
            <a:off x="4445000" y="4038600"/>
            <a:ext cx="3302000" cy="254000"/>
          </a:xfrm>
          <a:prstGeom prst="rect">
            <a:avLst/>
          </a:prstGeom>
          <a:noFill/>
          <a:ln/>
        </p:spPr>
        <p:txBody>
          <a:bodyPr wrap="square" lIns="0" tIns="0" rIns="0" bIns="0" rtlCol="0" anchor="t"/>
          <a:lstStyle/>
          <a:p>
            <a:pPr algn="ctr" indent="0" marL="0">
              <a:buNone/>
            </a:pPr>
            <a:r>
              <a:rPr lang="en-US" sz="2000" dirty="0">
                <a:solidFill>
                  <a:schemeClr val="tx1"/>
                </a:solidFill>
                <a:latin typeface="Inter Display SemiBold" pitchFamily="34" charset="0"/>
                <a:ea typeface="Inter Display SemiBold" pitchFamily="34" charset="-122"/>
                <a:cs typeface="Inter Display SemiBold" pitchFamily="34" charset="-120"/>
              </a:rPr>
              <a:t>Gaskiyya registry</a:t>
            </a:r>
            <a:endParaRPr lang="en-US" sz="2000" dirty="0"/>
          </a:p>
        </p:txBody>
      </p:sp>
      <p:sp>
        <p:nvSpPr>
          <p:cNvPr id="18" name="Text 13"/>
          <p:cNvSpPr txBox="1"/>
          <p:nvPr/>
        </p:nvSpPr>
        <p:spPr>
          <a:xfrm>
            <a:off x="4445000" y="4381500"/>
            <a:ext cx="3302000" cy="190500"/>
          </a:xfrm>
          <a:prstGeom prst="rect">
            <a:avLst/>
          </a:prstGeom>
          <a:noFill/>
          <a:ln/>
        </p:spPr>
        <p:txBody>
          <a:bodyPr wrap="square" lIns="0" tIns="0" rIns="0" bIns="0" rtlCol="0" anchor="t"/>
          <a:lstStyle/>
          <a:p>
            <a:pPr algn="ctr" indent="0" marL="0">
              <a:buNone/>
            </a:pPr>
            <a:r>
              <a:rPr lang="en-US" sz="1400" dirty="0">
                <a:solidFill>
                  <a:schemeClr val="tx2"/>
                </a:solidFill>
                <a:latin typeface="Inter" pitchFamily="34" charset="0"/>
                <a:ea typeface="Inter" pitchFamily="34" charset="-122"/>
                <a:cs typeface="Inter" pitchFamily="34" charset="-120"/>
              </a:rPr>
              <a:t>Fingerprints only. No message text.</a:t>
            </a:r>
            <a:endParaRPr lang="en-US" sz="1400" dirty="0"/>
          </a:p>
        </p:txBody>
      </p:sp>
      <p:sp>
        <p:nvSpPr>
          <p:cNvPr id="19" name="Text 14"/>
          <p:cNvSpPr txBox="1"/>
          <p:nvPr/>
        </p:nvSpPr>
        <p:spPr>
          <a:xfrm>
            <a:off x="8445500" y="4038600"/>
            <a:ext cx="3302000" cy="254000"/>
          </a:xfrm>
          <a:prstGeom prst="rect">
            <a:avLst/>
          </a:prstGeom>
          <a:noFill/>
          <a:ln/>
        </p:spPr>
        <p:txBody>
          <a:bodyPr wrap="square" lIns="0" tIns="0" rIns="0" bIns="0" rtlCol="0" anchor="t"/>
          <a:lstStyle/>
          <a:p>
            <a:pPr algn="ctr" indent="0" marL="0">
              <a:buNone/>
            </a:pPr>
            <a:r>
              <a:rPr lang="en-US" sz="2000" dirty="0">
                <a:solidFill>
                  <a:schemeClr val="tx1"/>
                </a:solidFill>
                <a:latin typeface="Inter Display SemiBold" pitchFamily="34" charset="0"/>
                <a:ea typeface="Inter Display SemiBold" pitchFamily="34" charset="-122"/>
                <a:cs typeface="Inter Display SemiBold" pitchFamily="34" charset="-120"/>
              </a:rPr>
              <a:t>The customer</a:t>
            </a:r>
            <a:endParaRPr lang="en-US" sz="2000" dirty="0"/>
          </a:p>
        </p:txBody>
      </p:sp>
      <p:sp>
        <p:nvSpPr>
          <p:cNvPr id="20" name="Text 15"/>
          <p:cNvSpPr txBox="1"/>
          <p:nvPr/>
        </p:nvSpPr>
        <p:spPr>
          <a:xfrm>
            <a:off x="8445500" y="4381500"/>
            <a:ext cx="3302000" cy="190500"/>
          </a:xfrm>
          <a:prstGeom prst="rect">
            <a:avLst/>
          </a:prstGeom>
          <a:noFill/>
          <a:ln/>
        </p:spPr>
        <p:txBody>
          <a:bodyPr wrap="square" lIns="0" tIns="0" rIns="0" bIns="0" rtlCol="0" anchor="t"/>
          <a:lstStyle/>
          <a:p>
            <a:pPr algn="ctr" indent="0" marL="0">
              <a:buNone/>
            </a:pPr>
            <a:r>
              <a:rPr lang="en-US" sz="1400" dirty="0">
                <a:solidFill>
                  <a:schemeClr val="tx2"/>
                </a:solidFill>
                <a:latin typeface="Inter" pitchFamily="34" charset="0"/>
                <a:ea typeface="Inter" pitchFamily="34" charset="-122"/>
                <a:cs typeface="Inter" pitchFamily="34" charset="-120"/>
              </a:rPr>
              <a:t>Checks before acting</a:t>
            </a:r>
            <a:endParaRPr lang="en-US" sz="1400" dirty="0"/>
          </a:p>
        </p:txBody>
      </p:sp>
      <p:sp>
        <p:nvSpPr>
          <p:cNvPr id="21" name="Verdict: Confirmed"/>
          <p:cNvSpPr/>
          <p:nvPr/>
        </p:nvSpPr>
        <p:spPr>
          <a:xfrm>
            <a:off x="2654300" y="5080000"/>
            <a:ext cx="2159000" cy="457200"/>
          </a:xfrm>
          <a:prstGeom prst="roundRect">
            <a:avLst>
              <a:gd name="adj" fmla="val 50000"/>
            </a:avLst>
          </a:prstGeom>
          <a:solidFill>
            <a:srgbClr val="FFFFFF"/>
          </a:solidFill>
          <a:ln w="12700">
            <a:solidFill>
              <a:srgbClr val="DAD8D2"/>
            </a:solidFill>
            <a:prstDash val="solid"/>
          </a:ln>
        </p:spPr>
      </p:sp>
      <p:pic>
        <p:nvPicPr>
          <p:cNvPr id="22" name="Icon: Confirmed" descr="Confirmed">    </p:cNvPr>
          <p:cNvPicPr>
            <a:picLocks noChangeAspect="1"/>
          </p:cNvPicPr>
          <p:nvPr/>
        </p:nvPicPr>
        <p:blipFill>
          <a:blip r:embed="rId4"/>
          <a:stretch>
            <a:fillRect/>
          </a:stretch>
        </p:blipFill>
        <p:spPr>
          <a:xfrm>
            <a:off x="2781300" y="5143500"/>
            <a:ext cx="330200" cy="330200"/>
          </a:xfrm>
          <a:prstGeom prst="rect">
            <a:avLst/>
          </a:prstGeom>
        </p:spPr>
      </p:pic>
      <p:sp>
        <p:nvSpPr>
          <p:cNvPr id="23" name="Text 17"/>
          <p:cNvSpPr txBox="1"/>
          <p:nvPr/>
        </p:nvSpPr>
        <p:spPr>
          <a:xfrm>
            <a:off x="3187700" y="5080000"/>
            <a:ext cx="1498600" cy="457200"/>
          </a:xfrm>
          <a:prstGeom prst="rect">
            <a:avLst/>
          </a:prstGeom>
          <a:noFill/>
          <a:ln/>
        </p:spPr>
        <p:txBody>
          <a:bodyPr wrap="square" lIns="0" tIns="0" rIns="0" bIns="0" rtlCol="0" anchor="ctr"/>
          <a:lstStyle/>
          <a:p>
            <a:pPr algn="l" indent="0" marL="0">
              <a:buNone/>
            </a:pPr>
            <a:r>
              <a:rPr lang="en-US" sz="1600" dirty="0">
                <a:solidFill>
                  <a:schemeClr val="tx1"/>
                </a:solidFill>
                <a:latin typeface="Inter Medium" pitchFamily="34" charset="0"/>
                <a:ea typeface="Inter Medium" pitchFamily="34" charset="-122"/>
                <a:cs typeface="Inter Medium" pitchFamily="34" charset="-120"/>
              </a:rPr>
              <a:t>Confirmed</a:t>
            </a:r>
            <a:endParaRPr lang="en-US" sz="1600" dirty="0"/>
          </a:p>
        </p:txBody>
      </p:sp>
      <p:sp>
        <p:nvSpPr>
          <p:cNvPr id="24" name="Verdict: Not confirmed"/>
          <p:cNvSpPr/>
          <p:nvPr/>
        </p:nvSpPr>
        <p:spPr>
          <a:xfrm>
            <a:off x="5016500" y="5080000"/>
            <a:ext cx="2159000" cy="457200"/>
          </a:xfrm>
          <a:prstGeom prst="roundRect">
            <a:avLst>
              <a:gd name="adj" fmla="val 50000"/>
            </a:avLst>
          </a:prstGeom>
          <a:solidFill>
            <a:srgbClr val="FFFFFF"/>
          </a:solidFill>
          <a:ln w="12700">
            <a:solidFill>
              <a:srgbClr val="DAD8D2"/>
            </a:solidFill>
            <a:prstDash val="solid"/>
          </a:ln>
        </p:spPr>
      </p:sp>
      <p:pic>
        <p:nvPicPr>
          <p:cNvPr id="25" name="Icon: Not confirmed" descr="Not confirmed">    </p:cNvPr>
          <p:cNvPicPr>
            <a:picLocks noChangeAspect="1"/>
          </p:cNvPicPr>
          <p:nvPr/>
        </p:nvPicPr>
        <p:blipFill>
          <a:blip r:embed="rId5"/>
          <a:stretch>
            <a:fillRect/>
          </a:stretch>
        </p:blipFill>
        <p:spPr>
          <a:xfrm>
            <a:off x="5143500" y="5143500"/>
            <a:ext cx="330200" cy="330200"/>
          </a:xfrm>
          <a:prstGeom prst="rect">
            <a:avLst/>
          </a:prstGeom>
        </p:spPr>
      </p:pic>
      <p:sp>
        <p:nvSpPr>
          <p:cNvPr id="26" name="Text 19"/>
          <p:cNvSpPr txBox="1"/>
          <p:nvPr/>
        </p:nvSpPr>
        <p:spPr>
          <a:xfrm>
            <a:off x="5549900" y="5080000"/>
            <a:ext cx="1498600" cy="457200"/>
          </a:xfrm>
          <a:prstGeom prst="rect">
            <a:avLst/>
          </a:prstGeom>
          <a:noFill/>
          <a:ln/>
        </p:spPr>
        <p:txBody>
          <a:bodyPr wrap="square" lIns="0" tIns="0" rIns="0" bIns="0" rtlCol="0" anchor="ctr"/>
          <a:lstStyle/>
          <a:p>
            <a:pPr algn="l" indent="0" marL="0">
              <a:buNone/>
            </a:pPr>
            <a:r>
              <a:rPr lang="en-US" sz="1600" dirty="0">
                <a:solidFill>
                  <a:schemeClr val="tx1"/>
                </a:solidFill>
                <a:latin typeface="Inter Medium" pitchFamily="34" charset="0"/>
                <a:ea typeface="Inter Medium" pitchFamily="34" charset="-122"/>
                <a:cs typeface="Inter Medium" pitchFamily="34" charset="-120"/>
              </a:rPr>
              <a:t>Not confirmed</a:t>
            </a:r>
            <a:endParaRPr lang="en-US" sz="1600" dirty="0"/>
          </a:p>
        </p:txBody>
      </p:sp>
      <p:sp>
        <p:nvSpPr>
          <p:cNvPr id="27" name="Verdict: Cannot check"/>
          <p:cNvSpPr/>
          <p:nvPr/>
        </p:nvSpPr>
        <p:spPr>
          <a:xfrm>
            <a:off x="7378700" y="5080000"/>
            <a:ext cx="2159000" cy="457200"/>
          </a:xfrm>
          <a:prstGeom prst="roundRect">
            <a:avLst>
              <a:gd name="adj" fmla="val 50000"/>
            </a:avLst>
          </a:prstGeom>
          <a:solidFill>
            <a:srgbClr val="FFFFFF"/>
          </a:solidFill>
          <a:ln w="12700">
            <a:solidFill>
              <a:srgbClr val="DAD8D2"/>
            </a:solidFill>
            <a:prstDash val="solid"/>
          </a:ln>
        </p:spPr>
      </p:sp>
      <p:pic>
        <p:nvPicPr>
          <p:cNvPr id="28" name="Icon: Cannot check" descr="Cannot check">    </p:cNvPr>
          <p:cNvPicPr>
            <a:picLocks noChangeAspect="1"/>
          </p:cNvPicPr>
          <p:nvPr/>
        </p:nvPicPr>
        <p:blipFill>
          <a:blip r:embed="rId6"/>
          <a:stretch>
            <a:fillRect/>
          </a:stretch>
        </p:blipFill>
        <p:spPr>
          <a:xfrm>
            <a:off x="7505700" y="5143500"/>
            <a:ext cx="330200" cy="330200"/>
          </a:xfrm>
          <a:prstGeom prst="rect">
            <a:avLst/>
          </a:prstGeom>
        </p:spPr>
      </p:pic>
      <p:sp>
        <p:nvSpPr>
          <p:cNvPr id="29" name="Text 21"/>
          <p:cNvSpPr txBox="1"/>
          <p:nvPr/>
        </p:nvSpPr>
        <p:spPr>
          <a:xfrm>
            <a:off x="7912100" y="5080000"/>
            <a:ext cx="1498600" cy="457200"/>
          </a:xfrm>
          <a:prstGeom prst="rect">
            <a:avLst/>
          </a:prstGeom>
          <a:noFill/>
          <a:ln/>
        </p:spPr>
        <p:txBody>
          <a:bodyPr wrap="square" lIns="0" tIns="0" rIns="0" bIns="0" rtlCol="0" anchor="ctr"/>
          <a:lstStyle/>
          <a:p>
            <a:pPr algn="l" indent="0" marL="0">
              <a:buNone/>
            </a:pPr>
            <a:r>
              <a:rPr lang="en-US" sz="1600" dirty="0">
                <a:solidFill>
                  <a:schemeClr val="tx1"/>
                </a:solidFill>
                <a:latin typeface="Inter Medium" pitchFamily="34" charset="0"/>
                <a:ea typeface="Inter Medium" pitchFamily="34" charset="-122"/>
                <a:cs typeface="Inter Medium" pitchFamily="34" charset="-120"/>
              </a:rPr>
              <a:t>Cannot check</a:t>
            </a:r>
            <a:endParaRPr lang="en-US" sz="1600" dirty="0"/>
          </a:p>
        </p:txBody>
      </p:sp>
      <p:sp>
        <p:nvSpPr>
          <p:cNvPr id="25" name="Slide Number Placeholder 0"/>
          <p:cNvSpPr>
            <a:spLocks noGrp="1"/>
          </p:cNvSpPr>
          <p:nvPr>
            <p:ph type="sldNum" sz="quarter" idx="4294967295"/>
          </p:nvPr>
        </p:nvSpPr>
        <p:spPr>
          <a:xfrm>
            <a:off x="10617200" y="6299200"/>
            <a:ext cx="762000" cy="20320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latin typeface="Inter Medium"/>
                <a:ea typeface="Inter Medium"/>
                <a:cs typeface="Inter Medium"/>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812800" y="711200"/>
            <a:ext cx="10566400" cy="508000"/>
          </a:xfrm>
          <a:prstGeom prst="rect">
            <a:avLst/>
          </a:prstGeom>
          <a:noFill/>
          <a:ln/>
        </p:spPr>
        <p:txBody>
          <a:bodyPr wrap="square" lIns="0" tIns="0" rIns="0" bIns="0" rtlCol="0" anchor="t"/>
          <a:lstStyle/>
          <a:p>
            <a:pPr algn="l" indent="0" marL="0">
              <a:buNone/>
            </a:pPr>
            <a:r>
              <a:rPr lang="en-US" sz="3200" dirty="0">
                <a:solidFill>
                  <a:schemeClr val="tx1"/>
                </a:solidFill>
                <a:latin typeface="Inter Display SemiBold" pitchFamily="34" charset="0"/>
                <a:ea typeface="Inter Display SemiBold" pitchFamily="34" charset="-122"/>
                <a:cs typeface="Inter Display SemiBold" pitchFamily="34" charset="-120"/>
              </a:rPr>
              <a:t>Who it helps</a:t>
            </a:r>
            <a:endParaRPr lang="en-US" sz="3200" dirty="0"/>
          </a:p>
        </p:txBody>
      </p:sp>
      <p:sp>
        <p:nvSpPr>
          <p:cNvPr id="3" name="Shape 1"/>
          <p:cNvSpPr/>
          <p:nvPr/>
        </p:nvSpPr>
        <p:spPr>
          <a:xfrm>
            <a:off x="2844800" y="2730500"/>
            <a:ext cx="6502400" cy="0"/>
          </a:xfrm>
          <a:prstGeom prst="line">
            <a:avLst/>
          </a:prstGeom>
          <a:noFill/>
          <a:ln w="25400">
            <a:solidFill>
              <a:srgbClr val="DAD8D2"/>
            </a:solidFill>
            <a:prstDash val="dash"/>
          </a:ln>
        </p:spPr>
      </p:sp>
      <p:sp>
        <p:nvSpPr>
          <p:cNvPr id="4" name="Customers"/>
          <p:cNvSpPr/>
          <p:nvPr/>
        </p:nvSpPr>
        <p:spPr>
          <a:xfrm>
            <a:off x="2146300" y="2032000"/>
            <a:ext cx="1397000" cy="1397000"/>
          </a:xfrm>
          <a:prstGeom prst="ellipse">
            <a:avLst/>
          </a:prstGeom>
          <a:solidFill>
            <a:srgbClr val="0A7A55"/>
          </a:solidFill>
          <a:ln/>
          <a:effectLst>
            <a:outerShdw sx="100000" sy="100000" kx="0" ky="0" algn="bl" rotWithShape="0" blurRad="228600" dist="76200" dir="5400000">
              <a:srgbClr val="0E1512">
                <a:alpha val="15000"/>
              </a:srgbClr>
            </a:outerShdw>
          </a:effectLst>
        </p:spPr>
      </p:sp>
      <p:pic>
        <p:nvPicPr>
          <p:cNvPr id="5" name="Image 0" descr="Customers">    </p:cNvPr>
          <p:cNvPicPr>
            <a:picLocks noChangeAspect="1"/>
          </p:cNvPicPr>
          <p:nvPr/>
        </p:nvPicPr>
        <p:blipFill>
          <a:blip r:embed="rId1"/>
          <a:stretch>
            <a:fillRect/>
          </a:stretch>
        </p:blipFill>
        <p:spPr>
          <a:xfrm>
            <a:off x="2540000" y="2425700"/>
            <a:ext cx="609600" cy="609600"/>
          </a:xfrm>
          <a:prstGeom prst="rect">
            <a:avLst/>
          </a:prstGeom>
        </p:spPr>
      </p:pic>
      <p:sp>
        <p:nvSpPr>
          <p:cNvPr id="6" name="Text 3"/>
          <p:cNvSpPr txBox="1"/>
          <p:nvPr/>
        </p:nvSpPr>
        <p:spPr>
          <a:xfrm>
            <a:off x="1320800" y="3619500"/>
            <a:ext cx="3048000" cy="254000"/>
          </a:xfrm>
          <a:prstGeom prst="rect">
            <a:avLst/>
          </a:prstGeom>
          <a:noFill/>
          <a:ln/>
        </p:spPr>
        <p:txBody>
          <a:bodyPr wrap="square" lIns="0" tIns="0" rIns="0" bIns="0" rtlCol="0" anchor="t"/>
          <a:lstStyle/>
          <a:p>
            <a:pPr algn="ctr" indent="0" marL="0">
              <a:buNone/>
            </a:pPr>
            <a:r>
              <a:rPr lang="en-US" sz="2000" dirty="0">
                <a:solidFill>
                  <a:schemeClr val="tx1"/>
                </a:solidFill>
                <a:latin typeface="Inter Display SemiBold" pitchFamily="34" charset="0"/>
                <a:ea typeface="Inter Display SemiBold" pitchFamily="34" charset="-122"/>
                <a:cs typeface="Inter Display SemiBold" pitchFamily="34" charset="-120"/>
              </a:rPr>
              <a:t>Customers</a:t>
            </a:r>
            <a:endParaRPr lang="en-US" sz="2000" dirty="0"/>
          </a:p>
        </p:txBody>
      </p:sp>
      <p:sp>
        <p:nvSpPr>
          <p:cNvPr id="7" name="Text 4"/>
          <p:cNvSpPr txBox="1"/>
          <p:nvPr/>
        </p:nvSpPr>
        <p:spPr>
          <a:xfrm>
            <a:off x="1320800" y="3911600"/>
            <a:ext cx="3048000" cy="203200"/>
          </a:xfrm>
          <a:prstGeom prst="rect">
            <a:avLst/>
          </a:prstGeom>
          <a:noFill/>
          <a:ln/>
        </p:spPr>
        <p:txBody>
          <a:bodyPr wrap="square" lIns="0" tIns="0" rIns="0" bIns="0" rtlCol="0" anchor="t"/>
          <a:lstStyle/>
          <a:p>
            <a:pPr algn="ctr" indent="0" marL="0">
              <a:buNone/>
            </a:pPr>
            <a:r>
              <a:rPr lang="en-US" sz="1400" dirty="0">
                <a:solidFill>
                  <a:schemeClr val="tx2"/>
                </a:solidFill>
                <a:latin typeface="Inter" pitchFamily="34" charset="0"/>
                <a:ea typeface="Inter" pitchFamily="34" charset="-122"/>
                <a:cs typeface="Inter" pitchFamily="34" charset="-120"/>
              </a:rPr>
              <a:t>Check before acting</a:t>
            </a:r>
            <a:endParaRPr lang="en-US" sz="1400" dirty="0"/>
          </a:p>
        </p:txBody>
      </p:sp>
      <p:sp>
        <p:nvSpPr>
          <p:cNvPr id="8" name="Traders and SMEs"/>
          <p:cNvSpPr/>
          <p:nvPr/>
        </p:nvSpPr>
        <p:spPr>
          <a:xfrm>
            <a:off x="5397500" y="2032000"/>
            <a:ext cx="1397000" cy="1397000"/>
          </a:xfrm>
          <a:prstGeom prst="ellipse">
            <a:avLst/>
          </a:prstGeom>
          <a:solidFill>
            <a:srgbClr val="0A7A55"/>
          </a:solidFill>
          <a:ln/>
          <a:effectLst>
            <a:outerShdw sx="100000" sy="100000" kx="0" ky="0" algn="bl" rotWithShape="0" blurRad="228600" dist="76200" dir="5400000">
              <a:srgbClr val="0E1512">
                <a:alpha val="15000"/>
              </a:srgbClr>
            </a:outerShdw>
          </a:effectLst>
        </p:spPr>
      </p:sp>
      <p:pic>
        <p:nvPicPr>
          <p:cNvPr id="9" name="Image 1" descr="Traders and SMEs">    </p:cNvPr>
          <p:cNvPicPr>
            <a:picLocks noChangeAspect="1"/>
          </p:cNvPicPr>
          <p:nvPr/>
        </p:nvPicPr>
        <p:blipFill>
          <a:blip r:embed="rId2"/>
          <a:stretch>
            <a:fillRect/>
          </a:stretch>
        </p:blipFill>
        <p:spPr>
          <a:xfrm>
            <a:off x="5791200" y="2425700"/>
            <a:ext cx="609600" cy="609600"/>
          </a:xfrm>
          <a:prstGeom prst="rect">
            <a:avLst/>
          </a:prstGeom>
        </p:spPr>
      </p:pic>
      <p:sp>
        <p:nvSpPr>
          <p:cNvPr id="10" name="Text 6"/>
          <p:cNvSpPr txBox="1"/>
          <p:nvPr/>
        </p:nvSpPr>
        <p:spPr>
          <a:xfrm>
            <a:off x="4572000" y="3619500"/>
            <a:ext cx="3048000" cy="254000"/>
          </a:xfrm>
          <a:prstGeom prst="rect">
            <a:avLst/>
          </a:prstGeom>
          <a:noFill/>
          <a:ln/>
        </p:spPr>
        <p:txBody>
          <a:bodyPr wrap="square" lIns="0" tIns="0" rIns="0" bIns="0" rtlCol="0" anchor="t"/>
          <a:lstStyle/>
          <a:p>
            <a:pPr algn="ctr" indent="0" marL="0">
              <a:buNone/>
            </a:pPr>
            <a:r>
              <a:rPr lang="en-US" sz="2000" dirty="0">
                <a:solidFill>
                  <a:schemeClr val="tx1"/>
                </a:solidFill>
                <a:latin typeface="Inter Display SemiBold" pitchFamily="34" charset="0"/>
                <a:ea typeface="Inter Display SemiBold" pitchFamily="34" charset="-122"/>
                <a:cs typeface="Inter Display SemiBold" pitchFamily="34" charset="-120"/>
              </a:rPr>
              <a:t>Traders and SMEs</a:t>
            </a:r>
            <a:endParaRPr lang="en-US" sz="2000" dirty="0"/>
          </a:p>
        </p:txBody>
      </p:sp>
      <p:sp>
        <p:nvSpPr>
          <p:cNvPr id="11" name="Text 7"/>
          <p:cNvSpPr txBox="1"/>
          <p:nvPr/>
        </p:nvSpPr>
        <p:spPr>
          <a:xfrm>
            <a:off x="4572000" y="3911600"/>
            <a:ext cx="3048000" cy="203200"/>
          </a:xfrm>
          <a:prstGeom prst="rect">
            <a:avLst/>
          </a:prstGeom>
          <a:noFill/>
          <a:ln/>
        </p:spPr>
        <p:txBody>
          <a:bodyPr wrap="square" lIns="0" tIns="0" rIns="0" bIns="0" rtlCol="0" anchor="t"/>
          <a:lstStyle/>
          <a:p>
            <a:pPr algn="ctr" indent="0" marL="0">
              <a:buNone/>
            </a:pPr>
            <a:r>
              <a:rPr lang="en-US" sz="1400" dirty="0">
                <a:solidFill>
                  <a:schemeClr val="tx2"/>
                </a:solidFill>
                <a:latin typeface="Inter" pitchFamily="34" charset="0"/>
                <a:ea typeface="Inter" pitchFamily="34" charset="-122"/>
                <a:cs typeface="Inter" pitchFamily="34" charset="-120"/>
              </a:rPr>
              <a:t>Confirm every payment</a:t>
            </a:r>
            <a:endParaRPr lang="en-US" sz="1400" dirty="0"/>
          </a:p>
        </p:txBody>
      </p:sp>
      <p:sp>
        <p:nvSpPr>
          <p:cNvPr id="12" name="Banks"/>
          <p:cNvSpPr/>
          <p:nvPr/>
        </p:nvSpPr>
        <p:spPr>
          <a:xfrm>
            <a:off x="8648700" y="2032000"/>
            <a:ext cx="1397000" cy="1397000"/>
          </a:xfrm>
          <a:prstGeom prst="ellipse">
            <a:avLst/>
          </a:prstGeom>
          <a:solidFill>
            <a:srgbClr val="0A7A55"/>
          </a:solidFill>
          <a:ln/>
          <a:effectLst>
            <a:outerShdw sx="100000" sy="100000" kx="0" ky="0" algn="bl" rotWithShape="0" blurRad="228600" dist="76200" dir="5400000">
              <a:srgbClr val="0E1512">
                <a:alpha val="15000"/>
              </a:srgbClr>
            </a:outerShdw>
          </a:effectLst>
        </p:spPr>
      </p:sp>
      <p:pic>
        <p:nvPicPr>
          <p:cNvPr id="13" name="Image 2" descr="Banks">    </p:cNvPr>
          <p:cNvPicPr>
            <a:picLocks noChangeAspect="1"/>
          </p:cNvPicPr>
          <p:nvPr/>
        </p:nvPicPr>
        <p:blipFill>
          <a:blip r:embed="rId3"/>
          <a:stretch>
            <a:fillRect/>
          </a:stretch>
        </p:blipFill>
        <p:spPr>
          <a:xfrm>
            <a:off x="9042400" y="2425700"/>
            <a:ext cx="609600" cy="609600"/>
          </a:xfrm>
          <a:prstGeom prst="rect">
            <a:avLst/>
          </a:prstGeom>
        </p:spPr>
      </p:pic>
      <p:sp>
        <p:nvSpPr>
          <p:cNvPr id="14" name="Text 9"/>
          <p:cNvSpPr txBox="1"/>
          <p:nvPr/>
        </p:nvSpPr>
        <p:spPr>
          <a:xfrm>
            <a:off x="7823200" y="3619500"/>
            <a:ext cx="3048000" cy="254000"/>
          </a:xfrm>
          <a:prstGeom prst="rect">
            <a:avLst/>
          </a:prstGeom>
          <a:noFill/>
          <a:ln/>
        </p:spPr>
        <p:txBody>
          <a:bodyPr wrap="square" lIns="0" tIns="0" rIns="0" bIns="0" rtlCol="0" anchor="t"/>
          <a:lstStyle/>
          <a:p>
            <a:pPr algn="ctr" indent="0" marL="0">
              <a:buNone/>
            </a:pPr>
            <a:r>
              <a:rPr lang="en-US" sz="2000" dirty="0">
                <a:solidFill>
                  <a:schemeClr val="tx1"/>
                </a:solidFill>
                <a:latin typeface="Inter Display SemiBold" pitchFamily="34" charset="0"/>
                <a:ea typeface="Inter Display SemiBold" pitchFamily="34" charset="-122"/>
                <a:cs typeface="Inter Display SemiBold" pitchFamily="34" charset="-120"/>
              </a:rPr>
              <a:t>Banks</a:t>
            </a:r>
            <a:endParaRPr lang="en-US" sz="2000" dirty="0"/>
          </a:p>
        </p:txBody>
      </p:sp>
      <p:sp>
        <p:nvSpPr>
          <p:cNvPr id="15" name="Text 10"/>
          <p:cNvSpPr txBox="1"/>
          <p:nvPr/>
        </p:nvSpPr>
        <p:spPr>
          <a:xfrm>
            <a:off x="7823200" y="3911600"/>
            <a:ext cx="3048000" cy="203200"/>
          </a:xfrm>
          <a:prstGeom prst="rect">
            <a:avLst/>
          </a:prstGeom>
          <a:noFill/>
          <a:ln/>
        </p:spPr>
        <p:txBody>
          <a:bodyPr wrap="square" lIns="0" tIns="0" rIns="0" bIns="0" rtlCol="0" anchor="t"/>
          <a:lstStyle/>
          <a:p>
            <a:pPr algn="ctr" indent="0" marL="0">
              <a:buNone/>
            </a:pPr>
            <a:r>
              <a:rPr lang="en-US" sz="1400" dirty="0">
                <a:solidFill>
                  <a:schemeClr val="tx2"/>
                </a:solidFill>
                <a:latin typeface="Inter" pitchFamily="34" charset="0"/>
                <a:ea typeface="Inter" pitchFamily="34" charset="-122"/>
                <a:cs typeface="Inter" pitchFamily="34" charset="-120"/>
              </a:rPr>
              <a:t>Spot scam waves early</a:t>
            </a:r>
            <a:endParaRPr lang="en-US" sz="1400" dirty="0"/>
          </a:p>
        </p:txBody>
      </p:sp>
      <p:sp>
        <p:nvSpPr>
          <p:cNvPr id="16" name="Text 11"/>
          <p:cNvSpPr txBox="1"/>
          <p:nvPr/>
        </p:nvSpPr>
        <p:spPr>
          <a:xfrm>
            <a:off x="812800" y="4699000"/>
            <a:ext cx="10566400" cy="203200"/>
          </a:xfrm>
          <a:prstGeom prst="rect">
            <a:avLst/>
          </a:prstGeom>
          <a:noFill/>
          <a:ln/>
        </p:spPr>
        <p:txBody>
          <a:bodyPr wrap="square" lIns="0" tIns="0" rIns="0" bIns="0" rtlCol="0" anchor="t"/>
          <a:lstStyle/>
          <a:p>
            <a:pPr algn="ctr" indent="0" marL="0">
              <a:buNone/>
            </a:pPr>
            <a:r>
              <a:rPr lang="en-US" sz="1400" dirty="0">
                <a:solidFill>
                  <a:schemeClr val="tx2"/>
                </a:solidFill>
                <a:latin typeface="Inter Medium" pitchFamily="34" charset="0"/>
                <a:ea typeface="Inter Medium" pitchFamily="34" charset="-122"/>
                <a:cs typeface="Inter Medium" pitchFamily="34" charset="-120"/>
              </a:rPr>
              <a:t>Works on any phone</a:t>
            </a:r>
            <a:endParaRPr lang="en-US" sz="1400" dirty="0"/>
          </a:p>
        </p:txBody>
      </p:sp>
      <p:sp>
        <p:nvSpPr>
          <p:cNvPr id="17" name="Channel: Bank app"/>
          <p:cNvSpPr/>
          <p:nvPr/>
        </p:nvSpPr>
        <p:spPr>
          <a:xfrm>
            <a:off x="1879600" y="5003800"/>
            <a:ext cx="1981200" cy="482600"/>
          </a:xfrm>
          <a:prstGeom prst="roundRect">
            <a:avLst>
              <a:gd name="adj" fmla="val 50000"/>
            </a:avLst>
          </a:prstGeom>
          <a:solidFill>
            <a:srgbClr val="FFFFFF"/>
          </a:solidFill>
          <a:ln w="12700">
            <a:solidFill>
              <a:srgbClr val="DAD8D2"/>
            </a:solidFill>
            <a:prstDash val="solid"/>
          </a:ln>
        </p:spPr>
      </p:sp>
      <p:pic>
        <p:nvPicPr>
          <p:cNvPr id="18" name="Image 3" descr="preencoded.png">    </p:cNvPr>
          <p:cNvPicPr>
            <a:picLocks noChangeAspect="1"/>
          </p:cNvPicPr>
          <p:nvPr/>
        </p:nvPicPr>
        <p:blipFill>
          <a:blip r:embed="rId4"/>
          <a:stretch>
            <a:fillRect/>
          </a:stretch>
        </p:blipFill>
        <p:spPr>
          <a:xfrm>
            <a:off x="2032000" y="5130800"/>
            <a:ext cx="228600" cy="228600"/>
          </a:xfrm>
          <a:prstGeom prst="rect">
            <a:avLst/>
          </a:prstGeom>
        </p:spPr>
      </p:pic>
      <p:sp>
        <p:nvSpPr>
          <p:cNvPr id="19" name="Text 13"/>
          <p:cNvSpPr txBox="1"/>
          <p:nvPr/>
        </p:nvSpPr>
        <p:spPr>
          <a:xfrm>
            <a:off x="2336800" y="5003800"/>
            <a:ext cx="1422400" cy="482600"/>
          </a:xfrm>
          <a:prstGeom prst="rect">
            <a:avLst/>
          </a:prstGeom>
          <a:noFill/>
          <a:ln/>
        </p:spPr>
        <p:txBody>
          <a:bodyPr wrap="square" lIns="0" tIns="0" rIns="0" bIns="0" rtlCol="0" anchor="ctr"/>
          <a:lstStyle/>
          <a:p>
            <a:pPr algn="l" indent="0" marL="0">
              <a:buNone/>
            </a:pPr>
            <a:r>
              <a:rPr lang="en-US" sz="1400" dirty="0">
                <a:solidFill>
                  <a:schemeClr val="tx1"/>
                </a:solidFill>
                <a:latin typeface="Inter Medium" pitchFamily="34" charset="0"/>
                <a:ea typeface="Inter Medium" pitchFamily="34" charset="-122"/>
                <a:cs typeface="Inter Medium" pitchFamily="34" charset="-120"/>
              </a:rPr>
              <a:t>Bank app</a:t>
            </a:r>
            <a:endParaRPr lang="en-US" sz="1400" dirty="0"/>
          </a:p>
        </p:txBody>
      </p:sp>
      <p:sp>
        <p:nvSpPr>
          <p:cNvPr id="20" name="Channel: WhatsApp"/>
          <p:cNvSpPr/>
          <p:nvPr/>
        </p:nvSpPr>
        <p:spPr>
          <a:xfrm>
            <a:off x="4038600" y="5003800"/>
            <a:ext cx="1981200" cy="482600"/>
          </a:xfrm>
          <a:prstGeom prst="roundRect">
            <a:avLst>
              <a:gd name="adj" fmla="val 50000"/>
            </a:avLst>
          </a:prstGeom>
          <a:solidFill>
            <a:srgbClr val="FFFFFF"/>
          </a:solidFill>
          <a:ln w="12700">
            <a:solidFill>
              <a:srgbClr val="DAD8D2"/>
            </a:solidFill>
            <a:prstDash val="solid"/>
          </a:ln>
        </p:spPr>
      </p:sp>
      <p:pic>
        <p:nvPicPr>
          <p:cNvPr id="21" name="Image 4" descr="preencoded.png">    </p:cNvPr>
          <p:cNvPicPr>
            <a:picLocks noChangeAspect="1"/>
          </p:cNvPicPr>
          <p:nvPr/>
        </p:nvPicPr>
        <p:blipFill>
          <a:blip r:embed="rId5"/>
          <a:stretch>
            <a:fillRect/>
          </a:stretch>
        </p:blipFill>
        <p:spPr>
          <a:xfrm>
            <a:off x="4191000" y="5130800"/>
            <a:ext cx="228600" cy="228600"/>
          </a:xfrm>
          <a:prstGeom prst="rect">
            <a:avLst/>
          </a:prstGeom>
        </p:spPr>
      </p:pic>
      <p:sp>
        <p:nvSpPr>
          <p:cNvPr id="22" name="Text 15"/>
          <p:cNvSpPr txBox="1"/>
          <p:nvPr/>
        </p:nvSpPr>
        <p:spPr>
          <a:xfrm>
            <a:off x="4495800" y="5003800"/>
            <a:ext cx="1422400" cy="482600"/>
          </a:xfrm>
          <a:prstGeom prst="rect">
            <a:avLst/>
          </a:prstGeom>
          <a:noFill/>
          <a:ln/>
        </p:spPr>
        <p:txBody>
          <a:bodyPr wrap="square" lIns="0" tIns="0" rIns="0" bIns="0" rtlCol="0" anchor="ctr"/>
          <a:lstStyle/>
          <a:p>
            <a:pPr algn="l" indent="0" marL="0">
              <a:buNone/>
            </a:pPr>
            <a:r>
              <a:rPr lang="en-US" sz="1400" dirty="0">
                <a:solidFill>
                  <a:schemeClr val="tx1"/>
                </a:solidFill>
                <a:latin typeface="Inter Medium" pitchFamily="34" charset="0"/>
                <a:ea typeface="Inter Medium" pitchFamily="34" charset="-122"/>
                <a:cs typeface="Inter Medium" pitchFamily="34" charset="-120"/>
              </a:rPr>
              <a:t>WhatsApp</a:t>
            </a:r>
            <a:endParaRPr lang="en-US" sz="1400" dirty="0"/>
          </a:p>
        </p:txBody>
      </p:sp>
      <p:sp>
        <p:nvSpPr>
          <p:cNvPr id="23" name="Channel: USSD, no data"/>
          <p:cNvSpPr/>
          <p:nvPr/>
        </p:nvSpPr>
        <p:spPr>
          <a:xfrm>
            <a:off x="6197600" y="5003800"/>
            <a:ext cx="1981200" cy="482600"/>
          </a:xfrm>
          <a:prstGeom prst="roundRect">
            <a:avLst>
              <a:gd name="adj" fmla="val 50000"/>
            </a:avLst>
          </a:prstGeom>
          <a:solidFill>
            <a:srgbClr val="FFFFFF"/>
          </a:solidFill>
          <a:ln w="12700">
            <a:solidFill>
              <a:srgbClr val="DAD8D2"/>
            </a:solidFill>
            <a:prstDash val="solid"/>
          </a:ln>
        </p:spPr>
      </p:sp>
      <p:pic>
        <p:nvPicPr>
          <p:cNvPr id="24" name="Image 5" descr="preencoded.png">    </p:cNvPr>
          <p:cNvPicPr>
            <a:picLocks noChangeAspect="1"/>
          </p:cNvPicPr>
          <p:nvPr/>
        </p:nvPicPr>
        <p:blipFill>
          <a:blip r:embed="rId6"/>
          <a:stretch>
            <a:fillRect/>
          </a:stretch>
        </p:blipFill>
        <p:spPr>
          <a:xfrm>
            <a:off x="6350000" y="5130800"/>
            <a:ext cx="228600" cy="228600"/>
          </a:xfrm>
          <a:prstGeom prst="rect">
            <a:avLst/>
          </a:prstGeom>
        </p:spPr>
      </p:pic>
      <p:sp>
        <p:nvSpPr>
          <p:cNvPr id="25" name="Text 17"/>
          <p:cNvSpPr txBox="1"/>
          <p:nvPr/>
        </p:nvSpPr>
        <p:spPr>
          <a:xfrm>
            <a:off x="6654800" y="5003800"/>
            <a:ext cx="1422400" cy="482600"/>
          </a:xfrm>
          <a:prstGeom prst="rect">
            <a:avLst/>
          </a:prstGeom>
          <a:noFill/>
          <a:ln/>
        </p:spPr>
        <p:txBody>
          <a:bodyPr wrap="square" lIns="0" tIns="0" rIns="0" bIns="0" rtlCol="0" anchor="ctr"/>
          <a:lstStyle/>
          <a:p>
            <a:pPr algn="l" indent="0" marL="0">
              <a:buNone/>
            </a:pPr>
            <a:r>
              <a:rPr lang="en-US" sz="1400" dirty="0">
                <a:solidFill>
                  <a:schemeClr val="tx1"/>
                </a:solidFill>
                <a:latin typeface="Inter Medium" pitchFamily="34" charset="0"/>
                <a:ea typeface="Inter Medium" pitchFamily="34" charset="-122"/>
                <a:cs typeface="Inter Medium" pitchFamily="34" charset="-120"/>
              </a:rPr>
              <a:t>USSD, no data</a:t>
            </a:r>
            <a:endParaRPr lang="en-US" sz="1400" dirty="0"/>
          </a:p>
        </p:txBody>
      </p:sp>
      <p:sp>
        <p:nvSpPr>
          <p:cNvPr id="26" name="Channel: 5 languages"/>
          <p:cNvSpPr/>
          <p:nvPr/>
        </p:nvSpPr>
        <p:spPr>
          <a:xfrm>
            <a:off x="8356600" y="5003800"/>
            <a:ext cx="1981200" cy="482600"/>
          </a:xfrm>
          <a:prstGeom prst="roundRect">
            <a:avLst>
              <a:gd name="adj" fmla="val 50000"/>
            </a:avLst>
          </a:prstGeom>
          <a:solidFill>
            <a:srgbClr val="FFFFFF"/>
          </a:solidFill>
          <a:ln w="12700">
            <a:solidFill>
              <a:srgbClr val="DAD8D2"/>
            </a:solidFill>
            <a:prstDash val="solid"/>
          </a:ln>
        </p:spPr>
      </p:sp>
      <p:pic>
        <p:nvPicPr>
          <p:cNvPr id="27" name="Image 6" descr="preencoded.png">    </p:cNvPr>
          <p:cNvPicPr>
            <a:picLocks noChangeAspect="1"/>
          </p:cNvPicPr>
          <p:nvPr/>
        </p:nvPicPr>
        <p:blipFill>
          <a:blip r:embed="rId7"/>
          <a:stretch>
            <a:fillRect/>
          </a:stretch>
        </p:blipFill>
        <p:spPr>
          <a:xfrm>
            <a:off x="8509000" y="5130800"/>
            <a:ext cx="228600" cy="228600"/>
          </a:xfrm>
          <a:prstGeom prst="rect">
            <a:avLst/>
          </a:prstGeom>
        </p:spPr>
      </p:pic>
      <p:sp>
        <p:nvSpPr>
          <p:cNvPr id="28" name="Text 19"/>
          <p:cNvSpPr txBox="1"/>
          <p:nvPr/>
        </p:nvSpPr>
        <p:spPr>
          <a:xfrm>
            <a:off x="8813800" y="5003800"/>
            <a:ext cx="1422400" cy="482600"/>
          </a:xfrm>
          <a:prstGeom prst="rect">
            <a:avLst/>
          </a:prstGeom>
          <a:noFill/>
          <a:ln/>
        </p:spPr>
        <p:txBody>
          <a:bodyPr wrap="square" lIns="0" tIns="0" rIns="0" bIns="0" rtlCol="0" anchor="ctr"/>
          <a:lstStyle/>
          <a:p>
            <a:pPr algn="l" indent="0" marL="0">
              <a:buNone/>
            </a:pPr>
            <a:r>
              <a:rPr lang="en-US" sz="1400" dirty="0">
                <a:solidFill>
                  <a:schemeClr val="tx1"/>
                </a:solidFill>
                <a:latin typeface="Inter Medium" pitchFamily="34" charset="0"/>
                <a:ea typeface="Inter Medium" pitchFamily="34" charset="-122"/>
                <a:cs typeface="Inter Medium" pitchFamily="34" charset="-120"/>
              </a:rPr>
              <a:t>5 languages</a:t>
            </a:r>
            <a:endParaRPr lang="en-US" sz="1400" dirty="0"/>
          </a:p>
        </p:txBody>
      </p:sp>
      <p:sp>
        <p:nvSpPr>
          <p:cNvPr id="25" name="Slide Number Placeholder 0"/>
          <p:cNvSpPr>
            <a:spLocks noGrp="1"/>
          </p:cNvSpPr>
          <p:nvPr>
            <p:ph type="sldNum" sz="quarter" idx="4294967295"/>
          </p:nvPr>
        </p:nvSpPr>
        <p:spPr>
          <a:xfrm>
            <a:off x="10617200" y="6299200"/>
            <a:ext cx="762000" cy="20320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latin typeface="Inter Medium"/>
                <a:ea typeface="Inter Medium"/>
                <a:cs typeface="Inter Medium"/>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812800" y="711200"/>
            <a:ext cx="10566400" cy="508000"/>
          </a:xfrm>
          <a:prstGeom prst="rect">
            <a:avLst/>
          </a:prstGeom>
          <a:noFill/>
          <a:ln/>
        </p:spPr>
        <p:txBody>
          <a:bodyPr wrap="square" lIns="0" tIns="0" rIns="0" bIns="0" rtlCol="0" anchor="t"/>
          <a:lstStyle/>
          <a:p>
            <a:pPr algn="l" indent="0" marL="0">
              <a:buNone/>
            </a:pPr>
            <a:r>
              <a:rPr lang="en-US" sz="3200" dirty="0">
                <a:solidFill>
                  <a:schemeClr val="bg1"/>
                </a:solidFill>
                <a:latin typeface="Inter Display SemiBold" pitchFamily="34" charset="0"/>
                <a:ea typeface="Inter Display SemiBold" pitchFamily="34" charset="-122"/>
                <a:cs typeface="Inter Display SemiBold" pitchFamily="34" charset="-120"/>
              </a:rPr>
              <a:t>Built to scale</a:t>
            </a:r>
            <a:endParaRPr lang="en-US" sz="3200" dirty="0"/>
          </a:p>
        </p:txBody>
      </p:sp>
      <p:sp>
        <p:nvSpPr>
          <p:cNvPr id="3" name="Pill: Bank A"/>
          <p:cNvSpPr/>
          <p:nvPr/>
        </p:nvSpPr>
        <p:spPr>
          <a:xfrm>
            <a:off x="1270000" y="2286000"/>
            <a:ext cx="1905000" cy="508000"/>
          </a:xfrm>
          <a:prstGeom prst="roundRect">
            <a:avLst>
              <a:gd name="adj" fmla="val 50000"/>
            </a:avLst>
          </a:prstGeom>
          <a:solidFill>
            <a:srgbClr val="1F2622"/>
          </a:solidFill>
          <a:ln w="12700">
            <a:solidFill>
              <a:srgbClr val="2F3A35"/>
            </a:solidFill>
            <a:prstDash val="solid"/>
          </a:ln>
        </p:spPr>
      </p:sp>
      <p:sp>
        <p:nvSpPr>
          <p:cNvPr id="4" name="Text 2"/>
          <p:cNvSpPr txBox="1"/>
          <p:nvPr/>
        </p:nvSpPr>
        <p:spPr>
          <a:xfrm>
            <a:off x="1270000" y="2286000"/>
            <a:ext cx="1905000" cy="508000"/>
          </a:xfrm>
          <a:prstGeom prst="rect">
            <a:avLst/>
          </a:prstGeom>
          <a:noFill/>
          <a:ln/>
        </p:spPr>
        <p:txBody>
          <a:bodyPr wrap="square" lIns="0" tIns="0" rIns="0" bIns="0" rtlCol="0" anchor="ctr"/>
          <a:lstStyle/>
          <a:p>
            <a:pPr algn="ctr" indent="0" marL="0">
              <a:buNone/>
            </a:pPr>
            <a:r>
              <a:rPr lang="en-US" sz="1400" dirty="0">
                <a:solidFill>
                  <a:schemeClr val="bg1"/>
                </a:solidFill>
                <a:latin typeface="Inter Medium" pitchFamily="34" charset="0"/>
                <a:ea typeface="Inter Medium" pitchFamily="34" charset="-122"/>
                <a:cs typeface="Inter Medium" pitchFamily="34" charset="-120"/>
              </a:rPr>
              <a:t>Bank A</a:t>
            </a:r>
            <a:endParaRPr lang="en-US" sz="1400" dirty="0"/>
          </a:p>
        </p:txBody>
      </p:sp>
      <p:sp>
        <p:nvSpPr>
          <p:cNvPr id="5" name="Shape 3"/>
          <p:cNvSpPr/>
          <p:nvPr/>
        </p:nvSpPr>
        <p:spPr>
          <a:xfrm>
            <a:off x="3175000" y="2540000"/>
            <a:ext cx="1968500" cy="762000"/>
          </a:xfrm>
          <a:prstGeom prst="line">
            <a:avLst/>
          </a:prstGeom>
          <a:noFill/>
          <a:ln w="31750">
            <a:solidFill>
              <a:srgbClr val="34C48E"/>
            </a:solidFill>
            <a:prstDash val="solid"/>
            <a:tailEnd type="triangle"/>
          </a:ln>
        </p:spPr>
      </p:sp>
      <p:sp>
        <p:nvSpPr>
          <p:cNvPr id="6" name="Pill: Bank B"/>
          <p:cNvSpPr/>
          <p:nvPr/>
        </p:nvSpPr>
        <p:spPr>
          <a:xfrm>
            <a:off x="1270000" y="3048000"/>
            <a:ext cx="1905000" cy="508000"/>
          </a:xfrm>
          <a:prstGeom prst="roundRect">
            <a:avLst>
              <a:gd name="adj" fmla="val 50000"/>
            </a:avLst>
          </a:prstGeom>
          <a:solidFill>
            <a:srgbClr val="1F2622"/>
          </a:solidFill>
          <a:ln w="12700">
            <a:solidFill>
              <a:srgbClr val="2F3A35"/>
            </a:solidFill>
            <a:prstDash val="solid"/>
          </a:ln>
        </p:spPr>
      </p:sp>
      <p:sp>
        <p:nvSpPr>
          <p:cNvPr id="7" name="Text 5"/>
          <p:cNvSpPr txBox="1"/>
          <p:nvPr/>
        </p:nvSpPr>
        <p:spPr>
          <a:xfrm>
            <a:off x="1270000" y="3048000"/>
            <a:ext cx="1905000" cy="508000"/>
          </a:xfrm>
          <a:prstGeom prst="rect">
            <a:avLst/>
          </a:prstGeom>
          <a:noFill/>
          <a:ln/>
        </p:spPr>
        <p:txBody>
          <a:bodyPr wrap="square" lIns="0" tIns="0" rIns="0" bIns="0" rtlCol="0" anchor="ctr"/>
          <a:lstStyle/>
          <a:p>
            <a:pPr algn="ctr" indent="0" marL="0">
              <a:buNone/>
            </a:pPr>
            <a:r>
              <a:rPr lang="en-US" sz="1400" dirty="0">
                <a:solidFill>
                  <a:schemeClr val="bg1"/>
                </a:solidFill>
                <a:latin typeface="Inter Medium" pitchFamily="34" charset="0"/>
                <a:ea typeface="Inter Medium" pitchFamily="34" charset="-122"/>
                <a:cs typeface="Inter Medium" pitchFamily="34" charset="-120"/>
              </a:rPr>
              <a:t>Bank B</a:t>
            </a:r>
            <a:endParaRPr lang="en-US" sz="1400" dirty="0"/>
          </a:p>
        </p:txBody>
      </p:sp>
      <p:sp>
        <p:nvSpPr>
          <p:cNvPr id="8" name="Shape 6"/>
          <p:cNvSpPr/>
          <p:nvPr/>
        </p:nvSpPr>
        <p:spPr>
          <a:xfrm>
            <a:off x="3175000" y="3302000"/>
            <a:ext cx="1968500" cy="0"/>
          </a:xfrm>
          <a:prstGeom prst="line">
            <a:avLst/>
          </a:prstGeom>
          <a:noFill/>
          <a:ln w="31750">
            <a:solidFill>
              <a:srgbClr val="34C48E"/>
            </a:solidFill>
            <a:prstDash val="solid"/>
            <a:tailEnd type="triangle"/>
          </a:ln>
        </p:spPr>
      </p:sp>
      <p:sp>
        <p:nvSpPr>
          <p:cNvPr id="9" name="Pill: Bank C"/>
          <p:cNvSpPr/>
          <p:nvPr/>
        </p:nvSpPr>
        <p:spPr>
          <a:xfrm>
            <a:off x="1270000" y="3810000"/>
            <a:ext cx="1905000" cy="508000"/>
          </a:xfrm>
          <a:prstGeom prst="roundRect">
            <a:avLst>
              <a:gd name="adj" fmla="val 50000"/>
            </a:avLst>
          </a:prstGeom>
          <a:solidFill>
            <a:srgbClr val="1F2622"/>
          </a:solidFill>
          <a:ln w="12700">
            <a:solidFill>
              <a:srgbClr val="2F3A35"/>
            </a:solidFill>
            <a:prstDash val="solid"/>
          </a:ln>
        </p:spPr>
      </p:sp>
      <p:sp>
        <p:nvSpPr>
          <p:cNvPr id="10" name="Text 8"/>
          <p:cNvSpPr txBox="1"/>
          <p:nvPr/>
        </p:nvSpPr>
        <p:spPr>
          <a:xfrm>
            <a:off x="1270000" y="3810000"/>
            <a:ext cx="1905000" cy="508000"/>
          </a:xfrm>
          <a:prstGeom prst="rect">
            <a:avLst/>
          </a:prstGeom>
          <a:noFill/>
          <a:ln/>
        </p:spPr>
        <p:txBody>
          <a:bodyPr wrap="square" lIns="0" tIns="0" rIns="0" bIns="0" rtlCol="0" anchor="ctr"/>
          <a:lstStyle/>
          <a:p>
            <a:pPr algn="ctr" indent="0" marL="0">
              <a:buNone/>
            </a:pPr>
            <a:r>
              <a:rPr lang="en-US" sz="1400" dirty="0">
                <a:solidFill>
                  <a:schemeClr val="bg1"/>
                </a:solidFill>
                <a:latin typeface="Inter Medium" pitchFamily="34" charset="0"/>
                <a:ea typeface="Inter Medium" pitchFamily="34" charset="-122"/>
                <a:cs typeface="Inter Medium" pitchFamily="34" charset="-120"/>
              </a:rPr>
              <a:t>Bank C</a:t>
            </a:r>
            <a:endParaRPr lang="en-US" sz="1400" dirty="0"/>
          </a:p>
        </p:txBody>
      </p:sp>
      <p:sp>
        <p:nvSpPr>
          <p:cNvPr id="11" name="Shape 9"/>
          <p:cNvSpPr/>
          <p:nvPr/>
        </p:nvSpPr>
        <p:spPr>
          <a:xfrm flipV="1">
            <a:off x="3175000" y="3302000"/>
            <a:ext cx="1968500" cy="762000"/>
          </a:xfrm>
          <a:prstGeom prst="line">
            <a:avLst/>
          </a:prstGeom>
          <a:noFill/>
          <a:ln w="31750">
            <a:solidFill>
              <a:srgbClr val="34C48E"/>
            </a:solidFill>
            <a:prstDash val="solid"/>
            <a:tailEnd type="triangle"/>
          </a:ln>
        </p:spPr>
      </p:sp>
      <p:sp>
        <p:nvSpPr>
          <p:cNvPr id="12" name="Gaskiyya registry"/>
          <p:cNvSpPr/>
          <p:nvPr/>
        </p:nvSpPr>
        <p:spPr>
          <a:xfrm>
            <a:off x="5143500" y="2349500"/>
            <a:ext cx="1905000" cy="1905000"/>
          </a:xfrm>
          <a:prstGeom prst="ellipse">
            <a:avLst/>
          </a:prstGeom>
          <a:solidFill>
            <a:srgbClr val="0A7A55"/>
          </a:solidFill>
          <a:ln/>
          <a:effectLst>
            <a:outerShdw sx="100000" sy="100000" kx="0" ky="0" algn="bl" rotWithShape="0" blurRad="228600" dist="76200" dir="5400000">
              <a:srgbClr val="0E1512">
                <a:alpha val="15000"/>
              </a:srgbClr>
            </a:outerShdw>
          </a:effectLst>
        </p:spPr>
      </p:sp>
      <p:pic>
        <p:nvPicPr>
          <p:cNvPr id="13" name="Image 0" descr="Gaskiyya registry">    </p:cNvPr>
          <p:cNvPicPr>
            <a:picLocks noChangeAspect="1"/>
          </p:cNvPicPr>
          <p:nvPr/>
        </p:nvPicPr>
        <p:blipFill>
          <a:blip r:embed="rId1"/>
          <a:stretch>
            <a:fillRect/>
          </a:stretch>
        </p:blipFill>
        <p:spPr>
          <a:xfrm>
            <a:off x="5556250" y="2762250"/>
            <a:ext cx="1079500" cy="1079500"/>
          </a:xfrm>
          <a:prstGeom prst="rect">
            <a:avLst/>
          </a:prstGeom>
        </p:spPr>
      </p:pic>
      <p:sp>
        <p:nvSpPr>
          <p:cNvPr id="14" name="Shape 11"/>
          <p:cNvSpPr/>
          <p:nvPr/>
        </p:nvSpPr>
        <p:spPr>
          <a:xfrm flipV="1">
            <a:off x="7048500" y="2540000"/>
            <a:ext cx="1968500" cy="762000"/>
          </a:xfrm>
          <a:prstGeom prst="line">
            <a:avLst/>
          </a:prstGeom>
          <a:noFill/>
          <a:ln w="31750">
            <a:solidFill>
              <a:srgbClr val="34C48E"/>
            </a:solidFill>
            <a:prstDash val="solid"/>
            <a:tailEnd type="triangle"/>
          </a:ln>
        </p:spPr>
      </p:sp>
      <p:sp>
        <p:nvSpPr>
          <p:cNvPr id="15" name="Pill: Bank or Gaskiyya app"/>
          <p:cNvSpPr/>
          <p:nvPr/>
        </p:nvSpPr>
        <p:spPr>
          <a:xfrm>
            <a:off x="9017000" y="2286000"/>
            <a:ext cx="2362200" cy="508000"/>
          </a:xfrm>
          <a:prstGeom prst="roundRect">
            <a:avLst>
              <a:gd name="adj" fmla="val 50000"/>
            </a:avLst>
          </a:prstGeom>
          <a:solidFill>
            <a:srgbClr val="0A7A55"/>
          </a:solidFill>
          <a:ln/>
        </p:spPr>
      </p:sp>
      <p:sp>
        <p:nvSpPr>
          <p:cNvPr id="16" name="Text 13"/>
          <p:cNvSpPr txBox="1"/>
          <p:nvPr/>
        </p:nvSpPr>
        <p:spPr>
          <a:xfrm>
            <a:off x="9017000" y="2286000"/>
            <a:ext cx="2362200" cy="508000"/>
          </a:xfrm>
          <a:prstGeom prst="rect">
            <a:avLst/>
          </a:prstGeom>
          <a:noFill/>
          <a:ln/>
        </p:spPr>
        <p:txBody>
          <a:bodyPr wrap="square" lIns="0" tIns="0" rIns="0" bIns="0" rtlCol="0" anchor="ctr"/>
          <a:lstStyle/>
          <a:p>
            <a:pPr algn="ctr" indent="0" marL="0">
              <a:buNone/>
            </a:pPr>
            <a:r>
              <a:rPr lang="en-US" sz="1400" dirty="0">
                <a:solidFill>
                  <a:srgbClr val="FFFFFF"/>
                </a:solidFill>
                <a:latin typeface="Inter Medium" pitchFamily="34" charset="0"/>
                <a:ea typeface="Inter Medium" pitchFamily="34" charset="-122"/>
                <a:cs typeface="Inter Medium" pitchFamily="34" charset="-120"/>
              </a:rPr>
              <a:t>Bank or Gaskiyya app</a:t>
            </a:r>
            <a:endParaRPr lang="en-US" sz="1400" dirty="0"/>
          </a:p>
        </p:txBody>
      </p:sp>
      <p:sp>
        <p:nvSpPr>
          <p:cNvPr id="17" name="Shape 14"/>
          <p:cNvSpPr/>
          <p:nvPr/>
        </p:nvSpPr>
        <p:spPr>
          <a:xfrm>
            <a:off x="7048500" y="3302000"/>
            <a:ext cx="1968500" cy="0"/>
          </a:xfrm>
          <a:prstGeom prst="line">
            <a:avLst/>
          </a:prstGeom>
          <a:noFill/>
          <a:ln w="31750">
            <a:solidFill>
              <a:srgbClr val="34C48E"/>
            </a:solidFill>
            <a:prstDash val="solid"/>
            <a:tailEnd type="triangle"/>
          </a:ln>
        </p:spPr>
      </p:sp>
      <p:sp>
        <p:nvSpPr>
          <p:cNvPr id="18" name="Pill: WhatsApp"/>
          <p:cNvSpPr/>
          <p:nvPr/>
        </p:nvSpPr>
        <p:spPr>
          <a:xfrm>
            <a:off x="9017000" y="3048000"/>
            <a:ext cx="2362200" cy="508000"/>
          </a:xfrm>
          <a:prstGeom prst="roundRect">
            <a:avLst>
              <a:gd name="adj" fmla="val 50000"/>
            </a:avLst>
          </a:prstGeom>
          <a:solidFill>
            <a:srgbClr val="0A7A55"/>
          </a:solidFill>
          <a:ln/>
        </p:spPr>
      </p:sp>
      <p:sp>
        <p:nvSpPr>
          <p:cNvPr id="19" name="Text 16"/>
          <p:cNvSpPr txBox="1"/>
          <p:nvPr/>
        </p:nvSpPr>
        <p:spPr>
          <a:xfrm>
            <a:off x="9017000" y="3048000"/>
            <a:ext cx="2362200" cy="508000"/>
          </a:xfrm>
          <a:prstGeom prst="rect">
            <a:avLst/>
          </a:prstGeom>
          <a:noFill/>
          <a:ln/>
        </p:spPr>
        <p:txBody>
          <a:bodyPr wrap="square" lIns="0" tIns="0" rIns="0" bIns="0" rtlCol="0" anchor="ctr"/>
          <a:lstStyle/>
          <a:p>
            <a:pPr algn="ctr" indent="0" marL="0">
              <a:buNone/>
            </a:pPr>
            <a:r>
              <a:rPr lang="en-US" sz="1400" dirty="0">
                <a:solidFill>
                  <a:srgbClr val="FFFFFF"/>
                </a:solidFill>
                <a:latin typeface="Inter Medium" pitchFamily="34" charset="0"/>
                <a:ea typeface="Inter Medium" pitchFamily="34" charset="-122"/>
                <a:cs typeface="Inter Medium" pitchFamily="34" charset="-120"/>
              </a:rPr>
              <a:t>WhatsApp</a:t>
            </a:r>
            <a:endParaRPr lang="en-US" sz="1400" dirty="0"/>
          </a:p>
        </p:txBody>
      </p:sp>
      <p:sp>
        <p:nvSpPr>
          <p:cNvPr id="20" name="Shape 17"/>
          <p:cNvSpPr/>
          <p:nvPr/>
        </p:nvSpPr>
        <p:spPr>
          <a:xfrm>
            <a:off x="7048500" y="3302000"/>
            <a:ext cx="1968500" cy="762000"/>
          </a:xfrm>
          <a:prstGeom prst="line">
            <a:avLst/>
          </a:prstGeom>
          <a:noFill/>
          <a:ln w="31750">
            <a:solidFill>
              <a:srgbClr val="34C48E"/>
            </a:solidFill>
            <a:prstDash val="solid"/>
            <a:tailEnd type="triangle"/>
          </a:ln>
        </p:spPr>
      </p:sp>
      <p:sp>
        <p:nvSpPr>
          <p:cNvPr id="21" name="Pill: USSD on any phone"/>
          <p:cNvSpPr/>
          <p:nvPr/>
        </p:nvSpPr>
        <p:spPr>
          <a:xfrm>
            <a:off x="9017000" y="3810000"/>
            <a:ext cx="2362200" cy="508000"/>
          </a:xfrm>
          <a:prstGeom prst="roundRect">
            <a:avLst>
              <a:gd name="adj" fmla="val 50000"/>
            </a:avLst>
          </a:prstGeom>
          <a:solidFill>
            <a:srgbClr val="0A7A55"/>
          </a:solidFill>
          <a:ln/>
        </p:spPr>
      </p:sp>
      <p:sp>
        <p:nvSpPr>
          <p:cNvPr id="22" name="Text 19"/>
          <p:cNvSpPr txBox="1"/>
          <p:nvPr/>
        </p:nvSpPr>
        <p:spPr>
          <a:xfrm>
            <a:off x="9017000" y="3810000"/>
            <a:ext cx="2362200" cy="508000"/>
          </a:xfrm>
          <a:prstGeom prst="rect">
            <a:avLst/>
          </a:prstGeom>
          <a:noFill/>
          <a:ln/>
        </p:spPr>
        <p:txBody>
          <a:bodyPr wrap="square" lIns="0" tIns="0" rIns="0" bIns="0" rtlCol="0" anchor="ctr"/>
          <a:lstStyle/>
          <a:p>
            <a:pPr algn="ctr" indent="0" marL="0">
              <a:buNone/>
            </a:pPr>
            <a:r>
              <a:rPr lang="en-US" sz="1400" dirty="0">
                <a:solidFill>
                  <a:srgbClr val="FFFFFF"/>
                </a:solidFill>
                <a:latin typeface="Inter Medium" pitchFamily="34" charset="0"/>
                <a:ea typeface="Inter Medium" pitchFamily="34" charset="-122"/>
                <a:cs typeface="Inter Medium" pitchFamily="34" charset="-120"/>
              </a:rPr>
              <a:t>USSD on any phone</a:t>
            </a:r>
            <a:endParaRPr lang="en-US" sz="1400" dirty="0"/>
          </a:p>
        </p:txBody>
      </p:sp>
      <p:sp>
        <p:nvSpPr>
          <p:cNvPr id="23" name="Shape 20"/>
          <p:cNvSpPr/>
          <p:nvPr/>
        </p:nvSpPr>
        <p:spPr>
          <a:xfrm>
            <a:off x="812800" y="5080000"/>
            <a:ext cx="254000" cy="254000"/>
          </a:xfrm>
          <a:prstGeom prst="ellipse">
            <a:avLst/>
          </a:prstGeom>
          <a:solidFill>
            <a:srgbClr val="0A7A55"/>
          </a:solidFill>
          <a:ln/>
        </p:spPr>
      </p:sp>
      <p:pic>
        <p:nvPicPr>
          <p:cNvPr id="24" name="Image 1" descr="preencoded.png">    </p:cNvPr>
          <p:cNvPicPr>
            <a:picLocks noChangeAspect="1"/>
          </p:cNvPicPr>
          <p:nvPr/>
        </p:nvPicPr>
        <p:blipFill>
          <a:blip r:embed="rId2"/>
          <a:stretch>
            <a:fillRect/>
          </a:stretch>
        </p:blipFill>
        <p:spPr>
          <a:xfrm>
            <a:off x="876300" y="5143500"/>
            <a:ext cx="127000" cy="127000"/>
          </a:xfrm>
          <a:prstGeom prst="rect">
            <a:avLst/>
          </a:prstGeom>
        </p:spPr>
      </p:pic>
      <p:sp>
        <p:nvSpPr>
          <p:cNvPr id="25" name="Text 21"/>
          <p:cNvSpPr txBox="1"/>
          <p:nvPr/>
        </p:nvSpPr>
        <p:spPr>
          <a:xfrm>
            <a:off x="1168400" y="5080000"/>
            <a:ext cx="3175000" cy="254000"/>
          </a:xfrm>
          <a:prstGeom prst="rect">
            <a:avLst/>
          </a:prstGeom>
          <a:noFill/>
          <a:ln/>
        </p:spPr>
        <p:txBody>
          <a:bodyPr wrap="square" lIns="0" tIns="0" rIns="0" bIns="0" rtlCol="0" anchor="ctr"/>
          <a:lstStyle/>
          <a:p>
            <a:pPr algn="l" indent="0" marL="0">
              <a:buNone/>
            </a:pPr>
            <a:r>
              <a:rPr lang="en-US" sz="1600" dirty="0">
                <a:solidFill>
                  <a:schemeClr val="bg1"/>
                </a:solidFill>
                <a:latin typeface="Inter" pitchFamily="34" charset="0"/>
                <a:ea typeface="Inter" pitchFamily="34" charset="-122"/>
                <a:cs typeface="Inter" pitchFamily="34" charset="-120"/>
              </a:rPr>
              <a:t>Same API for every bank</a:t>
            </a:r>
            <a:endParaRPr lang="en-US" sz="1600" dirty="0"/>
          </a:p>
        </p:txBody>
      </p:sp>
      <p:sp>
        <p:nvSpPr>
          <p:cNvPr id="26" name="Shape 22"/>
          <p:cNvSpPr/>
          <p:nvPr/>
        </p:nvSpPr>
        <p:spPr>
          <a:xfrm>
            <a:off x="4445000" y="5080000"/>
            <a:ext cx="254000" cy="254000"/>
          </a:xfrm>
          <a:prstGeom prst="ellipse">
            <a:avLst/>
          </a:prstGeom>
          <a:solidFill>
            <a:srgbClr val="0A7A55"/>
          </a:solidFill>
          <a:ln/>
        </p:spPr>
      </p:sp>
      <p:pic>
        <p:nvPicPr>
          <p:cNvPr id="27" name="Image 2" descr="preencoded.png">    </p:cNvPr>
          <p:cNvPicPr>
            <a:picLocks noChangeAspect="1"/>
          </p:cNvPicPr>
          <p:nvPr/>
        </p:nvPicPr>
        <p:blipFill>
          <a:blip r:embed="rId3"/>
          <a:stretch>
            <a:fillRect/>
          </a:stretch>
        </p:blipFill>
        <p:spPr>
          <a:xfrm>
            <a:off x="4508500" y="5143500"/>
            <a:ext cx="127000" cy="127000"/>
          </a:xfrm>
          <a:prstGeom prst="rect">
            <a:avLst/>
          </a:prstGeom>
        </p:spPr>
      </p:pic>
      <p:sp>
        <p:nvSpPr>
          <p:cNvPr id="28" name="Text 23"/>
          <p:cNvSpPr txBox="1"/>
          <p:nvPr/>
        </p:nvSpPr>
        <p:spPr>
          <a:xfrm>
            <a:off x="4800600" y="5080000"/>
            <a:ext cx="3175000" cy="254000"/>
          </a:xfrm>
          <a:prstGeom prst="rect">
            <a:avLst/>
          </a:prstGeom>
          <a:noFill/>
          <a:ln/>
        </p:spPr>
        <p:txBody>
          <a:bodyPr wrap="square" lIns="0" tIns="0" rIns="0" bIns="0" rtlCol="0" anchor="ctr"/>
          <a:lstStyle/>
          <a:p>
            <a:pPr algn="l" indent="0" marL="0">
              <a:buNone/>
            </a:pPr>
            <a:r>
              <a:rPr lang="en-US" sz="1600" dirty="0">
                <a:solidFill>
                  <a:schemeClr val="bg1"/>
                </a:solidFill>
                <a:latin typeface="Inter" pitchFamily="34" charset="0"/>
                <a:ea typeface="Inter" pitchFamily="34" charset="-122"/>
                <a:cs typeface="Inter" pitchFamily="34" charset="-120"/>
              </a:rPr>
              <a:t>Each bank keeps its own keys</a:t>
            </a:r>
            <a:endParaRPr lang="en-US" sz="1600" dirty="0"/>
          </a:p>
        </p:txBody>
      </p:sp>
      <p:sp>
        <p:nvSpPr>
          <p:cNvPr id="29" name="Shape 24"/>
          <p:cNvSpPr/>
          <p:nvPr/>
        </p:nvSpPr>
        <p:spPr>
          <a:xfrm>
            <a:off x="8077200" y="5080000"/>
            <a:ext cx="254000" cy="254000"/>
          </a:xfrm>
          <a:prstGeom prst="ellipse">
            <a:avLst/>
          </a:prstGeom>
          <a:solidFill>
            <a:srgbClr val="0A7A55"/>
          </a:solidFill>
          <a:ln/>
        </p:spPr>
      </p:sp>
      <p:pic>
        <p:nvPicPr>
          <p:cNvPr id="30" name="Image 3" descr="preencoded.png">    </p:cNvPr>
          <p:cNvPicPr>
            <a:picLocks noChangeAspect="1"/>
          </p:cNvPicPr>
          <p:nvPr/>
        </p:nvPicPr>
        <p:blipFill>
          <a:blip r:embed="rId4"/>
          <a:stretch>
            <a:fillRect/>
          </a:stretch>
        </p:blipFill>
        <p:spPr>
          <a:xfrm>
            <a:off x="8140700" y="5143500"/>
            <a:ext cx="127000" cy="127000"/>
          </a:xfrm>
          <a:prstGeom prst="rect">
            <a:avLst/>
          </a:prstGeom>
        </p:spPr>
      </p:pic>
      <p:sp>
        <p:nvSpPr>
          <p:cNvPr id="31" name="Text 25"/>
          <p:cNvSpPr txBox="1"/>
          <p:nvPr/>
        </p:nvSpPr>
        <p:spPr>
          <a:xfrm>
            <a:off x="8432800" y="5080000"/>
            <a:ext cx="3175000" cy="254000"/>
          </a:xfrm>
          <a:prstGeom prst="rect">
            <a:avLst/>
          </a:prstGeom>
          <a:noFill/>
          <a:ln/>
        </p:spPr>
        <p:txBody>
          <a:bodyPr wrap="square" lIns="0" tIns="0" rIns="0" bIns="0" rtlCol="0" anchor="ctr"/>
          <a:lstStyle/>
          <a:p>
            <a:pPr algn="l" indent="0" marL="0">
              <a:buNone/>
            </a:pPr>
            <a:r>
              <a:rPr lang="en-US" sz="1600" dirty="0">
                <a:solidFill>
                  <a:schemeClr val="bg1"/>
                </a:solidFill>
                <a:latin typeface="Inter" pitchFamily="34" charset="0"/>
                <a:ea typeface="Inter" pitchFamily="34" charset="-122"/>
                <a:cs typeface="Inter" pitchFamily="34" charset="-120"/>
              </a:rPr>
              <a:t>Customers check every bank in one place</a:t>
            </a:r>
            <a:endParaRPr lang="en-US" sz="1600" dirty="0"/>
          </a:p>
        </p:txBody>
      </p:sp>
      <p:sp>
        <p:nvSpPr>
          <p:cNvPr id="25" name="Slide Number Placeholder 0"/>
          <p:cNvSpPr>
            <a:spLocks noGrp="1"/>
          </p:cNvSpPr>
          <p:nvPr>
            <p:ph type="sldNum" sz="quarter" idx="4294967295"/>
          </p:nvPr>
        </p:nvSpPr>
        <p:spPr>
          <a:xfrm>
            <a:off x="10617200" y="6299200"/>
            <a:ext cx="762000" cy="20320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latin typeface="Inter Medium"/>
                <a:ea typeface="Inter Medium"/>
                <a:cs typeface="Inter Medium"/>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812800" y="711200"/>
            <a:ext cx="10566400" cy="508000"/>
          </a:xfrm>
          <a:prstGeom prst="rect">
            <a:avLst/>
          </a:prstGeom>
          <a:noFill/>
          <a:ln/>
        </p:spPr>
        <p:txBody>
          <a:bodyPr wrap="square" lIns="0" tIns="0" rIns="0" bIns="0" rtlCol="0" anchor="t"/>
          <a:lstStyle/>
          <a:p>
            <a:pPr algn="l" indent="0" marL="0">
              <a:buNone/>
            </a:pPr>
            <a:r>
              <a:rPr lang="en-US" sz="3200" dirty="0">
                <a:solidFill>
                  <a:schemeClr val="tx1"/>
                </a:solidFill>
                <a:latin typeface="Inter Display SemiBold" pitchFamily="34" charset="0"/>
                <a:ea typeface="Inter Display SemiBold" pitchFamily="34" charset="-122"/>
                <a:cs typeface="Inter Display SemiBold" pitchFamily="34" charset="-120"/>
              </a:rPr>
              <a:t>The next three months</a:t>
            </a:r>
            <a:endParaRPr lang="en-US" sz="3200" dirty="0"/>
          </a:p>
        </p:txBody>
      </p:sp>
      <p:sp>
        <p:nvSpPr>
          <p:cNvPr id="3" name="Shape 1"/>
          <p:cNvSpPr/>
          <p:nvPr/>
        </p:nvSpPr>
        <p:spPr>
          <a:xfrm>
            <a:off x="2019300" y="3048000"/>
            <a:ext cx="8153400" cy="0"/>
          </a:xfrm>
          <a:prstGeom prst="line">
            <a:avLst/>
          </a:prstGeom>
          <a:noFill/>
          <a:ln w="38100">
            <a:solidFill>
              <a:srgbClr val="DAD8D2"/>
            </a:solidFill>
            <a:prstDash val="solid"/>
          </a:ln>
        </p:spPr>
      </p:sp>
      <p:sp>
        <p:nvSpPr>
          <p:cNvPr id="4" name="Shape 2"/>
          <p:cNvSpPr/>
          <p:nvPr/>
        </p:nvSpPr>
        <p:spPr>
          <a:xfrm>
            <a:off x="2019300" y="3048000"/>
            <a:ext cx="2717800" cy="0"/>
          </a:xfrm>
          <a:prstGeom prst="line">
            <a:avLst/>
          </a:prstGeom>
          <a:noFill/>
          <a:ln w="38100">
            <a:solidFill>
              <a:srgbClr val="0A7A55"/>
            </a:solidFill>
            <a:prstDash val="solid"/>
          </a:ln>
        </p:spPr>
      </p:sp>
      <p:sp>
        <p:nvSpPr>
          <p:cNvPr id="5" name="Text 3"/>
          <p:cNvSpPr txBox="1"/>
          <p:nvPr/>
        </p:nvSpPr>
        <p:spPr>
          <a:xfrm>
            <a:off x="812800" y="2413000"/>
            <a:ext cx="2413000" cy="190500"/>
          </a:xfrm>
          <a:prstGeom prst="rect">
            <a:avLst/>
          </a:prstGeom>
          <a:noFill/>
          <a:ln/>
        </p:spPr>
        <p:txBody>
          <a:bodyPr wrap="square" lIns="0" tIns="0" rIns="0" bIns="0" rtlCol="0" anchor="t"/>
          <a:lstStyle/>
          <a:p>
            <a:pPr algn="ctr" indent="0" marL="0">
              <a:buNone/>
            </a:pPr>
            <a:r>
              <a:rPr lang="en-US" sz="1400" dirty="0">
                <a:solidFill>
                  <a:schemeClr val="accent1"/>
                </a:solidFill>
                <a:latin typeface="Inter Medium" pitchFamily="34" charset="0"/>
                <a:ea typeface="Inter Medium" pitchFamily="34" charset="-122"/>
                <a:cs typeface="Inter Medium" pitchFamily="34" charset="-120"/>
              </a:rPr>
              <a:t>Built in 3 days</a:t>
            </a:r>
            <a:endParaRPr lang="en-US" sz="1400" dirty="0"/>
          </a:p>
        </p:txBody>
      </p:sp>
      <p:sp>
        <p:nvSpPr>
          <p:cNvPr id="6" name="Shape 4"/>
          <p:cNvSpPr/>
          <p:nvPr/>
        </p:nvSpPr>
        <p:spPr>
          <a:xfrm>
            <a:off x="1816100" y="2844800"/>
            <a:ext cx="406400" cy="406400"/>
          </a:xfrm>
          <a:prstGeom prst="ellipse">
            <a:avLst/>
          </a:prstGeom>
          <a:solidFill>
            <a:srgbClr val="0A7A55"/>
          </a:solidFill>
          <a:ln w="38100">
            <a:solidFill>
              <a:srgbClr val="0A7A55"/>
            </a:solidFill>
            <a:prstDash val="solid"/>
          </a:ln>
        </p:spPr>
      </p:sp>
      <p:pic>
        <p:nvPicPr>
          <p:cNvPr id="7" name="Image 0" descr="preencoded.png">    </p:cNvPr>
          <p:cNvPicPr>
            <a:picLocks noChangeAspect="1"/>
          </p:cNvPicPr>
          <p:nvPr/>
        </p:nvPicPr>
        <p:blipFill>
          <a:blip r:embed="rId1"/>
          <a:stretch>
            <a:fillRect/>
          </a:stretch>
        </p:blipFill>
        <p:spPr>
          <a:xfrm>
            <a:off x="1930400" y="2959100"/>
            <a:ext cx="177800" cy="177800"/>
          </a:xfrm>
          <a:prstGeom prst="rect">
            <a:avLst/>
          </a:prstGeom>
        </p:spPr>
      </p:pic>
      <p:sp>
        <p:nvSpPr>
          <p:cNvPr id="8" name="Text 5"/>
          <p:cNvSpPr txBox="1"/>
          <p:nvPr/>
        </p:nvSpPr>
        <p:spPr>
          <a:xfrm>
            <a:off x="812800" y="3454400"/>
            <a:ext cx="2413000" cy="254000"/>
          </a:xfrm>
          <a:prstGeom prst="rect">
            <a:avLst/>
          </a:prstGeom>
          <a:noFill/>
          <a:ln/>
        </p:spPr>
        <p:txBody>
          <a:bodyPr wrap="square" lIns="0" tIns="0" rIns="0" bIns="0" rtlCol="0" anchor="t"/>
          <a:lstStyle/>
          <a:p>
            <a:pPr algn="ctr" indent="0" marL="0">
              <a:buNone/>
            </a:pPr>
            <a:r>
              <a:rPr lang="en-US" sz="2000" dirty="0">
                <a:solidFill>
                  <a:schemeClr val="tx1"/>
                </a:solidFill>
                <a:latin typeface="Inter Display SemiBold" pitchFamily="34" charset="0"/>
                <a:ea typeface="Inter Display SemiBold" pitchFamily="34" charset="-122"/>
                <a:cs typeface="Inter Display SemiBold" pitchFamily="34" charset="-120"/>
              </a:rPr>
              <a:t>Done</a:t>
            </a:r>
            <a:endParaRPr lang="en-US" sz="2000" dirty="0"/>
          </a:p>
        </p:txBody>
      </p:sp>
      <p:sp>
        <p:nvSpPr>
          <p:cNvPr id="9" name="Text 6"/>
          <p:cNvSpPr txBox="1"/>
          <p:nvPr/>
        </p:nvSpPr>
        <p:spPr>
          <a:xfrm>
            <a:off x="812800" y="3784600"/>
            <a:ext cx="2413000" cy="889000"/>
          </a:xfrm>
          <a:prstGeom prst="rect">
            <a:avLst/>
          </a:prstGeom>
          <a:noFill/>
          <a:ln/>
        </p:spPr>
        <p:txBody>
          <a:bodyPr wrap="square" lIns="0" tIns="0" rIns="0" bIns="0" rtlCol="0" anchor="t"/>
          <a:lstStyle/>
          <a:p>
            <a:pPr algn="ctr" indent="0" marL="0">
              <a:lnSpc>
                <a:spcPct val="135000"/>
              </a:lnSpc>
              <a:buNone/>
            </a:pPr>
            <a:r>
              <a:rPr lang="en-US" sz="1400" dirty="0">
                <a:solidFill>
                  <a:schemeClr val="tx2"/>
                </a:solidFill>
                <a:latin typeface="Inter" pitchFamily="34" charset="0"/>
                <a:ea typeface="Inter" pitchFamily="34" charset="-122"/>
                <a:cs typeface="Inter" pitchFamily="34" charset="-120"/>
              </a:rPr>
              <a:t>Registry live on AWS</a:t>
            </a:r>
            <a:endParaRPr lang="en-US" sz="1400" dirty="0"/>
          </a:p>
          <a:p>
            <a:pPr algn="ctr" indent="0" marL="0">
              <a:lnSpc>
                <a:spcPct val="135000"/>
              </a:lnSpc>
              <a:buNone/>
            </a:pPr>
            <a:r>
              <a:rPr lang="en-US" sz="1400" dirty="0">
                <a:solidFill>
                  <a:schemeClr val="tx2"/>
                </a:solidFill>
                <a:latin typeface="Inter" pitchFamily="34" charset="0"/>
                <a:ea typeface="Inter" pitchFamily="34" charset="-122"/>
                <a:cs typeface="Inter" pitchFamily="34" charset="-120"/>
              </a:rPr>
              <a:t>iOS and Android app</a:t>
            </a:r>
            <a:endParaRPr lang="en-US" sz="1400" dirty="0"/>
          </a:p>
          <a:p>
            <a:pPr algn="ctr" indent="0" marL="0">
              <a:lnSpc>
                <a:spcPct val="135000"/>
              </a:lnSpc>
              <a:buNone/>
            </a:pPr>
            <a:r>
              <a:rPr lang="en-US" sz="1400" dirty="0">
                <a:solidFill>
                  <a:schemeClr val="tx2"/>
                </a:solidFill>
                <a:latin typeface="Inter" pitchFamily="34" charset="0"/>
                <a:ea typeface="Inter" pitchFamily="34" charset="-122"/>
                <a:cs typeface="Inter" pitchFamily="34" charset="-120"/>
              </a:rPr>
              <a:t>WhatsApp, USSD, CI/CD</a:t>
            </a:r>
            <a:endParaRPr lang="en-US" sz="1400" dirty="0"/>
          </a:p>
        </p:txBody>
      </p:sp>
      <p:sp>
        <p:nvSpPr>
          <p:cNvPr id="10" name="Text 7"/>
          <p:cNvSpPr txBox="1"/>
          <p:nvPr/>
        </p:nvSpPr>
        <p:spPr>
          <a:xfrm>
            <a:off x="3530600" y="2413000"/>
            <a:ext cx="2413000" cy="190500"/>
          </a:xfrm>
          <a:prstGeom prst="rect">
            <a:avLst/>
          </a:prstGeom>
          <a:noFill/>
          <a:ln/>
        </p:spPr>
        <p:txBody>
          <a:bodyPr wrap="square" lIns="0" tIns="0" rIns="0" bIns="0" rtlCol="0" anchor="t"/>
          <a:lstStyle/>
          <a:p>
            <a:pPr algn="ctr" indent="0" marL="0">
              <a:buNone/>
            </a:pPr>
            <a:r>
              <a:rPr lang="en-US" sz="1400" dirty="0">
                <a:solidFill>
                  <a:schemeClr val="tx2"/>
                </a:solidFill>
                <a:latin typeface="Inter Medium" pitchFamily="34" charset="0"/>
                <a:ea typeface="Inter Medium" pitchFamily="34" charset="-122"/>
                <a:cs typeface="Inter Medium" pitchFamily="34" charset="-120"/>
              </a:rPr>
              <a:t>Month 1</a:t>
            </a:r>
            <a:endParaRPr lang="en-US" sz="1400" dirty="0"/>
          </a:p>
        </p:txBody>
      </p:sp>
      <p:sp>
        <p:nvSpPr>
          <p:cNvPr id="11" name="Shape 8"/>
          <p:cNvSpPr/>
          <p:nvPr/>
        </p:nvSpPr>
        <p:spPr>
          <a:xfrm>
            <a:off x="4533900" y="2844800"/>
            <a:ext cx="406400" cy="406400"/>
          </a:xfrm>
          <a:prstGeom prst="ellipse">
            <a:avLst/>
          </a:prstGeom>
          <a:solidFill>
            <a:srgbClr val="FFFFFF"/>
          </a:solidFill>
          <a:ln w="38100">
            <a:solidFill>
              <a:srgbClr val="0A7A55"/>
            </a:solidFill>
            <a:prstDash val="solid"/>
          </a:ln>
        </p:spPr>
      </p:sp>
      <p:sp>
        <p:nvSpPr>
          <p:cNvPr id="12" name="Text 9"/>
          <p:cNvSpPr txBox="1"/>
          <p:nvPr/>
        </p:nvSpPr>
        <p:spPr>
          <a:xfrm>
            <a:off x="4533900" y="2844800"/>
            <a:ext cx="406400" cy="406400"/>
          </a:xfrm>
          <a:prstGeom prst="rect">
            <a:avLst/>
          </a:prstGeom>
          <a:noFill/>
          <a:ln/>
        </p:spPr>
        <p:txBody>
          <a:bodyPr wrap="square" lIns="0" tIns="0" rIns="0" bIns="0" rtlCol="0" anchor="ctr"/>
          <a:lstStyle/>
          <a:p>
            <a:pPr algn="ctr" indent="0" marL="0">
              <a:buNone/>
            </a:pPr>
            <a:r>
              <a:rPr lang="en-US" sz="1800" dirty="0">
                <a:solidFill>
                  <a:schemeClr val="accent1"/>
                </a:solidFill>
                <a:latin typeface="Inter SemiBold" pitchFamily="34" charset="0"/>
                <a:ea typeface="Inter SemiBold" pitchFamily="34" charset="-122"/>
                <a:cs typeface="Inter SemiBold" pitchFamily="34" charset="-120"/>
              </a:rPr>
              <a:t>1</a:t>
            </a:r>
            <a:endParaRPr lang="en-US" sz="1800" dirty="0"/>
          </a:p>
        </p:txBody>
      </p:sp>
      <p:sp>
        <p:nvSpPr>
          <p:cNvPr id="13" name="Text 10"/>
          <p:cNvSpPr txBox="1"/>
          <p:nvPr/>
        </p:nvSpPr>
        <p:spPr>
          <a:xfrm>
            <a:off x="3530600" y="3454400"/>
            <a:ext cx="2413000" cy="254000"/>
          </a:xfrm>
          <a:prstGeom prst="rect">
            <a:avLst/>
          </a:prstGeom>
          <a:noFill/>
          <a:ln/>
        </p:spPr>
        <p:txBody>
          <a:bodyPr wrap="square" lIns="0" tIns="0" rIns="0" bIns="0" rtlCol="0" anchor="t"/>
          <a:lstStyle/>
          <a:p>
            <a:pPr algn="ctr" indent="0" marL="0">
              <a:buNone/>
            </a:pPr>
            <a:r>
              <a:rPr lang="en-US" sz="2000" dirty="0">
                <a:solidFill>
                  <a:schemeClr val="tx1"/>
                </a:solidFill>
                <a:latin typeface="Inter Display SemiBold" pitchFamily="34" charset="0"/>
                <a:ea typeface="Inter Display SemiBold" pitchFamily="34" charset="-122"/>
                <a:cs typeface="Inter Display SemiBold" pitchFamily="34" charset="-120"/>
              </a:rPr>
              <a:t>Validate</a:t>
            </a:r>
            <a:endParaRPr lang="en-US" sz="2000" dirty="0"/>
          </a:p>
        </p:txBody>
      </p:sp>
      <p:sp>
        <p:nvSpPr>
          <p:cNvPr id="14" name="Text 11"/>
          <p:cNvSpPr txBox="1"/>
          <p:nvPr/>
        </p:nvSpPr>
        <p:spPr>
          <a:xfrm>
            <a:off x="3530600" y="3784600"/>
            <a:ext cx="2413000" cy="889000"/>
          </a:xfrm>
          <a:prstGeom prst="rect">
            <a:avLst/>
          </a:prstGeom>
          <a:noFill/>
          <a:ln/>
        </p:spPr>
        <p:txBody>
          <a:bodyPr wrap="square" lIns="0" tIns="0" rIns="0" bIns="0" rtlCol="0" anchor="t"/>
          <a:lstStyle/>
          <a:p>
            <a:pPr algn="ctr" indent="0" marL="0">
              <a:lnSpc>
                <a:spcPct val="135000"/>
              </a:lnSpc>
              <a:buNone/>
            </a:pPr>
            <a:r>
              <a:rPr lang="en-US" sz="1400" dirty="0">
                <a:solidFill>
                  <a:schemeClr val="tx2"/>
                </a:solidFill>
                <a:latin typeface="Inter" pitchFamily="34" charset="0"/>
                <a:ea typeface="Inter" pitchFamily="34" charset="-122"/>
                <a:cs typeface="Inter" pitchFamily="34" charset="-120"/>
              </a:rPr>
              <a:t>Test with real users</a:t>
            </a:r>
            <a:endParaRPr lang="en-US" sz="1400" dirty="0"/>
          </a:p>
          <a:p>
            <a:pPr algn="ctr" indent="0" marL="0">
              <a:lnSpc>
                <a:spcPct val="135000"/>
              </a:lnSpc>
              <a:buNone/>
            </a:pPr>
            <a:r>
              <a:rPr lang="en-US" sz="1400" dirty="0">
                <a:solidFill>
                  <a:schemeClr val="tx2"/>
                </a:solidFill>
                <a:latin typeface="Inter" pitchFamily="34" charset="0"/>
                <a:ea typeface="Inter" pitchFamily="34" charset="-122"/>
                <a:cs typeface="Inter" pitchFamily="34" charset="-120"/>
              </a:rPr>
              <a:t>Make every result clear</a:t>
            </a:r>
            <a:endParaRPr lang="en-US" sz="1400" dirty="0"/>
          </a:p>
        </p:txBody>
      </p:sp>
      <p:sp>
        <p:nvSpPr>
          <p:cNvPr id="15" name="Text 12"/>
          <p:cNvSpPr txBox="1"/>
          <p:nvPr/>
        </p:nvSpPr>
        <p:spPr>
          <a:xfrm>
            <a:off x="6248400" y="2413000"/>
            <a:ext cx="2413000" cy="190500"/>
          </a:xfrm>
          <a:prstGeom prst="rect">
            <a:avLst/>
          </a:prstGeom>
          <a:noFill/>
          <a:ln/>
        </p:spPr>
        <p:txBody>
          <a:bodyPr wrap="square" lIns="0" tIns="0" rIns="0" bIns="0" rtlCol="0" anchor="t"/>
          <a:lstStyle/>
          <a:p>
            <a:pPr algn="ctr" indent="0" marL="0">
              <a:buNone/>
            </a:pPr>
            <a:r>
              <a:rPr lang="en-US" sz="1400" dirty="0">
                <a:solidFill>
                  <a:schemeClr val="tx2"/>
                </a:solidFill>
                <a:latin typeface="Inter Medium" pitchFamily="34" charset="0"/>
                <a:ea typeface="Inter Medium" pitchFamily="34" charset="-122"/>
                <a:cs typeface="Inter Medium" pitchFamily="34" charset="-120"/>
              </a:rPr>
              <a:t>Month 2</a:t>
            </a:r>
            <a:endParaRPr lang="en-US" sz="1400" dirty="0"/>
          </a:p>
        </p:txBody>
      </p:sp>
      <p:sp>
        <p:nvSpPr>
          <p:cNvPr id="16" name="Shape 13"/>
          <p:cNvSpPr/>
          <p:nvPr/>
        </p:nvSpPr>
        <p:spPr>
          <a:xfrm>
            <a:off x="7251700" y="2844800"/>
            <a:ext cx="406400" cy="406400"/>
          </a:xfrm>
          <a:prstGeom prst="ellipse">
            <a:avLst/>
          </a:prstGeom>
          <a:solidFill>
            <a:srgbClr val="FFFFFF"/>
          </a:solidFill>
          <a:ln w="38100">
            <a:solidFill>
              <a:srgbClr val="0A7A55"/>
            </a:solidFill>
            <a:prstDash val="solid"/>
          </a:ln>
        </p:spPr>
      </p:sp>
      <p:sp>
        <p:nvSpPr>
          <p:cNvPr id="17" name="Text 14"/>
          <p:cNvSpPr txBox="1"/>
          <p:nvPr/>
        </p:nvSpPr>
        <p:spPr>
          <a:xfrm>
            <a:off x="7251700" y="2844800"/>
            <a:ext cx="406400" cy="406400"/>
          </a:xfrm>
          <a:prstGeom prst="rect">
            <a:avLst/>
          </a:prstGeom>
          <a:noFill/>
          <a:ln/>
        </p:spPr>
        <p:txBody>
          <a:bodyPr wrap="square" lIns="0" tIns="0" rIns="0" bIns="0" rtlCol="0" anchor="ctr"/>
          <a:lstStyle/>
          <a:p>
            <a:pPr algn="ctr" indent="0" marL="0">
              <a:buNone/>
            </a:pPr>
            <a:r>
              <a:rPr lang="en-US" sz="1800" dirty="0">
                <a:solidFill>
                  <a:schemeClr val="accent1"/>
                </a:solidFill>
                <a:latin typeface="Inter SemiBold" pitchFamily="34" charset="0"/>
                <a:ea typeface="Inter SemiBold" pitchFamily="34" charset="-122"/>
                <a:cs typeface="Inter SemiBold" pitchFamily="34" charset="-120"/>
              </a:rPr>
              <a:t>2</a:t>
            </a:r>
            <a:endParaRPr lang="en-US" sz="1800" dirty="0"/>
          </a:p>
        </p:txBody>
      </p:sp>
      <p:sp>
        <p:nvSpPr>
          <p:cNvPr id="18" name="Text 15"/>
          <p:cNvSpPr txBox="1"/>
          <p:nvPr/>
        </p:nvSpPr>
        <p:spPr>
          <a:xfrm>
            <a:off x="6248400" y="3454400"/>
            <a:ext cx="2413000" cy="254000"/>
          </a:xfrm>
          <a:prstGeom prst="rect">
            <a:avLst/>
          </a:prstGeom>
          <a:noFill/>
          <a:ln/>
        </p:spPr>
        <p:txBody>
          <a:bodyPr wrap="square" lIns="0" tIns="0" rIns="0" bIns="0" rtlCol="0" anchor="t"/>
          <a:lstStyle/>
          <a:p>
            <a:pPr algn="ctr" indent="0" marL="0">
              <a:buNone/>
            </a:pPr>
            <a:r>
              <a:rPr lang="en-US" sz="2000" dirty="0">
                <a:solidFill>
                  <a:schemeClr val="tx1"/>
                </a:solidFill>
                <a:latin typeface="Inter Display SemiBold" pitchFamily="34" charset="0"/>
                <a:ea typeface="Inter Display SemiBold" pitchFamily="34" charset="-122"/>
                <a:cs typeface="Inter Display SemiBold" pitchFamily="34" charset="-120"/>
              </a:rPr>
              <a:t>Strengthen</a:t>
            </a:r>
            <a:endParaRPr lang="en-US" sz="2000" dirty="0"/>
          </a:p>
        </p:txBody>
      </p:sp>
      <p:sp>
        <p:nvSpPr>
          <p:cNvPr id="19" name="Text 16"/>
          <p:cNvSpPr txBox="1"/>
          <p:nvPr/>
        </p:nvSpPr>
        <p:spPr>
          <a:xfrm>
            <a:off x="6248400" y="3784600"/>
            <a:ext cx="2413000" cy="889000"/>
          </a:xfrm>
          <a:prstGeom prst="rect">
            <a:avLst/>
          </a:prstGeom>
          <a:noFill/>
          <a:ln/>
        </p:spPr>
        <p:txBody>
          <a:bodyPr wrap="square" lIns="0" tIns="0" rIns="0" bIns="0" rtlCol="0" anchor="t"/>
          <a:lstStyle/>
          <a:p>
            <a:pPr algn="ctr" indent="0" marL="0">
              <a:lnSpc>
                <a:spcPct val="135000"/>
              </a:lnSpc>
              <a:buNone/>
            </a:pPr>
            <a:r>
              <a:rPr lang="en-US" sz="1400" dirty="0">
                <a:solidFill>
                  <a:schemeClr val="tx2"/>
                </a:solidFill>
                <a:latin typeface="Inter" pitchFamily="34" charset="0"/>
                <a:ea typeface="Inter" pitchFamily="34" charset="-122"/>
                <a:cs typeface="Inter" pitchFamily="34" charset="-120"/>
              </a:rPr>
              <a:t>Security and privacy review</a:t>
            </a:r>
            <a:endParaRPr lang="en-US" sz="1400" dirty="0"/>
          </a:p>
          <a:p>
            <a:pPr algn="ctr" indent="0" marL="0">
              <a:lnSpc>
                <a:spcPct val="135000"/>
              </a:lnSpc>
              <a:buNone/>
            </a:pPr>
            <a:r>
              <a:rPr lang="en-US" sz="1400" dirty="0">
                <a:solidFill>
                  <a:schemeClr val="tx2"/>
                </a:solidFill>
                <a:latin typeface="Inter" pitchFamily="34" charset="0"/>
                <a:ea typeface="Inter" pitchFamily="34" charset="-122"/>
                <a:cs typeface="Inter" pitchFamily="34" charset="-120"/>
              </a:rPr>
              <a:t>Bank integration requirements</a:t>
            </a:r>
            <a:endParaRPr lang="en-US" sz="1400" dirty="0"/>
          </a:p>
        </p:txBody>
      </p:sp>
      <p:sp>
        <p:nvSpPr>
          <p:cNvPr id="20" name="Text 17"/>
          <p:cNvSpPr txBox="1"/>
          <p:nvPr/>
        </p:nvSpPr>
        <p:spPr>
          <a:xfrm>
            <a:off x="8966200" y="2413000"/>
            <a:ext cx="2413000" cy="190500"/>
          </a:xfrm>
          <a:prstGeom prst="rect">
            <a:avLst/>
          </a:prstGeom>
          <a:noFill/>
          <a:ln/>
        </p:spPr>
        <p:txBody>
          <a:bodyPr wrap="square" lIns="0" tIns="0" rIns="0" bIns="0" rtlCol="0" anchor="t"/>
          <a:lstStyle/>
          <a:p>
            <a:pPr algn="ctr" indent="0" marL="0">
              <a:buNone/>
            </a:pPr>
            <a:r>
              <a:rPr lang="en-US" sz="1400" dirty="0">
                <a:solidFill>
                  <a:schemeClr val="tx2"/>
                </a:solidFill>
                <a:latin typeface="Inter Medium" pitchFamily="34" charset="0"/>
                <a:ea typeface="Inter Medium" pitchFamily="34" charset="-122"/>
                <a:cs typeface="Inter Medium" pitchFamily="34" charset="-120"/>
              </a:rPr>
              <a:t>Month 3</a:t>
            </a:r>
            <a:endParaRPr lang="en-US" sz="1400" dirty="0"/>
          </a:p>
        </p:txBody>
      </p:sp>
      <p:sp>
        <p:nvSpPr>
          <p:cNvPr id="21" name="Shape 18"/>
          <p:cNvSpPr/>
          <p:nvPr/>
        </p:nvSpPr>
        <p:spPr>
          <a:xfrm>
            <a:off x="9969500" y="2844800"/>
            <a:ext cx="406400" cy="406400"/>
          </a:xfrm>
          <a:prstGeom prst="ellipse">
            <a:avLst/>
          </a:prstGeom>
          <a:solidFill>
            <a:srgbClr val="FFFFFF"/>
          </a:solidFill>
          <a:ln w="38100">
            <a:solidFill>
              <a:srgbClr val="0A7A55"/>
            </a:solidFill>
            <a:prstDash val="solid"/>
          </a:ln>
        </p:spPr>
      </p:sp>
      <p:sp>
        <p:nvSpPr>
          <p:cNvPr id="22" name="Text 19"/>
          <p:cNvSpPr txBox="1"/>
          <p:nvPr/>
        </p:nvSpPr>
        <p:spPr>
          <a:xfrm>
            <a:off x="9969500" y="2844800"/>
            <a:ext cx="406400" cy="406400"/>
          </a:xfrm>
          <a:prstGeom prst="rect">
            <a:avLst/>
          </a:prstGeom>
          <a:noFill/>
          <a:ln/>
        </p:spPr>
        <p:txBody>
          <a:bodyPr wrap="square" lIns="0" tIns="0" rIns="0" bIns="0" rtlCol="0" anchor="ctr"/>
          <a:lstStyle/>
          <a:p>
            <a:pPr algn="ctr" indent="0" marL="0">
              <a:buNone/>
            </a:pPr>
            <a:r>
              <a:rPr lang="en-US" sz="1800" dirty="0">
                <a:solidFill>
                  <a:schemeClr val="accent1"/>
                </a:solidFill>
                <a:latin typeface="Inter SemiBold" pitchFamily="34" charset="0"/>
                <a:ea typeface="Inter SemiBold" pitchFamily="34" charset="-122"/>
                <a:cs typeface="Inter SemiBold" pitchFamily="34" charset="-120"/>
              </a:rPr>
              <a:t>3</a:t>
            </a:r>
            <a:endParaRPr lang="en-US" sz="1800" dirty="0"/>
          </a:p>
        </p:txBody>
      </p:sp>
      <p:sp>
        <p:nvSpPr>
          <p:cNvPr id="23" name="Text 20"/>
          <p:cNvSpPr txBox="1"/>
          <p:nvPr/>
        </p:nvSpPr>
        <p:spPr>
          <a:xfrm>
            <a:off x="8966200" y="3454400"/>
            <a:ext cx="2413000" cy="254000"/>
          </a:xfrm>
          <a:prstGeom prst="rect">
            <a:avLst/>
          </a:prstGeom>
          <a:noFill/>
          <a:ln/>
        </p:spPr>
        <p:txBody>
          <a:bodyPr wrap="square" lIns="0" tIns="0" rIns="0" bIns="0" rtlCol="0" anchor="t"/>
          <a:lstStyle/>
          <a:p>
            <a:pPr algn="ctr" indent="0" marL="0">
              <a:buNone/>
            </a:pPr>
            <a:r>
              <a:rPr lang="en-US" sz="2000" dirty="0">
                <a:solidFill>
                  <a:schemeClr val="tx1"/>
                </a:solidFill>
                <a:latin typeface="Inter Display SemiBold" pitchFamily="34" charset="0"/>
                <a:ea typeface="Inter Display SemiBold" pitchFamily="34" charset="-122"/>
                <a:cs typeface="Inter Display SemiBold" pitchFamily="34" charset="-120"/>
              </a:rPr>
              <a:t>Pilot</a:t>
            </a:r>
            <a:endParaRPr lang="en-US" sz="2000" dirty="0"/>
          </a:p>
        </p:txBody>
      </p:sp>
      <p:sp>
        <p:nvSpPr>
          <p:cNvPr id="24" name="Text 21"/>
          <p:cNvSpPr txBox="1"/>
          <p:nvPr/>
        </p:nvSpPr>
        <p:spPr>
          <a:xfrm>
            <a:off x="8966200" y="3784600"/>
            <a:ext cx="2413000" cy="889000"/>
          </a:xfrm>
          <a:prstGeom prst="rect">
            <a:avLst/>
          </a:prstGeom>
          <a:noFill/>
          <a:ln/>
        </p:spPr>
        <p:txBody>
          <a:bodyPr wrap="square" lIns="0" tIns="0" rIns="0" bIns="0" rtlCol="0" anchor="t"/>
          <a:lstStyle/>
          <a:p>
            <a:pPr algn="ctr" indent="0" marL="0">
              <a:lnSpc>
                <a:spcPct val="135000"/>
              </a:lnSpc>
              <a:buNone/>
            </a:pPr>
            <a:r>
              <a:rPr lang="en-US" sz="1400" dirty="0">
                <a:solidFill>
                  <a:schemeClr val="tx2"/>
                </a:solidFill>
                <a:latin typeface="Inter" pitchFamily="34" charset="0"/>
                <a:ea typeface="Inter" pitchFamily="34" charset="-122"/>
                <a:cs typeface="Inter" pitchFamily="34" charset="-120"/>
              </a:rPr>
              <a:t>Controlled pilot with a partner bank</a:t>
            </a:r>
            <a:endParaRPr lang="en-US" sz="1400" dirty="0"/>
          </a:p>
          <a:p>
            <a:pPr algn="ctr" indent="0" marL="0">
              <a:lnSpc>
                <a:spcPct val="135000"/>
              </a:lnSpc>
              <a:buNone/>
            </a:pPr>
            <a:r>
              <a:rPr lang="en-US" sz="1400" dirty="0">
                <a:solidFill>
                  <a:schemeClr val="tx2"/>
                </a:solidFill>
                <a:latin typeface="Inter" pitchFamily="34" charset="0"/>
                <a:ea typeface="Inter" pitchFamily="34" charset="-122"/>
                <a:cs typeface="Inter" pitchFamily="34" charset="-120"/>
              </a:rPr>
              <a:t>Measure, then decide on rollout</a:t>
            </a:r>
            <a:endParaRPr lang="en-US" sz="1400" dirty="0"/>
          </a:p>
        </p:txBody>
      </p:sp>
      <p:sp>
        <p:nvSpPr>
          <p:cNvPr id="25" name="Slide Number Placeholder 0"/>
          <p:cNvSpPr>
            <a:spLocks noGrp="1"/>
          </p:cNvSpPr>
          <p:nvPr>
            <p:ph type="sldNum" sz="quarter" idx="4294967295"/>
          </p:nvPr>
        </p:nvSpPr>
        <p:spPr>
          <a:xfrm>
            <a:off x="10617200" y="6299200"/>
            <a:ext cx="762000" cy="20320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latin typeface="Inter Medium"/>
                <a:ea typeface="Inter Medium"/>
                <a:cs typeface="Inter Medium"/>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812800" y="711200"/>
            <a:ext cx="10566400" cy="508000"/>
          </a:xfrm>
          <a:prstGeom prst="rect">
            <a:avLst/>
          </a:prstGeom>
          <a:noFill/>
          <a:ln/>
        </p:spPr>
        <p:txBody>
          <a:bodyPr wrap="square" lIns="0" tIns="0" rIns="0" bIns="0" rtlCol="0" anchor="t"/>
          <a:lstStyle/>
          <a:p>
            <a:pPr algn="l" indent="0" marL="0">
              <a:buNone/>
            </a:pPr>
            <a:r>
              <a:rPr lang="en-US" sz="3200" dirty="0">
                <a:solidFill>
                  <a:schemeClr val="bg1"/>
                </a:solidFill>
                <a:latin typeface="Inter Display SemiBold" pitchFamily="34" charset="0"/>
                <a:ea typeface="Inter Display SemiBold" pitchFamily="34" charset="-122"/>
                <a:cs typeface="Inter Display SemiBold" pitchFamily="34" charset="-120"/>
              </a:rPr>
              <a:t>Live demo</a:t>
            </a:r>
            <a:endParaRPr lang="en-US" sz="3200" dirty="0"/>
          </a:p>
        </p:txBody>
      </p:sp>
      <p:sp>
        <p:nvSpPr>
          <p:cNvPr id="3" name="The bank sends"/>
          <p:cNvSpPr/>
          <p:nvPr/>
        </p:nvSpPr>
        <p:spPr>
          <a:xfrm>
            <a:off x="1003300" y="2600325"/>
            <a:ext cx="1016000" cy="1016000"/>
          </a:xfrm>
          <a:prstGeom prst="ellipse">
            <a:avLst/>
          </a:prstGeom>
          <a:solidFill>
            <a:srgbClr val="0A7A55"/>
          </a:solidFill>
          <a:ln/>
          <a:effectLst>
            <a:outerShdw sx="100000" sy="100000" kx="0" ky="0" algn="bl" rotWithShape="0" blurRad="228600" dist="76200" dir="5400000">
              <a:srgbClr val="0E1512">
                <a:alpha val="15000"/>
              </a:srgbClr>
            </a:outerShdw>
          </a:effectLst>
        </p:spPr>
      </p:sp>
      <p:pic>
        <p:nvPicPr>
          <p:cNvPr id="4" name="Image 0" descr="The bank sends">    </p:cNvPr>
          <p:cNvPicPr>
            <a:picLocks noChangeAspect="1"/>
          </p:cNvPicPr>
          <p:nvPr/>
        </p:nvPicPr>
        <p:blipFill>
          <a:blip r:embed="rId1"/>
          <a:stretch>
            <a:fillRect/>
          </a:stretch>
        </p:blipFill>
        <p:spPr>
          <a:xfrm>
            <a:off x="1270000" y="2867025"/>
            <a:ext cx="482600" cy="482600"/>
          </a:xfrm>
          <a:prstGeom prst="rect">
            <a:avLst/>
          </a:prstGeom>
        </p:spPr>
      </p:pic>
      <p:pic>
        <p:nvPicPr>
          <p:cNvPr id="5" name="App screenshot: Customer shares it" descr="Customer shares it">    </p:cNvPr>
          <p:cNvPicPr>
            <a:picLocks noChangeAspect="1"/>
          </p:cNvPicPr>
          <p:nvPr/>
        </p:nvPicPr>
        <p:blipFill>
          <a:blip r:embed="rId2"/>
          <a:stretch>
            <a:fillRect/>
          </a:stretch>
        </p:blipFill>
        <p:spPr>
          <a:xfrm>
            <a:off x="2504281" y="1615281"/>
            <a:ext cx="1658938" cy="2986088"/>
          </a:xfrm>
          <a:prstGeom prst="rect">
            <a:avLst/>
          </a:prstGeom>
        </p:spPr>
      </p:pic>
      <p:pic>
        <p:nvPicPr>
          <p:cNvPr id="6" name="App screenshot: Sent by your bank" descr="Sent by your bank">    </p:cNvPr>
          <p:cNvPicPr>
            <a:picLocks noChangeAspect="1"/>
          </p:cNvPicPr>
          <p:nvPr/>
        </p:nvPicPr>
        <p:blipFill>
          <a:blip r:embed="rId3"/>
          <a:stretch>
            <a:fillRect/>
          </a:stretch>
        </p:blipFill>
        <p:spPr>
          <a:xfrm>
            <a:off x="4028281" y="1615281"/>
            <a:ext cx="1658938" cy="2986088"/>
          </a:xfrm>
          <a:prstGeom prst="rect">
            <a:avLst/>
          </a:prstGeom>
        </p:spPr>
      </p:pic>
      <p:pic>
        <p:nvPicPr>
          <p:cNvPr id="7" name="App screenshot: Tampered copy: not confirmed" descr="Tampered copy: not confirmed">    </p:cNvPr>
          <p:cNvPicPr>
            <a:picLocks noChangeAspect="1"/>
          </p:cNvPicPr>
          <p:nvPr/>
        </p:nvPicPr>
        <p:blipFill>
          <a:blip r:embed="rId4"/>
          <a:stretch>
            <a:fillRect/>
          </a:stretch>
        </p:blipFill>
        <p:spPr>
          <a:xfrm>
            <a:off x="5552281" y="1615281"/>
            <a:ext cx="1658938" cy="2986088"/>
          </a:xfrm>
          <a:prstGeom prst="rect">
            <a:avLst/>
          </a:prstGeom>
        </p:spPr>
      </p:pic>
      <p:pic>
        <p:nvPicPr>
          <p:cNvPr id="8" name="App screenshot: Bank calls: same code" descr="Bank calls: same code">    </p:cNvPr>
          <p:cNvPicPr>
            <a:picLocks noChangeAspect="1"/>
          </p:cNvPicPr>
          <p:nvPr/>
        </p:nvPicPr>
        <p:blipFill>
          <a:blip r:embed="rId5"/>
          <a:stretch>
            <a:fillRect/>
          </a:stretch>
        </p:blipFill>
        <p:spPr>
          <a:xfrm>
            <a:off x="7076281" y="1615281"/>
            <a:ext cx="1658938" cy="2986088"/>
          </a:xfrm>
          <a:prstGeom prst="rect">
            <a:avLst/>
          </a:prstGeom>
        </p:spPr>
      </p:pic>
      <p:sp>
        <p:nvSpPr>
          <p:cNvPr id="9" name="Shape 2"/>
          <p:cNvSpPr/>
          <p:nvPr/>
        </p:nvSpPr>
        <p:spPr>
          <a:xfrm>
            <a:off x="2476500" y="3013075"/>
            <a:ext cx="304800" cy="190500"/>
          </a:xfrm>
          <a:prstGeom prst="rightArrow">
            <a:avLst/>
          </a:prstGeom>
          <a:solidFill>
            <a:srgbClr val="34C48E"/>
          </a:solidFill>
          <a:ln/>
        </p:spPr>
      </p:sp>
      <p:sp>
        <p:nvSpPr>
          <p:cNvPr id="10" name="Shape 3"/>
          <p:cNvSpPr/>
          <p:nvPr/>
        </p:nvSpPr>
        <p:spPr>
          <a:xfrm>
            <a:off x="4013200" y="3013075"/>
            <a:ext cx="165100" cy="190500"/>
          </a:xfrm>
          <a:prstGeom prst="rightArrow">
            <a:avLst/>
          </a:prstGeom>
          <a:solidFill>
            <a:srgbClr val="34C48E"/>
          </a:solidFill>
          <a:ln/>
        </p:spPr>
      </p:sp>
      <p:sp>
        <p:nvSpPr>
          <p:cNvPr id="11" name="Shape 4"/>
          <p:cNvSpPr/>
          <p:nvPr/>
        </p:nvSpPr>
        <p:spPr>
          <a:xfrm>
            <a:off x="5537200" y="3013075"/>
            <a:ext cx="165100" cy="190500"/>
          </a:xfrm>
          <a:prstGeom prst="rightArrow">
            <a:avLst/>
          </a:prstGeom>
          <a:solidFill>
            <a:srgbClr val="34C48E"/>
          </a:solidFill>
          <a:ln/>
        </p:spPr>
      </p:sp>
      <p:sp>
        <p:nvSpPr>
          <p:cNvPr id="12" name="Shape 5"/>
          <p:cNvSpPr/>
          <p:nvPr/>
        </p:nvSpPr>
        <p:spPr>
          <a:xfrm>
            <a:off x="7061200" y="3013075"/>
            <a:ext cx="165100" cy="190500"/>
          </a:xfrm>
          <a:prstGeom prst="rightArrow">
            <a:avLst/>
          </a:prstGeom>
          <a:solidFill>
            <a:srgbClr val="34C48E"/>
          </a:solidFill>
          <a:ln/>
        </p:spPr>
      </p:sp>
      <p:sp>
        <p:nvSpPr>
          <p:cNvPr id="13" name="Shape 6"/>
          <p:cNvSpPr/>
          <p:nvPr/>
        </p:nvSpPr>
        <p:spPr>
          <a:xfrm>
            <a:off x="1384300" y="4699000"/>
            <a:ext cx="254000" cy="254000"/>
          </a:xfrm>
          <a:prstGeom prst="ellipse">
            <a:avLst/>
          </a:prstGeom>
          <a:solidFill>
            <a:srgbClr val="0A7A55"/>
          </a:solidFill>
          <a:ln/>
        </p:spPr>
      </p:sp>
      <p:sp>
        <p:nvSpPr>
          <p:cNvPr id="14" name="Text 7"/>
          <p:cNvSpPr txBox="1"/>
          <p:nvPr/>
        </p:nvSpPr>
        <p:spPr>
          <a:xfrm>
            <a:off x="1384300" y="4699000"/>
            <a:ext cx="254000" cy="254000"/>
          </a:xfrm>
          <a:prstGeom prst="rect">
            <a:avLst/>
          </a:prstGeom>
          <a:noFill/>
          <a:ln/>
        </p:spPr>
        <p:txBody>
          <a:bodyPr wrap="square" lIns="0" tIns="0" rIns="0" bIns="0" rtlCol="0" anchor="ctr"/>
          <a:lstStyle/>
          <a:p>
            <a:pPr algn="ctr" indent="0" marL="0">
              <a:buNone/>
            </a:pPr>
            <a:r>
              <a:rPr lang="en-US" sz="1400" dirty="0">
                <a:solidFill>
                  <a:srgbClr val="FFFFFF"/>
                </a:solidFill>
                <a:latin typeface="Inter SemiBold" pitchFamily="34" charset="0"/>
                <a:ea typeface="Inter SemiBold" pitchFamily="34" charset="-122"/>
                <a:cs typeface="Inter SemiBold" pitchFamily="34" charset="-120"/>
              </a:rPr>
              <a:t>1</a:t>
            </a:r>
            <a:endParaRPr lang="en-US" sz="1400" dirty="0"/>
          </a:p>
        </p:txBody>
      </p:sp>
      <p:sp>
        <p:nvSpPr>
          <p:cNvPr id="15" name="Text 8"/>
          <p:cNvSpPr txBox="1"/>
          <p:nvPr/>
        </p:nvSpPr>
        <p:spPr>
          <a:xfrm>
            <a:off x="685800" y="5029200"/>
            <a:ext cx="1651000" cy="381000"/>
          </a:xfrm>
          <a:prstGeom prst="rect">
            <a:avLst/>
          </a:prstGeom>
          <a:noFill/>
          <a:ln/>
        </p:spPr>
        <p:txBody>
          <a:bodyPr wrap="square" lIns="0" tIns="0" rIns="0" bIns="0" rtlCol="0" anchor="t"/>
          <a:lstStyle/>
          <a:p>
            <a:pPr algn="ctr" indent="0" marL="0">
              <a:buNone/>
            </a:pPr>
            <a:r>
              <a:rPr lang="en-US" sz="1400" dirty="0">
                <a:solidFill>
                  <a:schemeClr val="bg1"/>
                </a:solidFill>
                <a:latin typeface="Inter Medium" pitchFamily="34" charset="0"/>
                <a:ea typeface="Inter Medium" pitchFamily="34" charset="-122"/>
                <a:cs typeface="Inter Medium" pitchFamily="34" charset="-120"/>
              </a:rPr>
              <a:t>The bank sends a real alert</a:t>
            </a:r>
            <a:endParaRPr lang="en-US" sz="1400" dirty="0"/>
          </a:p>
        </p:txBody>
      </p:sp>
      <p:sp>
        <p:nvSpPr>
          <p:cNvPr id="16" name="Shape 9"/>
          <p:cNvSpPr/>
          <p:nvPr/>
        </p:nvSpPr>
        <p:spPr>
          <a:xfrm>
            <a:off x="3206750" y="4699000"/>
            <a:ext cx="254000" cy="254000"/>
          </a:xfrm>
          <a:prstGeom prst="ellipse">
            <a:avLst/>
          </a:prstGeom>
          <a:solidFill>
            <a:srgbClr val="0A7A55"/>
          </a:solidFill>
          <a:ln/>
        </p:spPr>
      </p:sp>
      <p:sp>
        <p:nvSpPr>
          <p:cNvPr id="17" name="Text 10"/>
          <p:cNvSpPr txBox="1"/>
          <p:nvPr/>
        </p:nvSpPr>
        <p:spPr>
          <a:xfrm>
            <a:off x="3206750" y="4699000"/>
            <a:ext cx="254000" cy="254000"/>
          </a:xfrm>
          <a:prstGeom prst="rect">
            <a:avLst/>
          </a:prstGeom>
          <a:noFill/>
          <a:ln/>
        </p:spPr>
        <p:txBody>
          <a:bodyPr wrap="square" lIns="0" tIns="0" rIns="0" bIns="0" rtlCol="0" anchor="ctr"/>
          <a:lstStyle/>
          <a:p>
            <a:pPr algn="ctr" indent="0" marL="0">
              <a:buNone/>
            </a:pPr>
            <a:r>
              <a:rPr lang="en-US" sz="1400" dirty="0">
                <a:solidFill>
                  <a:srgbClr val="FFFFFF"/>
                </a:solidFill>
                <a:latin typeface="Inter SemiBold" pitchFamily="34" charset="0"/>
                <a:ea typeface="Inter SemiBold" pitchFamily="34" charset="-122"/>
                <a:cs typeface="Inter SemiBold" pitchFamily="34" charset="-120"/>
              </a:rPr>
              <a:t>2</a:t>
            </a:r>
            <a:endParaRPr lang="en-US" sz="1400" dirty="0"/>
          </a:p>
        </p:txBody>
      </p:sp>
      <p:sp>
        <p:nvSpPr>
          <p:cNvPr id="18" name="Text 11"/>
          <p:cNvSpPr txBox="1"/>
          <p:nvPr/>
        </p:nvSpPr>
        <p:spPr>
          <a:xfrm>
            <a:off x="2603500" y="5029200"/>
            <a:ext cx="1460500" cy="381000"/>
          </a:xfrm>
          <a:prstGeom prst="rect">
            <a:avLst/>
          </a:prstGeom>
          <a:noFill/>
          <a:ln/>
        </p:spPr>
        <p:txBody>
          <a:bodyPr wrap="square" lIns="0" tIns="0" rIns="0" bIns="0" rtlCol="0" anchor="t"/>
          <a:lstStyle/>
          <a:p>
            <a:pPr algn="ctr" indent="0" marL="0">
              <a:buNone/>
            </a:pPr>
            <a:r>
              <a:rPr lang="en-US" sz="1400" dirty="0">
                <a:solidFill>
                  <a:schemeClr val="bg1"/>
                </a:solidFill>
                <a:latin typeface="Inter Medium" pitchFamily="34" charset="0"/>
                <a:ea typeface="Inter Medium" pitchFamily="34" charset="-122"/>
                <a:cs typeface="Inter Medium" pitchFamily="34" charset="-120"/>
              </a:rPr>
              <a:t>Customer shares it</a:t>
            </a:r>
            <a:endParaRPr lang="en-US" sz="1400" dirty="0"/>
          </a:p>
        </p:txBody>
      </p:sp>
      <p:sp>
        <p:nvSpPr>
          <p:cNvPr id="19" name="Shape 12"/>
          <p:cNvSpPr/>
          <p:nvPr/>
        </p:nvSpPr>
        <p:spPr>
          <a:xfrm>
            <a:off x="4730750" y="4699000"/>
            <a:ext cx="254000" cy="254000"/>
          </a:xfrm>
          <a:prstGeom prst="ellipse">
            <a:avLst/>
          </a:prstGeom>
          <a:solidFill>
            <a:srgbClr val="0A7A55"/>
          </a:solidFill>
          <a:ln/>
        </p:spPr>
      </p:sp>
      <p:sp>
        <p:nvSpPr>
          <p:cNvPr id="20" name="Text 13"/>
          <p:cNvSpPr txBox="1"/>
          <p:nvPr/>
        </p:nvSpPr>
        <p:spPr>
          <a:xfrm>
            <a:off x="4730750" y="4699000"/>
            <a:ext cx="254000" cy="254000"/>
          </a:xfrm>
          <a:prstGeom prst="rect">
            <a:avLst/>
          </a:prstGeom>
          <a:noFill/>
          <a:ln/>
        </p:spPr>
        <p:txBody>
          <a:bodyPr wrap="square" lIns="0" tIns="0" rIns="0" bIns="0" rtlCol="0" anchor="ctr"/>
          <a:lstStyle/>
          <a:p>
            <a:pPr algn="ctr" indent="0" marL="0">
              <a:buNone/>
            </a:pPr>
            <a:r>
              <a:rPr lang="en-US" sz="1400" dirty="0">
                <a:solidFill>
                  <a:srgbClr val="FFFFFF"/>
                </a:solidFill>
                <a:latin typeface="Inter SemiBold" pitchFamily="34" charset="0"/>
                <a:ea typeface="Inter SemiBold" pitchFamily="34" charset="-122"/>
                <a:cs typeface="Inter SemiBold" pitchFamily="34" charset="-120"/>
              </a:rPr>
              <a:t>3</a:t>
            </a:r>
            <a:endParaRPr lang="en-US" sz="1400" dirty="0"/>
          </a:p>
        </p:txBody>
      </p:sp>
      <p:sp>
        <p:nvSpPr>
          <p:cNvPr id="21" name="Text 14"/>
          <p:cNvSpPr txBox="1"/>
          <p:nvPr/>
        </p:nvSpPr>
        <p:spPr>
          <a:xfrm>
            <a:off x="4127500" y="5029200"/>
            <a:ext cx="1460500" cy="381000"/>
          </a:xfrm>
          <a:prstGeom prst="rect">
            <a:avLst/>
          </a:prstGeom>
          <a:noFill/>
          <a:ln/>
        </p:spPr>
        <p:txBody>
          <a:bodyPr wrap="square" lIns="0" tIns="0" rIns="0" bIns="0" rtlCol="0" anchor="t"/>
          <a:lstStyle/>
          <a:p>
            <a:pPr algn="ctr" indent="0" marL="0">
              <a:buNone/>
            </a:pPr>
            <a:r>
              <a:rPr lang="en-US" sz="1400" dirty="0">
                <a:solidFill>
                  <a:schemeClr val="bg1"/>
                </a:solidFill>
                <a:latin typeface="Inter Medium" pitchFamily="34" charset="0"/>
                <a:ea typeface="Inter Medium" pitchFamily="34" charset="-122"/>
                <a:cs typeface="Inter Medium" pitchFamily="34" charset="-120"/>
              </a:rPr>
              <a:t>Sent by your bank</a:t>
            </a:r>
            <a:endParaRPr lang="en-US" sz="1400" dirty="0"/>
          </a:p>
        </p:txBody>
      </p:sp>
      <p:sp>
        <p:nvSpPr>
          <p:cNvPr id="22" name="Shape 15"/>
          <p:cNvSpPr/>
          <p:nvPr/>
        </p:nvSpPr>
        <p:spPr>
          <a:xfrm>
            <a:off x="6254750" y="4699000"/>
            <a:ext cx="254000" cy="254000"/>
          </a:xfrm>
          <a:prstGeom prst="ellipse">
            <a:avLst/>
          </a:prstGeom>
          <a:solidFill>
            <a:srgbClr val="0A7A55"/>
          </a:solidFill>
          <a:ln/>
        </p:spPr>
      </p:sp>
      <p:sp>
        <p:nvSpPr>
          <p:cNvPr id="23" name="Text 16"/>
          <p:cNvSpPr txBox="1"/>
          <p:nvPr/>
        </p:nvSpPr>
        <p:spPr>
          <a:xfrm>
            <a:off x="6254750" y="4699000"/>
            <a:ext cx="254000" cy="254000"/>
          </a:xfrm>
          <a:prstGeom prst="rect">
            <a:avLst/>
          </a:prstGeom>
          <a:noFill/>
          <a:ln/>
        </p:spPr>
        <p:txBody>
          <a:bodyPr wrap="square" lIns="0" tIns="0" rIns="0" bIns="0" rtlCol="0" anchor="ctr"/>
          <a:lstStyle/>
          <a:p>
            <a:pPr algn="ctr" indent="0" marL="0">
              <a:buNone/>
            </a:pPr>
            <a:r>
              <a:rPr lang="en-US" sz="1400" dirty="0">
                <a:solidFill>
                  <a:srgbClr val="FFFFFF"/>
                </a:solidFill>
                <a:latin typeface="Inter SemiBold" pitchFamily="34" charset="0"/>
                <a:ea typeface="Inter SemiBold" pitchFamily="34" charset="-122"/>
                <a:cs typeface="Inter SemiBold" pitchFamily="34" charset="-120"/>
              </a:rPr>
              <a:t>4</a:t>
            </a:r>
            <a:endParaRPr lang="en-US" sz="1400" dirty="0"/>
          </a:p>
        </p:txBody>
      </p:sp>
      <p:sp>
        <p:nvSpPr>
          <p:cNvPr id="24" name="Text 17"/>
          <p:cNvSpPr txBox="1"/>
          <p:nvPr/>
        </p:nvSpPr>
        <p:spPr>
          <a:xfrm>
            <a:off x="5651500" y="5029200"/>
            <a:ext cx="1460500" cy="381000"/>
          </a:xfrm>
          <a:prstGeom prst="rect">
            <a:avLst/>
          </a:prstGeom>
          <a:noFill/>
          <a:ln/>
        </p:spPr>
        <p:txBody>
          <a:bodyPr wrap="square" lIns="0" tIns="0" rIns="0" bIns="0" rtlCol="0" anchor="t"/>
          <a:lstStyle/>
          <a:p>
            <a:pPr algn="ctr" indent="0" marL="0">
              <a:buNone/>
            </a:pPr>
            <a:r>
              <a:rPr lang="en-US" sz="1400" dirty="0">
                <a:solidFill>
                  <a:schemeClr val="bg1"/>
                </a:solidFill>
                <a:latin typeface="Inter Medium" pitchFamily="34" charset="0"/>
                <a:ea typeface="Inter Medium" pitchFamily="34" charset="-122"/>
                <a:cs typeface="Inter Medium" pitchFamily="34" charset="-120"/>
              </a:rPr>
              <a:t>Tampered copy: not confirmed</a:t>
            </a:r>
            <a:endParaRPr lang="en-US" sz="1400" dirty="0"/>
          </a:p>
        </p:txBody>
      </p:sp>
      <p:sp>
        <p:nvSpPr>
          <p:cNvPr id="25" name="Shape 18"/>
          <p:cNvSpPr/>
          <p:nvPr/>
        </p:nvSpPr>
        <p:spPr>
          <a:xfrm>
            <a:off x="7778750" y="4699000"/>
            <a:ext cx="254000" cy="254000"/>
          </a:xfrm>
          <a:prstGeom prst="ellipse">
            <a:avLst/>
          </a:prstGeom>
          <a:solidFill>
            <a:srgbClr val="0A7A55"/>
          </a:solidFill>
          <a:ln/>
        </p:spPr>
      </p:sp>
      <p:sp>
        <p:nvSpPr>
          <p:cNvPr id="26" name="Text 19"/>
          <p:cNvSpPr txBox="1"/>
          <p:nvPr/>
        </p:nvSpPr>
        <p:spPr>
          <a:xfrm>
            <a:off x="7778750" y="4699000"/>
            <a:ext cx="254000" cy="254000"/>
          </a:xfrm>
          <a:prstGeom prst="rect">
            <a:avLst/>
          </a:prstGeom>
          <a:noFill/>
          <a:ln/>
        </p:spPr>
        <p:txBody>
          <a:bodyPr wrap="square" lIns="0" tIns="0" rIns="0" bIns="0" rtlCol="0" anchor="ctr"/>
          <a:lstStyle/>
          <a:p>
            <a:pPr algn="ctr" indent="0" marL="0">
              <a:buNone/>
            </a:pPr>
            <a:r>
              <a:rPr lang="en-US" sz="1400" dirty="0">
                <a:solidFill>
                  <a:srgbClr val="FFFFFF"/>
                </a:solidFill>
                <a:latin typeface="Inter SemiBold" pitchFamily="34" charset="0"/>
                <a:ea typeface="Inter SemiBold" pitchFamily="34" charset="-122"/>
                <a:cs typeface="Inter SemiBold" pitchFamily="34" charset="-120"/>
              </a:rPr>
              <a:t>5</a:t>
            </a:r>
            <a:endParaRPr lang="en-US" sz="1400" dirty="0"/>
          </a:p>
        </p:txBody>
      </p:sp>
      <p:sp>
        <p:nvSpPr>
          <p:cNvPr id="27" name="Text 20"/>
          <p:cNvSpPr txBox="1"/>
          <p:nvPr/>
        </p:nvSpPr>
        <p:spPr>
          <a:xfrm>
            <a:off x="7175500" y="5029200"/>
            <a:ext cx="1460500" cy="381000"/>
          </a:xfrm>
          <a:prstGeom prst="rect">
            <a:avLst/>
          </a:prstGeom>
          <a:noFill/>
          <a:ln/>
        </p:spPr>
        <p:txBody>
          <a:bodyPr wrap="square" lIns="0" tIns="0" rIns="0" bIns="0" rtlCol="0" anchor="t"/>
          <a:lstStyle/>
          <a:p>
            <a:pPr algn="ctr" indent="0" marL="0">
              <a:buNone/>
            </a:pPr>
            <a:r>
              <a:rPr lang="en-US" sz="1400" dirty="0">
                <a:solidFill>
                  <a:schemeClr val="bg1"/>
                </a:solidFill>
                <a:latin typeface="Inter Medium" pitchFamily="34" charset="0"/>
                <a:ea typeface="Inter Medium" pitchFamily="34" charset="-122"/>
                <a:cs typeface="Inter Medium" pitchFamily="34" charset="-120"/>
              </a:rPr>
              <a:t>Bank calls: same code on both screens</a:t>
            </a:r>
            <a:endParaRPr lang="en-US" sz="1400" dirty="0"/>
          </a:p>
        </p:txBody>
      </p:sp>
      <p:sp>
        <p:nvSpPr>
          <p:cNvPr id="28" name="Shape 21"/>
          <p:cNvSpPr/>
          <p:nvPr/>
        </p:nvSpPr>
        <p:spPr>
          <a:xfrm>
            <a:off x="9017000" y="1587500"/>
            <a:ext cx="0" cy="3937000"/>
          </a:xfrm>
          <a:prstGeom prst="line">
            <a:avLst/>
          </a:prstGeom>
          <a:noFill/>
          <a:ln w="19050">
            <a:solidFill>
              <a:srgbClr val="2F3A35"/>
            </a:solidFill>
            <a:prstDash val="solid"/>
          </a:ln>
        </p:spPr>
      </p:sp>
      <p:sp>
        <p:nvSpPr>
          <p:cNvPr id="29" name="Text 22"/>
          <p:cNvSpPr txBox="1"/>
          <p:nvPr/>
        </p:nvSpPr>
        <p:spPr>
          <a:xfrm>
            <a:off x="9271000" y="1587500"/>
            <a:ext cx="2108200" cy="190500"/>
          </a:xfrm>
          <a:prstGeom prst="rect">
            <a:avLst/>
          </a:prstGeom>
          <a:noFill/>
          <a:ln/>
        </p:spPr>
        <p:txBody>
          <a:bodyPr wrap="square" lIns="0" tIns="0" rIns="0" bIns="0" rtlCol="0" anchor="t"/>
          <a:lstStyle/>
          <a:p>
            <a:pPr algn="ctr" indent="0" marL="0">
              <a:buNone/>
            </a:pPr>
            <a:r>
              <a:rPr lang="en-US" sz="1400" dirty="0">
                <a:solidFill>
                  <a:srgbClr val="34C48E"/>
                </a:solidFill>
                <a:latin typeface="Inter SemiBold" pitchFamily="34" charset="0"/>
                <a:ea typeface="Inter SemiBold" pitchFamily="34" charset="-122"/>
                <a:cs typeface="Inter SemiBold" pitchFamily="34" charset="-120"/>
              </a:rPr>
              <a:t>Scan to try it</a:t>
            </a:r>
            <a:endParaRPr lang="en-US" sz="1400" dirty="0"/>
          </a:p>
        </p:txBody>
      </p:sp>
      <p:sp>
        <p:nvSpPr>
          <p:cNvPr id="30" name="QR card: Website"/>
          <p:cNvSpPr/>
          <p:nvPr/>
        </p:nvSpPr>
        <p:spPr>
          <a:xfrm>
            <a:off x="9690100" y="1879600"/>
            <a:ext cx="1270000" cy="1270000"/>
          </a:xfrm>
          <a:prstGeom prst="roundRect">
            <a:avLst>
              <a:gd name="adj" fmla="val 8000"/>
            </a:avLst>
          </a:prstGeom>
          <a:solidFill>
            <a:srgbClr val="FFFFFF"/>
          </a:solidFill>
          <a:ln/>
        </p:spPr>
      </p:sp>
      <p:pic>
        <p:nvPicPr>
          <p:cNvPr id="31" name="QR code: Website" descr="QR code: gaskiyya-io.web.app">    </p:cNvPr>
          <p:cNvPicPr>
            <a:picLocks noChangeAspect="1"/>
          </p:cNvPicPr>
          <p:nvPr/>
        </p:nvPicPr>
        <p:blipFill>
          <a:blip r:embed="rId6"/>
          <a:stretch>
            <a:fillRect/>
          </a:stretch>
        </p:blipFill>
        <p:spPr>
          <a:xfrm>
            <a:off x="9766300" y="1955800"/>
            <a:ext cx="1117600" cy="1117600"/>
          </a:xfrm>
          <a:prstGeom prst="rect">
            <a:avLst/>
          </a:prstGeom>
        </p:spPr>
      </p:pic>
      <p:sp>
        <p:nvSpPr>
          <p:cNvPr id="32" name="Text 24"/>
          <p:cNvSpPr txBox="1"/>
          <p:nvPr/>
        </p:nvSpPr>
        <p:spPr>
          <a:xfrm>
            <a:off x="9271000" y="3238500"/>
            <a:ext cx="2108200" cy="177800"/>
          </a:xfrm>
          <a:prstGeom prst="rect">
            <a:avLst/>
          </a:prstGeom>
          <a:noFill/>
          <a:ln/>
        </p:spPr>
        <p:txBody>
          <a:bodyPr wrap="square" lIns="0" tIns="0" rIns="0" bIns="0" rtlCol="0" anchor="t"/>
          <a:lstStyle/>
          <a:p>
            <a:pPr algn="ctr" indent="0" marL="0">
              <a:buNone/>
            </a:pPr>
            <a:r>
              <a:rPr lang="en-US" sz="1400" dirty="0">
                <a:solidFill>
                  <a:schemeClr val="bg1"/>
                </a:solidFill>
                <a:latin typeface="Inter SemiBold" pitchFamily="34" charset="0"/>
                <a:ea typeface="Inter SemiBold" pitchFamily="34" charset="-122"/>
                <a:cs typeface="Inter SemiBold" pitchFamily="34" charset="-120"/>
              </a:rPr>
              <a:t>Website</a:t>
            </a:r>
            <a:endParaRPr lang="en-US" sz="1400" dirty="0"/>
          </a:p>
        </p:txBody>
      </p:sp>
      <p:sp>
        <p:nvSpPr>
          <p:cNvPr id="33" name="Text 25"/>
          <p:cNvSpPr txBox="1"/>
          <p:nvPr/>
        </p:nvSpPr>
        <p:spPr>
          <a:xfrm>
            <a:off x="9271000" y="3416300"/>
            <a:ext cx="2108200" cy="152400"/>
          </a:xfrm>
          <a:prstGeom prst="rect">
            <a:avLst/>
          </a:prstGeom>
          <a:noFill/>
          <a:ln/>
        </p:spPr>
        <p:txBody>
          <a:bodyPr wrap="square" lIns="0" tIns="0" rIns="0" bIns="0" rtlCol="0" anchor="t"/>
          <a:lstStyle/>
          <a:p>
            <a:pPr algn="ctr" indent="0" marL="0">
              <a:buNone/>
            </a:pPr>
            <a:r>
              <a:rPr lang="en-US" sz="1100" dirty="0">
                <a:solidFill>
                  <a:srgbClr val="A3ADA8"/>
                </a:solidFill>
                <a:latin typeface="Inter" pitchFamily="34" charset="0"/>
                <a:ea typeface="Inter" pitchFamily="34" charset="-122"/>
                <a:cs typeface="Inter" pitchFamily="34" charset="-120"/>
              </a:rPr>
              <a:t>gaskiyya-io.web.app</a:t>
            </a:r>
            <a:endParaRPr lang="en-US" sz="1100" dirty="0"/>
          </a:p>
        </p:txBody>
      </p:sp>
      <p:sp>
        <p:nvSpPr>
          <p:cNvPr id="34" name="QR card: Bank sandbox"/>
          <p:cNvSpPr/>
          <p:nvPr/>
        </p:nvSpPr>
        <p:spPr>
          <a:xfrm>
            <a:off x="9690100" y="3746500"/>
            <a:ext cx="1270000" cy="1270000"/>
          </a:xfrm>
          <a:prstGeom prst="roundRect">
            <a:avLst>
              <a:gd name="adj" fmla="val 8000"/>
            </a:avLst>
          </a:prstGeom>
          <a:solidFill>
            <a:srgbClr val="FFFFFF"/>
          </a:solidFill>
          <a:ln/>
        </p:spPr>
      </p:sp>
      <p:pic>
        <p:nvPicPr>
          <p:cNvPr id="35" name="QR code: Bank sandbox" descr="QR code: gaskiyya-io.web.app/console">    </p:cNvPr>
          <p:cNvPicPr>
            <a:picLocks noChangeAspect="1"/>
          </p:cNvPicPr>
          <p:nvPr/>
        </p:nvPicPr>
        <p:blipFill>
          <a:blip r:embed="rId7"/>
          <a:stretch>
            <a:fillRect/>
          </a:stretch>
        </p:blipFill>
        <p:spPr>
          <a:xfrm>
            <a:off x="9766300" y="3822700"/>
            <a:ext cx="1117600" cy="1117600"/>
          </a:xfrm>
          <a:prstGeom prst="rect">
            <a:avLst/>
          </a:prstGeom>
        </p:spPr>
      </p:pic>
      <p:sp>
        <p:nvSpPr>
          <p:cNvPr id="36" name="Text 27"/>
          <p:cNvSpPr txBox="1"/>
          <p:nvPr/>
        </p:nvSpPr>
        <p:spPr>
          <a:xfrm>
            <a:off x="9271000" y="5105400"/>
            <a:ext cx="2108200" cy="177800"/>
          </a:xfrm>
          <a:prstGeom prst="rect">
            <a:avLst/>
          </a:prstGeom>
          <a:noFill/>
          <a:ln/>
        </p:spPr>
        <p:txBody>
          <a:bodyPr wrap="square" lIns="0" tIns="0" rIns="0" bIns="0" rtlCol="0" anchor="t"/>
          <a:lstStyle/>
          <a:p>
            <a:pPr algn="ctr" indent="0" marL="0">
              <a:buNone/>
            </a:pPr>
            <a:r>
              <a:rPr lang="en-US" sz="1400" dirty="0">
                <a:solidFill>
                  <a:schemeClr val="bg1"/>
                </a:solidFill>
                <a:latin typeface="Inter SemiBold" pitchFamily="34" charset="0"/>
                <a:ea typeface="Inter SemiBold" pitchFamily="34" charset="-122"/>
                <a:cs typeface="Inter SemiBold" pitchFamily="34" charset="-120"/>
              </a:rPr>
              <a:t>Bank sandbox</a:t>
            </a:r>
            <a:endParaRPr lang="en-US" sz="1400" dirty="0"/>
          </a:p>
        </p:txBody>
      </p:sp>
      <p:sp>
        <p:nvSpPr>
          <p:cNvPr id="37" name="Text 28"/>
          <p:cNvSpPr txBox="1"/>
          <p:nvPr/>
        </p:nvSpPr>
        <p:spPr>
          <a:xfrm>
            <a:off x="9271000" y="5283200"/>
            <a:ext cx="2108200" cy="152400"/>
          </a:xfrm>
          <a:prstGeom prst="rect">
            <a:avLst/>
          </a:prstGeom>
          <a:noFill/>
          <a:ln/>
        </p:spPr>
        <p:txBody>
          <a:bodyPr wrap="square" lIns="0" tIns="0" rIns="0" bIns="0" rtlCol="0" anchor="t"/>
          <a:lstStyle/>
          <a:p>
            <a:pPr algn="ctr" indent="0" marL="0">
              <a:buNone/>
            </a:pPr>
            <a:r>
              <a:rPr lang="en-US" sz="1100" dirty="0">
                <a:solidFill>
                  <a:srgbClr val="A3ADA8"/>
                </a:solidFill>
                <a:latin typeface="Inter" pitchFamily="34" charset="0"/>
                <a:ea typeface="Inter" pitchFamily="34" charset="-122"/>
                <a:cs typeface="Inter" pitchFamily="34" charset="-120"/>
              </a:rPr>
              <a:t>gaskiyya-io.web.app/console</a:t>
            </a:r>
            <a:endParaRPr lang="en-US" sz="1100" dirty="0"/>
          </a:p>
        </p:txBody>
      </p:sp>
      <p:sp>
        <p:nvSpPr>
          <p:cNvPr id="25" name="Slide Number Placeholder 0"/>
          <p:cNvSpPr>
            <a:spLocks noGrp="1"/>
          </p:cNvSpPr>
          <p:nvPr>
            <p:ph type="sldNum" sz="quarter" idx="4294967295"/>
          </p:nvPr>
        </p:nvSpPr>
        <p:spPr>
          <a:xfrm>
            <a:off x="10617200" y="6299200"/>
            <a:ext cx="762000" cy="20320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latin typeface="Inter Medium"/>
                <a:ea typeface="Inter Medium"/>
                <a:cs typeface="Inter Medium"/>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Gaskiyya logo">    </p:cNvPr>
          <p:cNvPicPr>
            <a:picLocks noChangeAspect="1"/>
          </p:cNvPicPr>
          <p:nvPr/>
        </p:nvPicPr>
        <p:blipFill>
          <a:blip r:embed="rId2"/>
          <a:stretch>
            <a:fillRect/>
          </a:stretch>
        </p:blipFill>
        <p:spPr>
          <a:xfrm>
            <a:off x="5778500" y="698500"/>
            <a:ext cx="635000" cy="635000"/>
          </a:xfrm>
          <a:prstGeom prst="rect">
            <a:avLst/>
          </a:prstGeom>
        </p:spPr>
      </p:pic>
      <p:sp>
        <p:nvSpPr>
          <p:cNvPr id="3" name="Text 0"/>
          <p:cNvSpPr txBox="1"/>
          <p:nvPr/>
        </p:nvSpPr>
        <p:spPr>
          <a:xfrm>
            <a:off x="2768600" y="1701800"/>
            <a:ext cx="1651000" cy="533400"/>
          </a:xfrm>
          <a:prstGeom prst="rect">
            <a:avLst/>
          </a:prstGeom>
          <a:noFill/>
          <a:ln/>
        </p:spPr>
        <p:txBody>
          <a:bodyPr wrap="square" lIns="0" tIns="0" rIns="0" bIns="0" rtlCol="0" anchor="ctr"/>
          <a:lstStyle/>
          <a:p>
            <a:pPr algn="r" indent="0" marL="0">
              <a:buNone/>
            </a:pPr>
            <a:r>
              <a:rPr lang="en-US" sz="4000" dirty="0">
                <a:solidFill>
                  <a:srgbClr val="FFFFFF"/>
                </a:solidFill>
                <a:latin typeface="Inter" pitchFamily="34" charset="0"/>
                <a:ea typeface="Inter" pitchFamily="34" charset="-122"/>
                <a:cs typeface="Inter" pitchFamily="34" charset="-120"/>
              </a:rPr>
              <a:t>Every</a:t>
            </a:r>
            <a:endParaRPr lang="en-US" sz="4000" dirty="0"/>
          </a:p>
        </p:txBody>
      </p:sp>
      <p:sp>
        <p:nvSpPr>
          <p:cNvPr id="4" name="Tagline word 1"/>
          <p:cNvSpPr/>
          <p:nvPr/>
        </p:nvSpPr>
        <p:spPr>
          <a:xfrm>
            <a:off x="4635500" y="1701800"/>
            <a:ext cx="2667000" cy="533400"/>
          </a:xfrm>
          <a:prstGeom prst="roundRect">
            <a:avLst>
              <a:gd name="adj" fmla="val 50000"/>
            </a:avLst>
          </a:prstGeom>
          <a:solidFill>
            <a:srgbClr val="FFFFFF"/>
          </a:solidFill>
          <a:ln/>
        </p:spPr>
        <p:txBody>
          <a:bodyPr wrap="square" lIns="0" tIns="0" rIns="0" bIns="0" rtlCol="0" anchor="ctr"/>
          <a:lstStyle/>
          <a:p>
            <a:pPr algn="ctr" indent="0" marL="0">
              <a:buNone/>
            </a:pPr>
            <a:r>
              <a:rPr lang="en-US" sz="3200" dirty="0">
                <a:solidFill>
                  <a:srgbClr val="0A7A55"/>
                </a:solidFill>
                <a:latin typeface="Inter Display SemiBold" pitchFamily="34" charset="0"/>
                <a:ea typeface="Inter Display SemiBold" pitchFamily="34" charset="-122"/>
                <a:cs typeface="Inter Display SemiBold" pitchFamily="34" charset="-120"/>
              </a:rPr>
              <a:t>OTP</a:t>
            </a:r>
            <a:endParaRPr lang="en-US" sz="3200" dirty="0"/>
          </a:p>
        </p:txBody>
      </p:sp>
      <p:sp>
        <p:nvSpPr>
          <p:cNvPr id="5" name="Text 2"/>
          <p:cNvSpPr txBox="1"/>
          <p:nvPr/>
        </p:nvSpPr>
        <p:spPr>
          <a:xfrm>
            <a:off x="7505700" y="1701800"/>
            <a:ext cx="2159000" cy="533400"/>
          </a:xfrm>
          <a:prstGeom prst="rect">
            <a:avLst/>
          </a:prstGeom>
          <a:noFill/>
          <a:ln/>
        </p:spPr>
        <p:txBody>
          <a:bodyPr wrap="square" lIns="0" tIns="0" rIns="0" bIns="0" rtlCol="0" anchor="ctr"/>
          <a:lstStyle/>
          <a:p>
            <a:pPr algn="l" indent="0" marL="0">
              <a:buNone/>
            </a:pPr>
            <a:r>
              <a:rPr lang="en-US" sz="4000" dirty="0">
                <a:solidFill>
                  <a:srgbClr val="FFFFFF"/>
                </a:solidFill>
                <a:latin typeface="Inter" pitchFamily="34" charset="0"/>
                <a:ea typeface="Inter" pitchFamily="34" charset="-122"/>
                <a:cs typeface="Inter" pitchFamily="34" charset="-120"/>
              </a:rPr>
              <a:t>proven.</a:t>
            </a:r>
            <a:endParaRPr lang="en-US" sz="4000" dirty="0"/>
          </a:p>
        </p:txBody>
      </p:sp>
      <p:sp>
        <p:nvSpPr>
          <p:cNvPr id="6" name="Text 3"/>
          <p:cNvSpPr txBox="1"/>
          <p:nvPr/>
        </p:nvSpPr>
        <p:spPr>
          <a:xfrm>
            <a:off x="2768600" y="2387600"/>
            <a:ext cx="1651000" cy="533400"/>
          </a:xfrm>
          <a:prstGeom prst="rect">
            <a:avLst/>
          </a:prstGeom>
          <a:noFill/>
          <a:ln/>
        </p:spPr>
        <p:txBody>
          <a:bodyPr wrap="square" lIns="0" tIns="0" rIns="0" bIns="0" rtlCol="0" anchor="ctr"/>
          <a:lstStyle/>
          <a:p>
            <a:pPr algn="r" indent="0" marL="0">
              <a:buNone/>
            </a:pPr>
            <a:r>
              <a:rPr lang="en-US" sz="4000" dirty="0">
                <a:solidFill>
                  <a:srgbClr val="FFFFFF"/>
                </a:solidFill>
                <a:latin typeface="Inter" pitchFamily="34" charset="0"/>
                <a:ea typeface="Inter" pitchFamily="34" charset="-122"/>
                <a:cs typeface="Inter" pitchFamily="34" charset="-120"/>
              </a:rPr>
              <a:t>Every</a:t>
            </a:r>
            <a:endParaRPr lang="en-US" sz="4000" dirty="0"/>
          </a:p>
        </p:txBody>
      </p:sp>
      <p:sp>
        <p:nvSpPr>
          <p:cNvPr id="7" name="Tagline word 2"/>
          <p:cNvSpPr/>
          <p:nvPr/>
        </p:nvSpPr>
        <p:spPr>
          <a:xfrm>
            <a:off x="4635500" y="2387600"/>
            <a:ext cx="2667000" cy="533400"/>
          </a:xfrm>
          <a:prstGeom prst="roundRect">
            <a:avLst>
              <a:gd name="adj" fmla="val 50000"/>
            </a:avLst>
          </a:prstGeom>
          <a:solidFill>
            <a:srgbClr val="FFFFFF"/>
          </a:solidFill>
          <a:ln/>
        </p:spPr>
        <p:txBody>
          <a:bodyPr wrap="square" lIns="0" tIns="0" rIns="0" bIns="0" rtlCol="0" anchor="ctr"/>
          <a:lstStyle/>
          <a:p>
            <a:pPr algn="ctr" indent="0" marL="0">
              <a:buNone/>
            </a:pPr>
            <a:r>
              <a:rPr lang="en-US" sz="3200" dirty="0">
                <a:solidFill>
                  <a:srgbClr val="0A7A55"/>
                </a:solidFill>
                <a:latin typeface="Inter Display SemiBold" pitchFamily="34" charset="0"/>
                <a:ea typeface="Inter Display SemiBold" pitchFamily="34" charset="-122"/>
                <a:cs typeface="Inter Display SemiBold" pitchFamily="34" charset="-120"/>
              </a:rPr>
              <a:t>message</a:t>
            </a:r>
            <a:endParaRPr lang="en-US" sz="3200" dirty="0"/>
          </a:p>
        </p:txBody>
      </p:sp>
      <p:sp>
        <p:nvSpPr>
          <p:cNvPr id="8" name="Text 5"/>
          <p:cNvSpPr txBox="1"/>
          <p:nvPr/>
        </p:nvSpPr>
        <p:spPr>
          <a:xfrm>
            <a:off x="7505700" y="2387600"/>
            <a:ext cx="2159000" cy="533400"/>
          </a:xfrm>
          <a:prstGeom prst="rect">
            <a:avLst/>
          </a:prstGeom>
          <a:noFill/>
          <a:ln/>
        </p:spPr>
        <p:txBody>
          <a:bodyPr wrap="square" lIns="0" tIns="0" rIns="0" bIns="0" rtlCol="0" anchor="ctr"/>
          <a:lstStyle/>
          <a:p>
            <a:pPr algn="l" indent="0" marL="0">
              <a:buNone/>
            </a:pPr>
            <a:r>
              <a:rPr lang="en-US" sz="4000" dirty="0">
                <a:solidFill>
                  <a:srgbClr val="FFFFFF"/>
                </a:solidFill>
                <a:latin typeface="Inter" pitchFamily="34" charset="0"/>
                <a:ea typeface="Inter" pitchFamily="34" charset="-122"/>
                <a:cs typeface="Inter" pitchFamily="34" charset="-120"/>
              </a:rPr>
              <a:t>proven.</a:t>
            </a:r>
            <a:endParaRPr lang="en-US" sz="4000" dirty="0"/>
          </a:p>
        </p:txBody>
      </p:sp>
      <p:sp>
        <p:nvSpPr>
          <p:cNvPr id="9" name="Text 6"/>
          <p:cNvSpPr txBox="1"/>
          <p:nvPr/>
        </p:nvSpPr>
        <p:spPr>
          <a:xfrm>
            <a:off x="2768600" y="3073400"/>
            <a:ext cx="1651000" cy="533400"/>
          </a:xfrm>
          <a:prstGeom prst="rect">
            <a:avLst/>
          </a:prstGeom>
          <a:noFill/>
          <a:ln/>
        </p:spPr>
        <p:txBody>
          <a:bodyPr wrap="square" lIns="0" tIns="0" rIns="0" bIns="0" rtlCol="0" anchor="ctr"/>
          <a:lstStyle/>
          <a:p>
            <a:pPr algn="r" indent="0" marL="0">
              <a:buNone/>
            </a:pPr>
            <a:r>
              <a:rPr lang="en-US" sz="4000" dirty="0">
                <a:solidFill>
                  <a:srgbClr val="FFFFFF"/>
                </a:solidFill>
                <a:latin typeface="Inter" pitchFamily="34" charset="0"/>
                <a:ea typeface="Inter" pitchFamily="34" charset="-122"/>
                <a:cs typeface="Inter" pitchFamily="34" charset="-120"/>
              </a:rPr>
              <a:t>Every</a:t>
            </a:r>
            <a:endParaRPr lang="en-US" sz="4000" dirty="0"/>
          </a:p>
        </p:txBody>
      </p:sp>
      <p:sp>
        <p:nvSpPr>
          <p:cNvPr id="10" name="Tagline word 3"/>
          <p:cNvSpPr/>
          <p:nvPr/>
        </p:nvSpPr>
        <p:spPr>
          <a:xfrm>
            <a:off x="4635500" y="3073400"/>
            <a:ext cx="2667000" cy="533400"/>
          </a:xfrm>
          <a:prstGeom prst="roundRect">
            <a:avLst>
              <a:gd name="adj" fmla="val 50000"/>
            </a:avLst>
          </a:prstGeom>
          <a:solidFill>
            <a:srgbClr val="FFFFFF"/>
          </a:solidFill>
          <a:ln/>
        </p:spPr>
        <p:txBody>
          <a:bodyPr wrap="square" lIns="0" tIns="0" rIns="0" bIns="0" rtlCol="0" anchor="ctr"/>
          <a:lstStyle/>
          <a:p>
            <a:pPr algn="ctr" indent="0" marL="0">
              <a:buNone/>
            </a:pPr>
            <a:r>
              <a:rPr lang="en-US" sz="3200" dirty="0">
                <a:solidFill>
                  <a:srgbClr val="0A7A55"/>
                </a:solidFill>
                <a:latin typeface="Inter Display SemiBold" pitchFamily="34" charset="0"/>
                <a:ea typeface="Inter Display SemiBold" pitchFamily="34" charset="-122"/>
                <a:cs typeface="Inter Display SemiBold" pitchFamily="34" charset="-120"/>
              </a:rPr>
              <a:t>link</a:t>
            </a:r>
            <a:endParaRPr lang="en-US" sz="3200" dirty="0"/>
          </a:p>
        </p:txBody>
      </p:sp>
      <p:sp>
        <p:nvSpPr>
          <p:cNvPr id="11" name="Text 8"/>
          <p:cNvSpPr txBox="1"/>
          <p:nvPr/>
        </p:nvSpPr>
        <p:spPr>
          <a:xfrm>
            <a:off x="7505700" y="3073400"/>
            <a:ext cx="2159000" cy="533400"/>
          </a:xfrm>
          <a:prstGeom prst="rect">
            <a:avLst/>
          </a:prstGeom>
          <a:noFill/>
          <a:ln/>
        </p:spPr>
        <p:txBody>
          <a:bodyPr wrap="square" lIns="0" tIns="0" rIns="0" bIns="0" rtlCol="0" anchor="ctr"/>
          <a:lstStyle/>
          <a:p>
            <a:pPr algn="l" indent="0" marL="0">
              <a:buNone/>
            </a:pPr>
            <a:r>
              <a:rPr lang="en-US" sz="4000" dirty="0">
                <a:solidFill>
                  <a:srgbClr val="FFFFFF"/>
                </a:solidFill>
                <a:latin typeface="Inter" pitchFamily="34" charset="0"/>
                <a:ea typeface="Inter" pitchFamily="34" charset="-122"/>
                <a:cs typeface="Inter" pitchFamily="34" charset="-120"/>
              </a:rPr>
              <a:t>proven.</a:t>
            </a:r>
            <a:endParaRPr lang="en-US" sz="4000" dirty="0"/>
          </a:p>
        </p:txBody>
      </p:sp>
      <p:sp>
        <p:nvSpPr>
          <p:cNvPr id="12" name="Text 9"/>
          <p:cNvSpPr txBox="1"/>
          <p:nvPr/>
        </p:nvSpPr>
        <p:spPr>
          <a:xfrm>
            <a:off x="2768600" y="3759200"/>
            <a:ext cx="1651000" cy="533400"/>
          </a:xfrm>
          <a:prstGeom prst="rect">
            <a:avLst/>
          </a:prstGeom>
          <a:noFill/>
          <a:ln/>
        </p:spPr>
        <p:txBody>
          <a:bodyPr wrap="square" lIns="0" tIns="0" rIns="0" bIns="0" rtlCol="0" anchor="ctr"/>
          <a:lstStyle/>
          <a:p>
            <a:pPr algn="r" indent="0" marL="0">
              <a:buNone/>
            </a:pPr>
            <a:r>
              <a:rPr lang="en-US" sz="4000" dirty="0">
                <a:solidFill>
                  <a:srgbClr val="FFFFFF"/>
                </a:solidFill>
                <a:latin typeface="Inter" pitchFamily="34" charset="0"/>
                <a:ea typeface="Inter" pitchFamily="34" charset="-122"/>
                <a:cs typeface="Inter" pitchFamily="34" charset="-120"/>
              </a:rPr>
              <a:t>Every</a:t>
            </a:r>
            <a:endParaRPr lang="en-US" sz="4000" dirty="0"/>
          </a:p>
        </p:txBody>
      </p:sp>
      <p:sp>
        <p:nvSpPr>
          <p:cNvPr id="13" name="Tagline word 4"/>
          <p:cNvSpPr/>
          <p:nvPr/>
        </p:nvSpPr>
        <p:spPr>
          <a:xfrm>
            <a:off x="4635500" y="3759200"/>
            <a:ext cx="2667000" cy="533400"/>
          </a:xfrm>
          <a:prstGeom prst="roundRect">
            <a:avLst>
              <a:gd name="adj" fmla="val 50000"/>
            </a:avLst>
          </a:prstGeom>
          <a:solidFill>
            <a:srgbClr val="FFFFFF"/>
          </a:solidFill>
          <a:ln/>
        </p:spPr>
        <p:txBody>
          <a:bodyPr wrap="square" lIns="0" tIns="0" rIns="0" bIns="0" rtlCol="0" anchor="ctr"/>
          <a:lstStyle/>
          <a:p>
            <a:pPr algn="ctr" indent="0" marL="0">
              <a:buNone/>
            </a:pPr>
            <a:r>
              <a:rPr lang="en-US" sz="3200" dirty="0">
                <a:solidFill>
                  <a:srgbClr val="0A7A55"/>
                </a:solidFill>
                <a:latin typeface="Inter Display SemiBold" pitchFamily="34" charset="0"/>
                <a:ea typeface="Inter Display SemiBold" pitchFamily="34" charset="-122"/>
                <a:cs typeface="Inter Display SemiBold" pitchFamily="34" charset="-120"/>
              </a:rPr>
              <a:t>call</a:t>
            </a:r>
            <a:endParaRPr lang="en-US" sz="3200" dirty="0"/>
          </a:p>
        </p:txBody>
      </p:sp>
      <p:sp>
        <p:nvSpPr>
          <p:cNvPr id="14" name="Text 11"/>
          <p:cNvSpPr txBox="1"/>
          <p:nvPr/>
        </p:nvSpPr>
        <p:spPr>
          <a:xfrm>
            <a:off x="7505700" y="3759200"/>
            <a:ext cx="2159000" cy="533400"/>
          </a:xfrm>
          <a:prstGeom prst="rect">
            <a:avLst/>
          </a:prstGeom>
          <a:noFill/>
          <a:ln/>
        </p:spPr>
        <p:txBody>
          <a:bodyPr wrap="square" lIns="0" tIns="0" rIns="0" bIns="0" rtlCol="0" anchor="ctr"/>
          <a:lstStyle/>
          <a:p>
            <a:pPr algn="l" indent="0" marL="0">
              <a:buNone/>
            </a:pPr>
            <a:r>
              <a:rPr lang="en-US" sz="4000" dirty="0">
                <a:solidFill>
                  <a:srgbClr val="FFFFFF"/>
                </a:solidFill>
                <a:latin typeface="Inter" pitchFamily="34" charset="0"/>
                <a:ea typeface="Inter" pitchFamily="34" charset="-122"/>
                <a:cs typeface="Inter" pitchFamily="34" charset="-120"/>
              </a:rPr>
              <a:t>proven.</a:t>
            </a:r>
            <a:endParaRPr lang="en-US" sz="4000" dirty="0"/>
          </a:p>
        </p:txBody>
      </p:sp>
      <p:sp>
        <p:nvSpPr>
          <p:cNvPr id="15" name="Text 12"/>
          <p:cNvSpPr txBox="1"/>
          <p:nvPr/>
        </p:nvSpPr>
        <p:spPr>
          <a:xfrm>
            <a:off x="812800" y="4724400"/>
            <a:ext cx="10566400" cy="254000"/>
          </a:xfrm>
          <a:prstGeom prst="rect">
            <a:avLst/>
          </a:prstGeom>
          <a:noFill/>
          <a:ln/>
        </p:spPr>
        <p:txBody>
          <a:bodyPr wrap="square" lIns="0" tIns="0" rIns="0" bIns="0" rtlCol="0" anchor="t"/>
          <a:lstStyle/>
          <a:p>
            <a:pPr algn="ctr" indent="0" marL="0">
              <a:buNone/>
            </a:pPr>
            <a:r>
              <a:rPr lang="en-US" sz="2000" dirty="0">
                <a:solidFill>
                  <a:srgbClr val="FFFFFF"/>
                </a:solidFill>
                <a:latin typeface="Inter" pitchFamily="34" charset="0"/>
                <a:ea typeface="Inter" pitchFamily="34" charset="-122"/>
                <a:cs typeface="Inter" pitchFamily="34" charset="-120"/>
              </a:rPr>
              <a:t>Gaskiyya: The Truth Layer Between Banks and Customers</a:t>
            </a:r>
            <a:endParaRPr lang="en-US" sz="2000" dirty="0"/>
          </a:p>
        </p:txBody>
      </p:sp>
      <p:sp>
        <p:nvSpPr>
          <p:cNvPr id="16" name="Text 13"/>
          <p:cNvSpPr txBox="1"/>
          <p:nvPr/>
        </p:nvSpPr>
        <p:spPr>
          <a:xfrm>
            <a:off x="812800" y="5054600"/>
            <a:ext cx="10566400" cy="203200"/>
          </a:xfrm>
          <a:prstGeom prst="rect">
            <a:avLst/>
          </a:prstGeom>
          <a:noFill/>
          <a:ln/>
        </p:spPr>
        <p:txBody>
          <a:bodyPr wrap="square" lIns="0" tIns="0" rIns="0" bIns="0" rtlCol="0" anchor="t"/>
          <a:lstStyle/>
          <a:p>
            <a:pPr algn="ctr" indent="0" marL="0">
              <a:buNone/>
            </a:pPr>
            <a:r>
              <a:rPr lang="en-US" sz="1400" i="1" dirty="0">
                <a:solidFill>
                  <a:srgbClr val="E3F6EE"/>
                </a:solidFill>
                <a:latin typeface="Inter" pitchFamily="34" charset="0"/>
                <a:ea typeface="Inter" pitchFamily="34" charset="-122"/>
                <a:cs typeface="Inter" pitchFamily="34" charset="-120"/>
              </a:rPr>
              <a:t>Strengthening Trust in Digital Banking  ·  10X Team: Jhmeel and Oluwatobi</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childTnLst>
                          </p:cTn>
                        </p:par>
                        <p:par>
                          <p:cTn id="8" fill="hold">
                            <p:stCondLst>
                              <p:cond delay="1100"/>
                            </p:stCondLst>
                            <p:childTnLst>
                              <p:par>
                                <p:cTn id="9" presetID="10" presetClass="entr" presetSubtype="0" fill="hold" grpId="0" nodeType="afterEffect">
                                  <p:stCondLst>
                                    <p:cond delay="6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600"/>
                                        <p:tgtEl>
                                          <p:spTgt spid="7"/>
                                        </p:tgtEl>
                                      </p:cBhvr>
                                    </p:animEffect>
                                  </p:childTnLst>
                                </p:cTn>
                              </p:par>
                            </p:childTnLst>
                          </p:cTn>
                        </p:par>
                        <p:par>
                          <p:cTn id="12" fill="hold">
                            <p:stCondLst>
                              <p:cond delay="2300"/>
                            </p:stCondLst>
                            <p:childTnLst>
                              <p:par>
                                <p:cTn id="13" presetID="10" presetClass="entr" presetSubtype="0" fill="hold" grpId="0" nodeType="afterEffect">
                                  <p:stCondLst>
                                    <p:cond delay="60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600"/>
                                        <p:tgtEl>
                                          <p:spTgt spid="10"/>
                                        </p:tgtEl>
                                      </p:cBhvr>
                                    </p:animEffect>
                                  </p:childTnLst>
                                </p:cTn>
                              </p:par>
                            </p:childTnLst>
                          </p:cTn>
                        </p:par>
                        <p:par>
                          <p:cTn id="16" fill="hold">
                            <p:stCondLst>
                              <p:cond delay="3500"/>
                            </p:stCondLst>
                            <p:childTnLst>
                              <p:par>
                                <p:cTn id="17" presetID="10" presetClass="entr" presetSubtype="0" fill="hold" grpId="0" nodeType="afterEffect">
                                  <p:stCondLst>
                                    <p:cond delay="60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6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p:bldP spid="13" grpId="0"/>
    </p:bldLst>
  </p:timing>
</p:sld>
</file>

<file path=ppt/theme/theme1.xml><?xml version="1.0" encoding="utf-8"?>
<a:theme xmlns:a="http://schemas.openxmlformats.org/drawingml/2006/main" name="Gaskiyya">
  <a:themeElements>
    <a:clrScheme name="Gaskiyya">
      <a:dk1>
        <a:srgbClr val="0E1512"/>
      </a:dk1>
      <a:lt1>
        <a:srgbClr val="F6F5F1"/>
      </a:lt1>
      <a:dk2>
        <a:srgbClr val="3C3C43"/>
      </a:dk2>
      <a:lt2>
        <a:srgbClr val="F4F3EF"/>
      </a:lt2>
      <a:accent1>
        <a:srgbClr val="0A7A55"/>
      </a:accent1>
      <a:accent2>
        <a:srgbClr val="1FB07C"/>
      </a:accent2>
      <a:accent3>
        <a:srgbClr val="C25E00"/>
      </a:accent3>
      <a:accent4>
        <a:srgbClr val="34C48E"/>
      </a:accent4>
      <a:accent5>
        <a:srgbClr val="FF9F0A"/>
      </a:accent5>
      <a:accent6>
        <a:srgbClr val="FF3B30"/>
      </a:accent6>
      <a:hlink>
        <a:srgbClr val="0A7A55"/>
      </a:hlink>
      <a:folHlink>
        <a:srgbClr val="3C3C43"/>
      </a:folHlink>
    </a:clrScheme>
    <a:fontScheme name="Gaskiyya">
      <a:majorFont>
        <a:latin typeface="Inter Display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Gaskiyya: The Truth Layer Between Banks and Customers</dc:title>
  <dc:subject>PptxGenJS Presentation</dc:subject>
  <dc:creator>10X Team</dc:creator>
  <cp:lastModifiedBy>10X Team</cp:lastModifiedBy>
  <cp:revision>1</cp:revision>
  <dcterms:created xsi:type="dcterms:W3CDTF">2026-10-22T19:38:03Z</dcterms:created>
  <dcterms:modified xsi:type="dcterms:W3CDTF">2026-10-22T19:38:03Z</dcterms:modified>
</cp:coreProperties>
</file>