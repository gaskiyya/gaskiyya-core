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150ce61b-82d1-5cf6-41fa-bf69e030cb38}">
          <p14:sldIdLst>
            <p14:sldId id="256"/>
            <p14:sldId id="257"/>
          </p14:sldIdLst>
        </p14:section>
        <p14:section name="Problem" id="{27796b5c-bdc5-d2e3-eb77-02a469ce410f}">
          <p14:sldIdLst>
            <p14:sldId id="258"/>
            <p14:sldId id="259"/>
            <p14:sldId id="260"/>
          </p14:sldIdLst>
        </p14:section>
        <p14:section name="Solution" id="{158071f8-5d88-001a-e5c5-409431e37108}">
          <p14:sldIdLst>
            <p14:sldId id="261"/>
            <p14:sldId id="262"/>
            <p14:sldId id="263"/>
            <p14:sldId id="264"/>
          </p14:sldIdLst>
        </p14:section>
        <p14:section name="AI" id="{d7c77633-673a-96af-4f2a-77f708a92c8a}">
          <p14:sldIdLst>
            <p14:sldId id="265"/>
          </p14:sldIdLst>
        </p14:section>
        <p14:section name="Impact" id="{92372691-2104-dd20-11fd-8e03968ee8a3}">
          <p14:sldIdLst>
            <p14:sldId id="266"/>
          </p14:sldIdLst>
        </p14:section>
        <p14:section name="Banks" id="{221e753b-5057-0755-6cbc-1f53ec8bf0e9}">
          <p14:sldIdLst>
            <p14:sldId id="267"/>
            <p14:sldId id="268"/>
            <p14:sldId id="269"/>
          </p14:sldIdLst>
        </p14:section>
        <p14:section name="Close" id="{73fa7505-1417-ae50-4e45-f8fe8630dd11}">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in silence. Let the room read the message. Then: "Real or fake? You have three seconds. That is all most people give it." The message is illustrative and names no real bank. Nothing a customer can see on that screen proves who sent it: SMS sender names can be set by whoever sends, caller ID can be spoofed, and a fraudster can copy the bank's wording exactly (docs/DESIGN.md, "The check never relies on caller ID"). Move on after about 15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Gaskiyya is a registry where banks record what they really sent, so a customer can check any message or call against the bank's own records, not a guess. On screen are the real app screens: the same app shows "Sent by your bank" for the genuine message and "Not confirmed" for a copy. Three answers, fixed text: "Sent by your bank", "Not confirmed", "Cannot check right now" (packages/schemas/copy.json, CH-4). Name the track: Strengthening Trust in Digital Banking. Say plainly: everything in the demo runs against a simulated bank (the bank sandbox console); no live banking system or production API is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industry's own 2025 numbers, published by NIBSS on 22 January 2026 [S2]: 67,518 reported digital payment fraud incidents and N25.85bn lost, and NIBSS names social engineering "the most prevalent fraud technique". The per-minute and per-day figures are our arithmetic on those totals: 525,600 minutes in a year divided by 67,518 is one every 7.8 minutes; N25.85bn divided by 365 is about N70.8m a day. Say "reported": these are cases banks reported to NIBSS, so the real number is higher, not lower. If asked about 2024: the press-reported N52.26bn [S3] was, in NIBSS's words, "largely driven by a single fraud incident of N31.1 billion involving one entity" [S2]. For 2023, NIBSS counts show 65.8% of reported cases were social engineering (derived) [S1].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moments from this year. 21 April: the Central Bank of Nigeria itself warned the public about fake messages and emails claiming to come from the CBN, designed to "hack personal accounts" (statement signed by Hakama Sidi-Ali, Acting Director of Corporate Communications; press reports, BusinessDay and AllAfrica) [S16]. May: Truecaller's report, covered by Vanguard on 6 May, found 51% of unknown calls to Nigerians flagged as spam or fraud, the highest in Africa (press report) [S5]. 16 September: the FRSC warned about texts saying a traffic offence had been recorded; one victim paid a N5 "fine" through the link and later found millions of naira had allegedly been taken from her account (press report; no exact figure was published) [S17]. That was the road-safety corps, not a bank, but the trap is identical. And the KPMG/Orange study (Sep 2026) quotes NCC data: more than a third of subscribers were still on 2G in May 2026 [S6]. The point: if fraudsters can be the Central Bank, they can be your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check a customer can do today looks at something the fraudster controls. Caller ID can be spoofed; SMS sender names are set by whoever sends; wording is copied. AI scam detectors output a probability: a perfect copy of the bank's template scores as genuine. Gaskiyya never relies on any of these (docs/DESIGN.md). Our test suite sends ten prompt-injection messages telling the model to call a message genuine; none changes a verdict, because the verdict is fixed before the model runs (AI-2, tests/ai.test.ts). The CBN has told customers for years that banks never ask for PINs or passwords [S10]; that advice only helps once the fraudster asks. The answer has to come from the one party that knows the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bank's notification service sends an SMS, it makes one extra call, POST /v1/messages, with a digest of the text and the recipient's number. The registry turns both into keyed hashes (HMAC-SHA-256, a key per bank) and throws the plain number away. When the customer checks, the phone computes the digest itself, so the text never leaves it, and the registry looks for an exact match among that bank's records for that customer's own number. Change one character: no match (REG-1, CAN tests). Forward a genuine message to someone else: no match (REG-2). Registry slow or down: "Cannot check right now", never genuine (REG-6). Breach the registry: keyed hashes and a few labels, no message text and no phone numbers (SEC-1). The verdict is one pure function with no network or model calls (apps/api/src/domain/verdict.ts). For calls, the contact centre registers the call first and the customer sees the same four-digit code the agent reads out (CALL-1 to CALL-4).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 from the Gaskiyya app (apps/mobile, captured in docs/screens/app-dark). Left: a genuine bank message, confirmed with when and how the bank sent it. Middle: the same message with one character changed: not confirmed, with what the bank really did send recently and why this one looks fake. Right: the bank opens a call before dialling; the app shows a four-digit code that the agent reads aloud; if the caller cannot read it, hang up. The message text is fingerprinted on the phone; only the fingerprint is sent to check it (CH-1). If it is not confirmed, the text, with long numbers hidden, is sent once to explain why (decision 0012).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coverage map, from our own research into how Nigerian bank customers are defrauded (NIBSS 2025: social engineering is the most prevalent technique; SIM swap, account compromise and phishing are rising). Gaskiyya now catches twelve tricks, each with tests on main: fake bank messages and calls, phishing and lookalike links, OTP scripts, edited or forwarded messages, spoofed sender names (REG, LINK, CALL tests); fake customer-care numbers and handles (OFF tests, decision 0014); fake transfer receipts shown to merchants (RCPT tests, decision 0015); fake banking apps and APK downloads (OFF tests); SIM swap before an OTP, using the GSMA CAMARA SIM Swap standard with a simulated network in the demo (SIM tests, decision 0017; no Nigerian network offers the API publicly yet); fake government and agency messages, because agencies can register too (OFF tests); unlicensed loan apps, checked against 1,770 entries from the FCCPC and CBN lists retrieved on 20 Oct 2026 (LIC tests, decision 0016). On the right, be honest: insider abuse (which NIBSS calls the greatest threat), account takeover, card and POS fraud and KYC fraud are other systems' jobs. Gaskiyya stops impersonation; it is not a whole fraud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first: "Everything you are about to see runs against a simulated bank." Run the click path in docs/pitch/script.md. Narrate outcomes, not clicks. A: the bank sent it, so it is confirmed. B: one hyphen added to the link, not confirmed. C: the same genuine message, checked by another customer, not confirmed, because it was never sent to them. D: the bank opens a call; the phone shows the same four digits as the agent's screen. E: the console's feature phone dials the USSD code and sees the call. F: three scam reports become one campaign with a model-written briefing; the warning goes out only after an analyst approves it. If anything fails, use the recovery line for that step (docs/DEMO.md section 7). Evidence: CH-3 and DEMO-3 (tests/console.test.ts), USSD-8, AI-5, AI-9.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four jobs; deciding authenticity is not one of them. 1. Screenshots: Google ML Kit reads the screenshot on the phone, and up to three likely message texts are fingerprinted and checked on the device; only digests are sent. The image goes to a server only if on-device reading fails (apps/mobile/lib/src/core/ocr_mlkit.dart, screenshot.dart; screenshot_test.dart "the OCR path sends digests only"). 2. Explanations for "Not confirmed": long numbers are masked first (AI-4); any model output saying a message is genuine, safe, verified or from the bank is replaced by fixed text (AI-7); a hardened filter blocks any output asking for a PIN, OTP or password, including disguised spellings (F5, tests/secrets.test.ts). 3. Sender warning: a sender that is not one of the bank's sender IDs is flagged; a matching sender never upgrades a verdict, because sender IDs can be faked (AI-8). 4. Fraud desk: reports are grouped deterministically, the model writes a briefing, and the advisory stays a draft until a named analyst approves it; the agent has no tool that sends (AI-5, AI-9). Be honest: for a not-confirmed result, the masked text is sent once to explain it. Ollama runs open-weights models locally (decision 0011); tested against a stand-in, not yet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Fraud lands hardest on people with the least room to check. EFInA: 93% of adults (103m) use a mobile phone, 26% (about 40m) are financially excluded, and at least one in two in priority excluded groups have only a basic phone [S7]. The KPMG/Orange study (Sep 2026) quotes NCC data: more than a third of subscribers were still on 2G in May 2026 [S6]. So Gaskiyya works where people are. USSD on any phone with no data: "Is my bank calling me?" shows the live call code; "Messages my bank sent me today" lists category, channel and time only (USSD-1 to USSD-8). WhatsApp with nothing to install (CH-2), with a LANG command. Five languages across the app, WhatsApp and USSD (LANG-1 to LANG-7); the four non-English ones were drafted without a native speaker and go live for real customers only after review. Accessibility: one screen-reader label for the call code, 2x text, reduced motion (A11Y-1 to A11Y-4). Several banks in one app (BANK-1 to BANK-5).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bank such as Zenith moves now. The CBN's exposure draft on authorised push payment fraud (November 2025) covers fraud induced through deception, social engineering or impersonation. As summarised by BusinessDay on 2 December 2025: when neither institution is negligent and the customer is eligible, both banks share the reimbursement equally; banks with weak KYC or inadequate fraud detection bear the full value; customers report within 72 hours; investigations close within 14 working days; refunds are paid within 48 hours [S18]. It is a draft: do not call it final. Every impersonation stopped before the customer pays is a refund the bank never has to make. Data: the CBN payments data-localisation circular (PSS/DIR/PUB/CIR/001/004) requires payment data generated in Nigeria to be stored in Nigeria by 1 January 2027 (press report) [S11]; Gaskiyya deploys as one Docker image inside the bank, and stores keyed hashes only, in line with NDPA 2023 s.24(1)(c) data minimisation and s.39(2)(a) pseudonymisation [S12]. Integration is one call, POST /v1/messages, at send time. Load test (pnpm load, docs/PERFORMANCE.md): Apple M1 laptop, memory store: 6,056 to 7,696 checks/s and 5,728 to 8,476 registrations/s across three runs; slowest registration-to-confirmed 160 ms against the 2 s REG-7 target. Firestore and production are not measured. Scale mechanics: one document read per check, sharded counters, shared rate limiter, key rotation (KEY-1 to KEY-3), agent as a scheduled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decides whether a message is genuine runs on open-source code: a Fastify registry in TypeScript on Node, the same canonicaliser in Dart on the phone (both pinned to Unicode 15.1, decision 0013), and HMAC-SHA-256 from Node's own crypto. No model and no hosted service sits in that path. The demo runs offline with pnpm demo:offline: memory store, local Ollama or no AI, the bank sandbox console as the bank. Hosted services (Gemini, OpenAI, Firestore, FCM, Resend, WhatsApp, Africa's Talking) are each behind an interface with an offline alternative. Full list with every licence checked: docs/TECH_STACK.md.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proposal, not a signed price [PRICE: to set]; we have no customers. The bank pays because the bank gets the value: fewer impersonation losses and refunds, fewer complaints, and a fraud desk that sees campaigns early. Gaskiyya sends no SMS, so messaging cost is unchanged; retail SMS is about N6 per message after the January 2025 tariff approval (press report) [S13]. Our cost per message is one API call, a small record that expires after 30 days, and one document read per check; infrastructure cost is not yet measured beyond the laptop load test. KPIs are to be measured during the pilot; /v1/metrics already reports registered vs verified counts, the not-confirmed rate and checks by channel (tests/coverage.test.ts).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We want one bank's notification team, contact centre and fraud desk for a pilot: one message type plus outbound calls, in the bank's own environment, with its data protection officer reviewing the design. Everything a pilot needs from us exists today as code with tests; what we need from a bank is the integration point, its security review, and our assumptions (docs/DESIGN.md, Assumptions to confirm) checked against its real systems. None has been checked with a bank yet. End where you began: "Real or fake? With Gaskiyya, you never have to guess." Replace the test count with a fresh run on the day [CONFIRM: test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citations with URLs: docs/pitch/deck.md (Sources). Derived figures are our arithmetic on primary totals: 65.8% (62,901 / 95,620, 2023), one fraud every 7.8 minutes (525,600 / 67,518, 2025), N70.8m a day (N25.85bn / 365, 2025). Not found, and never claimed: an official share of fraud that is specifically SMS, WhatsApp or call impersonation of a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B0F0D"/>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Gaskiyya  |  Zecathon 6.0</a:t>
            </a:r>
            <a:endParaRPr lang="en-US" sz="1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content">
    <p:bg>
      <p:bgPr>
        <a:solidFill>
          <a:srgbClr val="0B0F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Gaskiyya  |  Zecathon 6.0</a:t>
            </a:r>
            <a:endParaRPr lang="en-US" sz="1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slideLayout" Target="../slideLayouts/slideLayout3.xml"/><Relationship Id="rId1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hone sms" descr="Illustrative fake SMS from BANK-ALERT saying the account is restricted, with a shortened link">    </p:cNvPr>
          <p:cNvPicPr>
            <a:picLocks noChangeAspect="1"/>
          </p:cNvPicPr>
          <p:nvPr/>
        </p:nvPicPr>
        <p:blipFill>
          <a:blip r:embed="rId1"/>
          <a:stretch>
            <a:fillRect/>
          </a:stretch>
        </p:blipFill>
        <p:spPr>
          <a:xfrm>
            <a:off x="1371600" y="411480"/>
            <a:ext cx="2584646" cy="5440680"/>
          </a:xfrm>
          <a:prstGeom prst="rect">
            <a:avLst/>
          </a:prstGeom>
        </p:spPr>
      </p:pic>
      <p:sp>
        <p:nvSpPr>
          <p:cNvPr id="3" name="Text 0"/>
          <p:cNvSpPr txBox="1"/>
          <p:nvPr/>
        </p:nvSpPr>
        <p:spPr>
          <a:xfrm>
            <a:off x="1371600" y="5943600"/>
            <a:ext cx="2587752" cy="274320"/>
          </a:xfrm>
          <a:prstGeom prst="rect">
            <a:avLst/>
          </a:prstGeom>
          <a:noFill/>
          <a:ln/>
        </p:spPr>
        <p:txBody>
          <a:bodyPr wrap="square" lIns="0" tIns="0" rIns="0" bIns="0" rtlCol="0" anchor="t"/>
          <a:lstStyle/>
          <a:p>
            <a:pPr algn="ctr" indent="0" marL="0">
              <a:buNone/>
            </a:pPr>
            <a:r>
              <a:rPr lang="en-US" sz="1100" i="1" dirty="0">
                <a:solidFill>
                  <a:schemeClr val="accent5"/>
                </a:solidFill>
              </a:rPr>
              <a:t>Illustrative message</a:t>
            </a:r>
            <a:endParaRPr lang="en-US" sz="1100" dirty="0"/>
          </a:p>
        </p:txBody>
      </p:sp>
      <p:sp>
        <p:nvSpPr>
          <p:cNvPr id="4" name="Text 1"/>
          <p:cNvSpPr txBox="1"/>
          <p:nvPr/>
        </p:nvSpPr>
        <p:spPr>
          <a:xfrm>
            <a:off x="5669280" y="1417320"/>
            <a:ext cx="6035040" cy="100584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Real or fake?</a:t>
            </a:r>
            <a:endParaRPr lang="en-US" sz="6000" dirty="0"/>
          </a:p>
        </p:txBody>
      </p:sp>
      <p:sp>
        <p:nvSpPr>
          <p:cNvPr id="5" name="Text 2"/>
          <p:cNvSpPr txBox="1"/>
          <p:nvPr/>
        </p:nvSpPr>
        <p:spPr>
          <a:xfrm>
            <a:off x="5669280" y="2514600"/>
            <a:ext cx="6035040" cy="640080"/>
          </a:xfrm>
          <a:prstGeom prst="rect">
            <a:avLst/>
          </a:prstGeom>
          <a:noFill/>
          <a:ln/>
        </p:spPr>
        <p:txBody>
          <a:bodyPr wrap="square" lIns="0" tIns="0" rIns="0" bIns="0" rtlCol="0" anchor="t"/>
          <a:lstStyle/>
          <a:p>
            <a:pPr indent="0" marL="0">
              <a:buNone/>
            </a:pPr>
            <a:r>
              <a:rPr lang="en-US" sz="3000" b="1" dirty="0">
                <a:solidFill>
                  <a:schemeClr val="accent3"/>
                </a:solidFill>
              </a:rPr>
              <a:t>You have three seconds.</a:t>
            </a:r>
            <a:endParaRPr lang="en-US" sz="3000" dirty="0"/>
          </a:p>
        </p:txBody>
      </p:sp>
      <p:sp>
        <p:nvSpPr>
          <p:cNvPr id="6" name="Text 3"/>
          <p:cNvSpPr txBox="1"/>
          <p:nvPr/>
        </p:nvSpPr>
        <p:spPr>
          <a:xfrm>
            <a:off x="5669280" y="3429000"/>
            <a:ext cx="5760720" cy="2011680"/>
          </a:xfrm>
          <a:prstGeom prst="rect">
            <a:avLst/>
          </a:prstGeom>
          <a:noFill/>
          <a:ln/>
        </p:spPr>
        <p:txBody>
          <a:bodyPr wrap="square" lIns="0" tIns="0" rIns="0" bIns="0" rtlCol="0" anchor="t"/>
          <a:lstStyle/>
          <a:p>
            <a:pPr indent="0" marL="0">
              <a:buNone/>
            </a:pPr>
            <a:r>
              <a:rPr lang="en-US" sz="2000" dirty="0">
                <a:solidFill>
                  <a:schemeClr val="bg2"/>
                </a:solidFill>
              </a:rPr>
              <a:t>The sender name can be faked. The number can be faked. The wording can be copied word for word.</a:t>
            </a:r>
            <a:endParaRPr lang="en-US" sz="2000" dirty="0"/>
          </a:p>
          <a:p>
            <a:pPr indent="0" marL="0">
              <a:buNone/>
            </a:pPr>
            <a:endParaRPr lang="en-US" sz="2000" dirty="0"/>
          </a:p>
          <a:p>
            <a:pPr indent="0" marL="0">
              <a:buNone/>
            </a:pPr>
            <a:r>
              <a:rPr lang="en-US" sz="2000" dirty="0">
                <a:solidFill>
                  <a:schemeClr val="bg2"/>
                </a:solidFill>
              </a:rPr>
              <a:t>Today, nothing on that screen can tell you the truth.</a:t>
            </a:r>
            <a:endParaRPr lang="en-US" sz="2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22960" y="822960"/>
            <a:ext cx="6309360" cy="1371600"/>
          </a:xfrm>
          <a:prstGeom prst="rect">
            <a:avLst/>
          </a:prstGeom>
          <a:noFill/>
          <a:ln/>
        </p:spPr>
        <p:txBody>
          <a:bodyPr wrap="square" lIns="0" tIns="0" rIns="0" bIns="0" rtlCol="0" anchor="t"/>
          <a:lstStyle/>
          <a:p>
            <a:pPr indent="0" marL="0">
              <a:buNone/>
            </a:pPr>
            <a:r>
              <a:rPr lang="en-US" sz="8800" b="1" dirty="0">
                <a:solidFill>
                  <a:schemeClr val="bg1"/>
                </a:solidFill>
                <a:latin typeface="Arial" pitchFamily="34" charset="0"/>
                <a:ea typeface="Arial" pitchFamily="34" charset="-122"/>
                <a:cs typeface="Arial" pitchFamily="34" charset="-120"/>
              </a:rPr>
              <a:t>Gaskiyya</a:t>
            </a:r>
            <a:endParaRPr lang="en-US" sz="8800" dirty="0"/>
          </a:p>
        </p:txBody>
      </p:sp>
      <p:sp>
        <p:nvSpPr>
          <p:cNvPr id="3" name="Text 1"/>
          <p:cNvSpPr txBox="1"/>
          <p:nvPr/>
        </p:nvSpPr>
        <p:spPr>
          <a:xfrm>
            <a:off x="822960" y="2240280"/>
            <a:ext cx="6035040" cy="914400"/>
          </a:xfrm>
          <a:prstGeom prst="rect">
            <a:avLst/>
          </a:prstGeom>
          <a:noFill/>
          <a:ln/>
        </p:spPr>
        <p:txBody>
          <a:bodyPr wrap="square" lIns="0" tIns="0" rIns="0" bIns="0" rtlCol="0" anchor="t"/>
          <a:lstStyle/>
          <a:p>
            <a:pPr indent="0" marL="0">
              <a:buNone/>
            </a:pPr>
            <a:r>
              <a:rPr lang="en-US" sz="2600" b="1" dirty="0">
                <a:solidFill>
                  <a:schemeClr val="accent1"/>
                </a:solidFill>
              </a:rPr>
              <a:t>Is it really your bank? Now the bank itself answers.</a:t>
            </a:r>
            <a:endParaRPr lang="en-US" sz="2600" dirty="0"/>
          </a:p>
        </p:txBody>
      </p:sp>
      <p:sp>
        <p:nvSpPr>
          <p:cNvPr id="4" name="Verdict Sent by your bank"/>
          <p:cNvSpPr/>
          <p:nvPr/>
        </p:nvSpPr>
        <p:spPr>
          <a:xfrm>
            <a:off x="822960" y="3337560"/>
            <a:ext cx="3291840" cy="475488"/>
          </a:xfrm>
          <a:prstGeom prst="roundRect">
            <a:avLst>
              <a:gd name="adj" fmla="val 50000"/>
            </a:avLst>
          </a:prstGeom>
          <a:solidFill>
            <a:srgbClr val="19C37D"/>
          </a:solidFill>
          <a:ln/>
        </p:spPr>
      </p:sp>
      <p:sp>
        <p:nvSpPr>
          <p:cNvPr id="5" name="Text 3"/>
          <p:cNvSpPr txBox="1"/>
          <p:nvPr/>
        </p:nvSpPr>
        <p:spPr>
          <a:xfrm>
            <a:off x="822960" y="3337560"/>
            <a:ext cx="3291840" cy="475488"/>
          </a:xfrm>
          <a:prstGeom prst="rect">
            <a:avLst/>
          </a:prstGeom>
          <a:noFill/>
          <a:ln/>
        </p:spPr>
        <p:txBody>
          <a:bodyPr wrap="square" lIns="0" tIns="0" rIns="0" bIns="0" rtlCol="0" anchor="ctr"/>
          <a:lstStyle/>
          <a:p>
            <a:pPr algn="ctr" indent="0" marL="0">
              <a:buNone/>
            </a:pPr>
            <a:r>
              <a:rPr lang="en-US" sz="1600" b="1" dirty="0">
                <a:solidFill>
                  <a:srgbClr val="0B0F0D"/>
                </a:solidFill>
              </a:rPr>
              <a:t>Sent by your bank</a:t>
            </a:r>
            <a:endParaRPr lang="en-US" sz="1600" dirty="0"/>
          </a:p>
        </p:txBody>
      </p:sp>
      <p:sp>
        <p:nvSpPr>
          <p:cNvPr id="6" name="Verdict Not confirmed"/>
          <p:cNvSpPr/>
          <p:nvPr/>
        </p:nvSpPr>
        <p:spPr>
          <a:xfrm>
            <a:off x="822960" y="3959352"/>
            <a:ext cx="3291840" cy="475488"/>
          </a:xfrm>
          <a:prstGeom prst="roundRect">
            <a:avLst>
              <a:gd name="adj" fmla="val 50000"/>
            </a:avLst>
          </a:prstGeom>
          <a:solidFill>
            <a:srgbClr val="F5A524"/>
          </a:solidFill>
          <a:ln/>
        </p:spPr>
      </p:sp>
      <p:sp>
        <p:nvSpPr>
          <p:cNvPr id="7" name="Text 5"/>
          <p:cNvSpPr txBox="1"/>
          <p:nvPr/>
        </p:nvSpPr>
        <p:spPr>
          <a:xfrm>
            <a:off x="822960" y="3959352"/>
            <a:ext cx="3291840" cy="475488"/>
          </a:xfrm>
          <a:prstGeom prst="rect">
            <a:avLst/>
          </a:prstGeom>
          <a:noFill/>
          <a:ln/>
        </p:spPr>
        <p:txBody>
          <a:bodyPr wrap="square" lIns="0" tIns="0" rIns="0" bIns="0" rtlCol="0" anchor="ctr"/>
          <a:lstStyle/>
          <a:p>
            <a:pPr algn="ctr" indent="0" marL="0">
              <a:buNone/>
            </a:pPr>
            <a:r>
              <a:rPr lang="en-US" sz="1600" b="1" dirty="0">
                <a:solidFill>
                  <a:srgbClr val="0B0F0D"/>
                </a:solidFill>
              </a:rPr>
              <a:t>Not confirmed</a:t>
            </a:r>
            <a:endParaRPr lang="en-US" sz="1600" dirty="0"/>
          </a:p>
        </p:txBody>
      </p:sp>
      <p:sp>
        <p:nvSpPr>
          <p:cNvPr id="8" name="Verdict Cannot check right now"/>
          <p:cNvSpPr/>
          <p:nvPr/>
        </p:nvSpPr>
        <p:spPr>
          <a:xfrm>
            <a:off x="822960" y="4581144"/>
            <a:ext cx="3291840" cy="475488"/>
          </a:xfrm>
          <a:prstGeom prst="roundRect">
            <a:avLst>
              <a:gd name="adj" fmla="val 50000"/>
            </a:avLst>
          </a:prstGeom>
          <a:solidFill>
            <a:srgbClr val="3A4741"/>
          </a:solidFill>
          <a:ln/>
        </p:spPr>
      </p:sp>
      <p:sp>
        <p:nvSpPr>
          <p:cNvPr id="9" name="Text 7"/>
          <p:cNvSpPr txBox="1"/>
          <p:nvPr/>
        </p:nvSpPr>
        <p:spPr>
          <a:xfrm>
            <a:off x="822960" y="4581144"/>
            <a:ext cx="3291840" cy="475488"/>
          </a:xfrm>
          <a:prstGeom prst="rect">
            <a:avLst/>
          </a:prstGeom>
          <a:noFill/>
          <a:ln/>
        </p:spPr>
        <p:txBody>
          <a:bodyPr wrap="square" lIns="0" tIns="0" rIns="0" bIns="0" rtlCol="0" anchor="ctr"/>
          <a:lstStyle/>
          <a:p>
            <a:pPr algn="ctr" indent="0" marL="0">
              <a:buNone/>
            </a:pPr>
            <a:r>
              <a:rPr lang="en-US" sz="1600" b="1" dirty="0">
                <a:solidFill>
                  <a:srgbClr val="FFFFFF"/>
                </a:solidFill>
              </a:rPr>
              <a:t>Cannot check right now</a:t>
            </a:r>
            <a:endParaRPr lang="en-US" sz="1600" dirty="0"/>
          </a:p>
        </p:txBody>
      </p:sp>
      <p:sp>
        <p:nvSpPr>
          <p:cNvPr id="10" name="Text 8"/>
          <p:cNvSpPr txBox="1"/>
          <p:nvPr/>
        </p:nvSpPr>
        <p:spPr>
          <a:xfrm>
            <a:off x="4343400" y="3383280"/>
            <a:ext cx="2651760" cy="822960"/>
          </a:xfrm>
          <a:prstGeom prst="rect">
            <a:avLst/>
          </a:prstGeom>
          <a:noFill/>
          <a:ln/>
        </p:spPr>
        <p:txBody>
          <a:bodyPr wrap="square" lIns="0" tIns="0" rIns="0" bIns="0" rtlCol="0" anchor="t"/>
          <a:lstStyle/>
          <a:p>
            <a:pPr indent="0" marL="0">
              <a:buNone/>
            </a:pPr>
            <a:r>
              <a:rPr lang="en-US" sz="1400" i="1" dirty="0">
                <a:solidFill>
                  <a:schemeClr val="bg2"/>
                </a:solidFill>
              </a:rPr>
              <a:t>"Gaskiyya" is Hausa for truth (gas-KEE-ya)</a:t>
            </a:r>
            <a:endParaRPr lang="en-US" sz="1400" dirty="0"/>
          </a:p>
        </p:txBody>
      </p:sp>
      <p:sp>
        <p:nvSpPr>
          <p:cNvPr id="11" name="Text 9"/>
          <p:cNvSpPr txBox="1"/>
          <p:nvPr/>
        </p:nvSpPr>
        <p:spPr>
          <a:xfrm>
            <a:off x="822960" y="5349240"/>
            <a:ext cx="6217920" cy="822960"/>
          </a:xfrm>
          <a:prstGeom prst="rect">
            <a:avLst/>
          </a:prstGeom>
          <a:noFill/>
          <a:ln/>
        </p:spPr>
        <p:txBody>
          <a:bodyPr wrap="square" lIns="0" tIns="0" rIns="0" bIns="0" rtlCol="0" anchor="t"/>
          <a:lstStyle/>
          <a:p>
            <a:pPr indent="0" marL="0">
              <a:buNone/>
            </a:pPr>
            <a:r>
              <a:rPr lang="en-US" sz="1200" dirty="0">
                <a:solidFill>
                  <a:schemeClr val="accent5"/>
                </a:solidFill>
              </a:rPr>
              <a:t>Track: Strengthening Trust in Digital Banking</a:t>
            </a:r>
            <a:endParaRPr lang="en-US" sz="1200" dirty="0"/>
          </a:p>
          <a:p>
            <a:pPr indent="0" marL="0">
              <a:buNone/>
            </a:pPr>
            <a:r>
              <a:rPr lang="en-US" sz="1200" dirty="0">
                <a:solidFill>
                  <a:schemeClr val="accent5"/>
                </a:solidFill>
              </a:rPr>
              <a:t>[TEAM NAME]  |  Simulated bank systems only: no live banking or production APIs</a:t>
            </a:r>
            <a:endParaRPr lang="en-US" sz="1200" dirty="0"/>
          </a:p>
        </p:txBody>
      </p:sp>
      <p:pic>
        <p:nvPicPr>
          <p:cNvPr id="12" name="Phone confirmed" descr="App screen: message check, Sent by your bank">    </p:cNvPr>
          <p:cNvPicPr>
            <a:picLocks noChangeAspect="1"/>
          </p:cNvPicPr>
          <p:nvPr/>
        </p:nvPicPr>
        <p:blipFill>
          <a:blip r:embed="rId1"/>
          <a:stretch>
            <a:fillRect/>
          </a:stretch>
        </p:blipFill>
        <p:spPr>
          <a:xfrm>
            <a:off x="7269480" y="502920"/>
            <a:ext cx="2345729" cy="4937760"/>
          </a:xfrm>
          <a:prstGeom prst="rect">
            <a:avLst/>
          </a:prstGeom>
        </p:spPr>
      </p:pic>
      <p:pic>
        <p:nvPicPr>
          <p:cNvPr id="13" name="Phone notconf" descr="App screen: message check, Not confirmed">    </p:cNvPr>
          <p:cNvPicPr>
            <a:picLocks noChangeAspect="1"/>
          </p:cNvPicPr>
          <p:nvPr/>
        </p:nvPicPr>
        <p:blipFill>
          <a:blip r:embed="rId2"/>
          <a:stretch>
            <a:fillRect/>
          </a:stretch>
        </p:blipFill>
        <p:spPr>
          <a:xfrm>
            <a:off x="9509760" y="960120"/>
            <a:ext cx="2345729" cy="4937760"/>
          </a:xfrm>
          <a:prstGeom prst="rect">
            <a:avLst/>
          </a:prstGeom>
        </p:spPr>
      </p:pic>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685800"/>
            <a:ext cx="10515600" cy="548640"/>
          </a:xfrm>
          <a:prstGeom prst="rect">
            <a:avLst/>
          </a:prstGeom>
          <a:noFill/>
          <a:ln/>
        </p:spPr>
        <p:txBody>
          <a:bodyPr wrap="square" lIns="0" tIns="0" rIns="0" bIns="0" rtlCol="0" anchor="t"/>
          <a:lstStyle/>
          <a:p>
            <a:pPr indent="0" marL="0">
              <a:buNone/>
            </a:pPr>
            <a:r>
              <a:rPr lang="en-US" sz="2400" dirty="0">
                <a:solidFill>
                  <a:schemeClr val="bg2"/>
                </a:solidFill>
              </a:rPr>
              <a:t>In Nigeria, a digital payment fraud is reported</a:t>
            </a:r>
            <a:endParaRPr lang="en-US" sz="2400" dirty="0"/>
          </a:p>
        </p:txBody>
      </p:sp>
      <p:sp>
        <p:nvSpPr>
          <p:cNvPr id="3" name="Text 1"/>
          <p:cNvSpPr txBox="1"/>
          <p:nvPr/>
        </p:nvSpPr>
        <p:spPr>
          <a:xfrm>
            <a:off x="822960" y="1234440"/>
            <a:ext cx="10515600" cy="1371600"/>
          </a:xfrm>
          <a:prstGeom prst="rect">
            <a:avLst/>
          </a:prstGeom>
          <a:noFill/>
          <a:ln/>
        </p:spPr>
        <p:txBody>
          <a:bodyPr wrap="square" lIns="0" tIns="0" rIns="0" bIns="0" rtlCol="0" anchor="t"/>
          <a:lstStyle/>
          <a:p>
            <a:pPr indent="0" marL="0">
              <a:buNone/>
            </a:pPr>
            <a:r>
              <a:rPr lang="en-US" sz="8000" b="1" dirty="0">
                <a:solidFill>
                  <a:schemeClr val="accent3"/>
                </a:solidFill>
                <a:latin typeface="Arial" pitchFamily="34" charset="0"/>
                <a:ea typeface="Arial" pitchFamily="34" charset="-122"/>
                <a:cs typeface="Arial" pitchFamily="34" charset="-120"/>
              </a:rPr>
              <a:t>every 7.8 minutes.</a:t>
            </a:r>
            <a:endParaRPr lang="en-US" sz="8000" dirty="0"/>
          </a:p>
        </p:txBody>
      </p:sp>
      <p:sp>
        <p:nvSpPr>
          <p:cNvPr id="4" name="Stat 1"/>
          <p:cNvSpPr/>
          <p:nvPr/>
        </p:nvSpPr>
        <p:spPr>
          <a:xfrm>
            <a:off x="822960" y="3063240"/>
            <a:ext cx="3474720" cy="2194560"/>
          </a:xfrm>
          <a:prstGeom prst="roundRect">
            <a:avLst>
              <a:gd name="adj" fmla="val 5833"/>
            </a:avLst>
          </a:prstGeom>
          <a:solidFill>
            <a:schemeClr val="accent6"/>
          </a:solidFill>
          <a:ln/>
        </p:spPr>
      </p:sp>
      <p:sp>
        <p:nvSpPr>
          <p:cNvPr id="5" name="Text 3"/>
          <p:cNvSpPr txBox="1"/>
          <p:nvPr/>
        </p:nvSpPr>
        <p:spPr>
          <a:xfrm>
            <a:off x="1097280" y="3291840"/>
            <a:ext cx="3017520" cy="914400"/>
          </a:xfrm>
          <a:prstGeom prst="rect">
            <a:avLst/>
          </a:prstGeom>
          <a:noFill/>
          <a:ln/>
        </p:spPr>
        <p:txBody>
          <a:bodyPr wrap="square" lIns="0" tIns="0" rIns="0" bIns="0" rtlCol="0" anchor="t"/>
          <a:lstStyle/>
          <a:p>
            <a:pPr indent="0" marL="0">
              <a:buNone/>
            </a:pPr>
            <a:r>
              <a:rPr lang="en-US" sz="4600" b="1" dirty="0">
                <a:solidFill>
                  <a:schemeClr val="accent1"/>
                </a:solidFill>
                <a:latin typeface="Arial" pitchFamily="34" charset="0"/>
                <a:ea typeface="Arial" pitchFamily="34" charset="-122"/>
                <a:cs typeface="Arial" pitchFamily="34" charset="-120"/>
              </a:rPr>
              <a:t>N70.8m</a:t>
            </a:r>
            <a:endParaRPr lang="en-US" sz="4600" dirty="0"/>
          </a:p>
        </p:txBody>
      </p:sp>
      <p:sp>
        <p:nvSpPr>
          <p:cNvPr id="6" name="Text 4"/>
          <p:cNvSpPr txBox="1"/>
          <p:nvPr/>
        </p:nvSpPr>
        <p:spPr>
          <a:xfrm>
            <a:off x="1097280" y="4297680"/>
            <a:ext cx="2971800" cy="822960"/>
          </a:xfrm>
          <a:prstGeom prst="rect">
            <a:avLst/>
          </a:prstGeom>
          <a:noFill/>
          <a:ln/>
        </p:spPr>
        <p:txBody>
          <a:bodyPr wrap="square" lIns="0" tIns="0" rIns="0" bIns="0" rtlCol="0" anchor="t"/>
          <a:lstStyle/>
          <a:p>
            <a:pPr indent="0" marL="0">
              <a:buNone/>
            </a:pPr>
            <a:r>
              <a:rPr lang="en-US" sz="1600" dirty="0">
                <a:solidFill>
                  <a:schemeClr val="bg1"/>
                </a:solidFill>
              </a:rPr>
              <a:t>lost every single day in 2025</a:t>
            </a:r>
            <a:endParaRPr lang="en-US" sz="1600" dirty="0"/>
          </a:p>
        </p:txBody>
      </p:sp>
      <p:sp>
        <p:nvSpPr>
          <p:cNvPr id="7" name="Stat 2"/>
          <p:cNvSpPr/>
          <p:nvPr/>
        </p:nvSpPr>
        <p:spPr>
          <a:xfrm>
            <a:off x="4526280" y="3063240"/>
            <a:ext cx="3474720" cy="2194560"/>
          </a:xfrm>
          <a:prstGeom prst="roundRect">
            <a:avLst>
              <a:gd name="adj" fmla="val 5833"/>
            </a:avLst>
          </a:prstGeom>
          <a:solidFill>
            <a:schemeClr val="accent6"/>
          </a:solidFill>
          <a:ln/>
        </p:spPr>
      </p:sp>
      <p:sp>
        <p:nvSpPr>
          <p:cNvPr id="8" name="Text 6"/>
          <p:cNvSpPr txBox="1"/>
          <p:nvPr/>
        </p:nvSpPr>
        <p:spPr>
          <a:xfrm>
            <a:off x="4800600" y="3291840"/>
            <a:ext cx="3017520" cy="914400"/>
          </a:xfrm>
          <a:prstGeom prst="rect">
            <a:avLst/>
          </a:prstGeom>
          <a:noFill/>
          <a:ln/>
        </p:spPr>
        <p:txBody>
          <a:bodyPr wrap="square" lIns="0" tIns="0" rIns="0" bIns="0" rtlCol="0" anchor="t"/>
          <a:lstStyle/>
          <a:p>
            <a:pPr indent="0" marL="0">
              <a:buNone/>
            </a:pPr>
            <a:r>
              <a:rPr lang="en-US" sz="4600" b="1" dirty="0">
                <a:solidFill>
                  <a:schemeClr val="accent1"/>
                </a:solidFill>
                <a:latin typeface="Arial" pitchFamily="34" charset="0"/>
                <a:ea typeface="Arial" pitchFamily="34" charset="-122"/>
                <a:cs typeface="Arial" pitchFamily="34" charset="-120"/>
              </a:rPr>
              <a:t>N25.85bn</a:t>
            </a:r>
            <a:endParaRPr lang="en-US" sz="4600" dirty="0"/>
          </a:p>
        </p:txBody>
      </p:sp>
      <p:sp>
        <p:nvSpPr>
          <p:cNvPr id="9" name="Text 7"/>
          <p:cNvSpPr txBox="1"/>
          <p:nvPr/>
        </p:nvSpPr>
        <p:spPr>
          <a:xfrm>
            <a:off x="4800600" y="4297680"/>
            <a:ext cx="2971800" cy="822960"/>
          </a:xfrm>
          <a:prstGeom prst="rect">
            <a:avLst/>
          </a:prstGeom>
          <a:noFill/>
          <a:ln/>
        </p:spPr>
        <p:txBody>
          <a:bodyPr wrap="square" lIns="0" tIns="0" rIns="0" bIns="0" rtlCol="0" anchor="t"/>
          <a:lstStyle/>
          <a:p>
            <a:pPr indent="0" marL="0">
              <a:buNone/>
            </a:pPr>
            <a:r>
              <a:rPr lang="en-US" sz="1600" dirty="0">
                <a:solidFill>
                  <a:schemeClr val="bg1"/>
                </a:solidFill>
              </a:rPr>
              <a:t>lost to digital payment fraud in 2025</a:t>
            </a:r>
            <a:endParaRPr lang="en-US" sz="1600" dirty="0"/>
          </a:p>
        </p:txBody>
      </p:sp>
      <p:sp>
        <p:nvSpPr>
          <p:cNvPr id="10" name="Stat 3"/>
          <p:cNvSpPr/>
          <p:nvPr/>
        </p:nvSpPr>
        <p:spPr>
          <a:xfrm>
            <a:off x="8229600" y="3063240"/>
            <a:ext cx="3474720" cy="2194560"/>
          </a:xfrm>
          <a:prstGeom prst="roundRect">
            <a:avLst>
              <a:gd name="adj" fmla="val 5833"/>
            </a:avLst>
          </a:prstGeom>
          <a:solidFill>
            <a:schemeClr val="accent6"/>
          </a:solidFill>
          <a:ln/>
        </p:spPr>
      </p:sp>
      <p:sp>
        <p:nvSpPr>
          <p:cNvPr id="11" name="Text 9"/>
          <p:cNvSpPr txBox="1"/>
          <p:nvPr/>
        </p:nvSpPr>
        <p:spPr>
          <a:xfrm>
            <a:off x="8503920" y="3291840"/>
            <a:ext cx="3017520" cy="914400"/>
          </a:xfrm>
          <a:prstGeom prst="rect">
            <a:avLst/>
          </a:prstGeom>
          <a:noFill/>
          <a:ln/>
        </p:spPr>
        <p:txBody>
          <a:bodyPr wrap="square" lIns="0" tIns="0" rIns="0" bIns="0" rtlCol="0" anchor="t"/>
          <a:lstStyle/>
          <a:p>
            <a:pPr indent="0" marL="0">
              <a:buNone/>
            </a:pPr>
            <a:r>
              <a:rPr lang="en-US" sz="4600" b="1" dirty="0">
                <a:solidFill>
                  <a:schemeClr val="accent2"/>
                </a:solidFill>
                <a:latin typeface="Arial" pitchFamily="34" charset="0"/>
                <a:ea typeface="Arial" pitchFamily="34" charset="-122"/>
                <a:cs typeface="Arial" pitchFamily="34" charset="-120"/>
              </a:rPr>
              <a:t>#1</a:t>
            </a:r>
            <a:endParaRPr lang="en-US" sz="4600" dirty="0"/>
          </a:p>
        </p:txBody>
      </p:sp>
      <p:sp>
        <p:nvSpPr>
          <p:cNvPr id="12" name="Text 10"/>
          <p:cNvSpPr txBox="1"/>
          <p:nvPr/>
        </p:nvSpPr>
        <p:spPr>
          <a:xfrm>
            <a:off x="8503920" y="4297680"/>
            <a:ext cx="2971800" cy="822960"/>
          </a:xfrm>
          <a:prstGeom prst="rect">
            <a:avLst/>
          </a:prstGeom>
          <a:noFill/>
          <a:ln/>
        </p:spPr>
        <p:txBody>
          <a:bodyPr wrap="square" lIns="0" tIns="0" rIns="0" bIns="0" rtlCol="0" anchor="t"/>
          <a:lstStyle/>
          <a:p>
            <a:pPr indent="0" marL="0">
              <a:buNone/>
            </a:pPr>
            <a:r>
              <a:rPr lang="en-US" sz="1600" dirty="0">
                <a:solidFill>
                  <a:schemeClr val="bg1"/>
                </a:solidFill>
              </a:rPr>
              <a:t>technique: social engineering, "the most prevalent"</a:t>
            </a:r>
            <a:endParaRPr lang="en-US" sz="1600" dirty="0"/>
          </a:p>
        </p:txBody>
      </p:sp>
      <p:sp>
        <p:nvSpPr>
          <p:cNvPr id="13" name="Text 11"/>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050" i="1" dirty="0">
                <a:solidFill>
                  <a:schemeClr val="accent5"/>
                </a:solidFill>
              </a:rPr>
              <a:t>NIBSS, 22 Jan 2026 [S2]: 67,518 incidents and N25.85bn lost in 2025. "Every 7.8 minutes" (525,600 min / 67,518) and "N70.8m a day" (N25.85bn / 365) are derived by us. Reported cases only.</a:t>
            </a:r>
            <a:endParaRPr lang="en-US" sz="10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2026: they impersonate anyone</a:t>
            </a:r>
            <a:endParaRPr lang="en-US" sz="3800" dirty="0"/>
          </a:p>
        </p:txBody>
      </p:sp>
      <p:sp>
        <p:nvSpPr>
          <p:cNvPr id="3" name="Timeline"/>
          <p:cNvSpPr/>
          <p:nvPr/>
        </p:nvSpPr>
        <p:spPr>
          <a:xfrm>
            <a:off x="822960" y="1965960"/>
            <a:ext cx="10607040" cy="0"/>
          </a:xfrm>
          <a:prstGeom prst="line">
            <a:avLst/>
          </a:prstGeom>
          <a:noFill/>
          <a:ln w="25400">
            <a:solidFill>
              <a:srgbClr val="6E7F76"/>
            </a:solidFill>
            <a:prstDash val="solid"/>
          </a:ln>
        </p:spPr>
      </p:sp>
      <p:sp>
        <p:nvSpPr>
          <p:cNvPr id="4" name="Dot 1"/>
          <p:cNvSpPr/>
          <p:nvPr/>
        </p:nvSpPr>
        <p:spPr>
          <a:xfrm>
            <a:off x="868680" y="1828800"/>
            <a:ext cx="274320" cy="274320"/>
          </a:xfrm>
          <a:prstGeom prst="ellipse">
            <a:avLst/>
          </a:prstGeom>
          <a:solidFill>
            <a:srgbClr val="19C37D"/>
          </a:solidFill>
          <a:ln/>
        </p:spPr>
      </p:sp>
      <p:sp>
        <p:nvSpPr>
          <p:cNvPr id="5" name="Text 3"/>
          <p:cNvSpPr txBox="1"/>
          <p:nvPr/>
        </p:nvSpPr>
        <p:spPr>
          <a:xfrm>
            <a:off x="822960" y="1371600"/>
            <a:ext cx="2560320" cy="365760"/>
          </a:xfrm>
          <a:prstGeom prst="rect">
            <a:avLst/>
          </a:prstGeom>
          <a:noFill/>
          <a:ln/>
        </p:spPr>
        <p:txBody>
          <a:bodyPr wrap="square" lIns="0" tIns="0" rIns="0" bIns="0" rtlCol="0" anchor="t"/>
          <a:lstStyle/>
          <a:p>
            <a:pPr indent="0" marL="0">
              <a:buNone/>
            </a:pPr>
            <a:r>
              <a:rPr lang="en-US" sz="1600" b="1" dirty="0">
                <a:solidFill>
                  <a:schemeClr val="accent1"/>
                </a:solidFill>
              </a:rPr>
              <a:t>21 APR</a:t>
            </a:r>
            <a:endParaRPr lang="en-US" sz="1600" dirty="0"/>
          </a:p>
        </p:txBody>
      </p:sp>
      <p:sp>
        <p:nvSpPr>
          <p:cNvPr id="6" name="Text 4"/>
          <p:cNvSpPr txBox="1"/>
          <p:nvPr/>
        </p:nvSpPr>
        <p:spPr>
          <a:xfrm>
            <a:off x="822960" y="2377440"/>
            <a:ext cx="2560320" cy="822960"/>
          </a:xfrm>
          <a:prstGeom prst="rect">
            <a:avLst/>
          </a:prstGeom>
          <a:noFill/>
          <a:ln/>
        </p:spPr>
        <p:txBody>
          <a:bodyPr wrap="square" lIns="0" tIns="0" rIns="0" bIns="0" rtlCol="0" anchor="t"/>
          <a:lstStyle/>
          <a:p>
            <a:pPr indent="0" marL="0">
              <a:buNone/>
            </a:pPr>
            <a:r>
              <a:rPr lang="en-US" sz="2200" b="1" dirty="0">
                <a:solidFill>
                  <a:schemeClr val="bg1"/>
                </a:solidFill>
              </a:rPr>
              <a:t>Even the Central Bank</a:t>
            </a:r>
            <a:endParaRPr lang="en-US" sz="2200" dirty="0"/>
          </a:p>
        </p:txBody>
      </p:sp>
      <p:sp>
        <p:nvSpPr>
          <p:cNvPr id="7" name="Text 5"/>
          <p:cNvSpPr txBox="1"/>
          <p:nvPr/>
        </p:nvSpPr>
        <p:spPr>
          <a:xfrm>
            <a:off x="822960" y="3200400"/>
            <a:ext cx="2514600" cy="2194560"/>
          </a:xfrm>
          <a:prstGeom prst="rect">
            <a:avLst/>
          </a:prstGeom>
          <a:noFill/>
          <a:ln/>
        </p:spPr>
        <p:txBody>
          <a:bodyPr wrap="square" lIns="0" tIns="0" rIns="0" bIns="0" rtlCol="0" anchor="t"/>
          <a:lstStyle/>
          <a:p>
            <a:pPr indent="0" marL="0">
              <a:buNone/>
            </a:pPr>
            <a:r>
              <a:rPr lang="en-US" sz="1500" dirty="0">
                <a:solidFill>
                  <a:schemeClr val="bg2"/>
                </a:solidFill>
              </a:rPr>
              <a:t>The CBN warns the public about fake messages claiming to be the CBN, built to hack personal accounts [S16]</a:t>
            </a:r>
            <a:endParaRPr lang="en-US" sz="1500" dirty="0"/>
          </a:p>
        </p:txBody>
      </p:sp>
      <p:sp>
        <p:nvSpPr>
          <p:cNvPr id="8" name="Dot 2"/>
          <p:cNvSpPr/>
          <p:nvPr/>
        </p:nvSpPr>
        <p:spPr>
          <a:xfrm>
            <a:off x="3611880" y="1828800"/>
            <a:ext cx="274320" cy="274320"/>
          </a:xfrm>
          <a:prstGeom prst="ellipse">
            <a:avLst/>
          </a:prstGeom>
          <a:solidFill>
            <a:srgbClr val="19C37D"/>
          </a:solidFill>
          <a:ln/>
        </p:spPr>
      </p:sp>
      <p:sp>
        <p:nvSpPr>
          <p:cNvPr id="9" name="Text 7"/>
          <p:cNvSpPr txBox="1"/>
          <p:nvPr/>
        </p:nvSpPr>
        <p:spPr>
          <a:xfrm>
            <a:off x="3566160" y="1371600"/>
            <a:ext cx="2560320" cy="365760"/>
          </a:xfrm>
          <a:prstGeom prst="rect">
            <a:avLst/>
          </a:prstGeom>
          <a:noFill/>
          <a:ln/>
        </p:spPr>
        <p:txBody>
          <a:bodyPr wrap="square" lIns="0" tIns="0" rIns="0" bIns="0" rtlCol="0" anchor="t"/>
          <a:lstStyle/>
          <a:p>
            <a:pPr indent="0" marL="0">
              <a:buNone/>
            </a:pPr>
            <a:r>
              <a:rPr lang="en-US" sz="1600" b="1" dirty="0">
                <a:solidFill>
                  <a:schemeClr val="accent1"/>
                </a:solidFill>
              </a:rPr>
              <a:t>MAY</a:t>
            </a:r>
            <a:endParaRPr lang="en-US" sz="1600" dirty="0"/>
          </a:p>
        </p:txBody>
      </p:sp>
      <p:sp>
        <p:nvSpPr>
          <p:cNvPr id="10" name="Text 8"/>
          <p:cNvSpPr txBox="1"/>
          <p:nvPr/>
        </p:nvSpPr>
        <p:spPr>
          <a:xfrm>
            <a:off x="3566160" y="2377440"/>
            <a:ext cx="2560320" cy="822960"/>
          </a:xfrm>
          <a:prstGeom prst="rect">
            <a:avLst/>
          </a:prstGeom>
          <a:noFill/>
          <a:ln/>
        </p:spPr>
        <p:txBody>
          <a:bodyPr wrap="square" lIns="0" tIns="0" rIns="0" bIns="0" rtlCol="0" anchor="t"/>
          <a:lstStyle/>
          <a:p>
            <a:pPr indent="0" marL="0">
              <a:buNone/>
            </a:pPr>
            <a:r>
              <a:rPr lang="en-US" sz="2200" b="1" dirty="0">
                <a:solidFill>
                  <a:schemeClr val="bg1"/>
                </a:solidFill>
              </a:rPr>
              <a:t>Your phone rings</a:t>
            </a:r>
            <a:endParaRPr lang="en-US" sz="2200" dirty="0"/>
          </a:p>
        </p:txBody>
      </p:sp>
      <p:sp>
        <p:nvSpPr>
          <p:cNvPr id="11" name="Text 9"/>
          <p:cNvSpPr txBox="1"/>
          <p:nvPr/>
        </p:nvSpPr>
        <p:spPr>
          <a:xfrm>
            <a:off x="3566160" y="3200400"/>
            <a:ext cx="2514600" cy="2194560"/>
          </a:xfrm>
          <a:prstGeom prst="rect">
            <a:avLst/>
          </a:prstGeom>
          <a:noFill/>
          <a:ln/>
        </p:spPr>
        <p:txBody>
          <a:bodyPr wrap="square" lIns="0" tIns="0" rIns="0" bIns="0" rtlCol="0" anchor="t"/>
          <a:lstStyle/>
          <a:p>
            <a:pPr indent="0" marL="0">
              <a:buNone/>
            </a:pPr>
            <a:r>
              <a:rPr lang="en-US" sz="1500" dirty="0">
                <a:solidFill>
                  <a:schemeClr val="bg2"/>
                </a:solidFill>
              </a:rPr>
              <a:t>51% of unknown calls to Nigerians in 2025 were flagged as spam or fraud: the highest in Africa [S5]</a:t>
            </a:r>
            <a:endParaRPr lang="en-US" sz="1500" dirty="0"/>
          </a:p>
        </p:txBody>
      </p:sp>
      <p:sp>
        <p:nvSpPr>
          <p:cNvPr id="12" name="Dot 3"/>
          <p:cNvSpPr/>
          <p:nvPr/>
        </p:nvSpPr>
        <p:spPr>
          <a:xfrm>
            <a:off x="6355080" y="1828800"/>
            <a:ext cx="274320" cy="274320"/>
          </a:xfrm>
          <a:prstGeom prst="ellipse">
            <a:avLst/>
          </a:prstGeom>
          <a:solidFill>
            <a:srgbClr val="FF4D4F"/>
          </a:solidFill>
          <a:ln/>
        </p:spPr>
      </p:sp>
      <p:sp>
        <p:nvSpPr>
          <p:cNvPr id="13" name="Text 11"/>
          <p:cNvSpPr txBox="1"/>
          <p:nvPr/>
        </p:nvSpPr>
        <p:spPr>
          <a:xfrm>
            <a:off x="6309360" y="1371600"/>
            <a:ext cx="2560320" cy="365760"/>
          </a:xfrm>
          <a:prstGeom prst="rect">
            <a:avLst/>
          </a:prstGeom>
          <a:noFill/>
          <a:ln/>
        </p:spPr>
        <p:txBody>
          <a:bodyPr wrap="square" lIns="0" tIns="0" rIns="0" bIns="0" rtlCol="0" anchor="t"/>
          <a:lstStyle/>
          <a:p>
            <a:pPr indent="0" marL="0">
              <a:buNone/>
            </a:pPr>
            <a:r>
              <a:rPr lang="en-US" sz="1600" b="1" dirty="0">
                <a:solidFill>
                  <a:schemeClr val="accent3"/>
                </a:solidFill>
              </a:rPr>
              <a:t>16 SEP</a:t>
            </a:r>
            <a:endParaRPr lang="en-US" sz="1600" dirty="0"/>
          </a:p>
        </p:txBody>
      </p:sp>
      <p:sp>
        <p:nvSpPr>
          <p:cNvPr id="14" name="Text 12"/>
          <p:cNvSpPr txBox="1"/>
          <p:nvPr/>
        </p:nvSpPr>
        <p:spPr>
          <a:xfrm>
            <a:off x="6309360" y="2377440"/>
            <a:ext cx="2560320" cy="822960"/>
          </a:xfrm>
          <a:prstGeom prst="rect">
            <a:avLst/>
          </a:prstGeom>
          <a:noFill/>
          <a:ln/>
        </p:spPr>
        <p:txBody>
          <a:bodyPr wrap="square" lIns="0" tIns="0" rIns="0" bIns="0" rtlCol="0" anchor="t"/>
          <a:lstStyle/>
          <a:p>
            <a:pPr indent="0" marL="0">
              <a:buNone/>
            </a:pPr>
            <a:r>
              <a:rPr lang="en-US" sz="2200" b="1" dirty="0">
                <a:solidFill>
                  <a:schemeClr val="bg1"/>
                </a:solidFill>
              </a:rPr>
              <a:t>A N5 "traffic fine"</a:t>
            </a:r>
            <a:endParaRPr lang="en-US" sz="2200" dirty="0"/>
          </a:p>
        </p:txBody>
      </p:sp>
      <p:sp>
        <p:nvSpPr>
          <p:cNvPr id="15" name="Text 13"/>
          <p:cNvSpPr txBox="1"/>
          <p:nvPr/>
        </p:nvSpPr>
        <p:spPr>
          <a:xfrm>
            <a:off x="6309360" y="3200400"/>
            <a:ext cx="2514600" cy="2194560"/>
          </a:xfrm>
          <a:prstGeom prst="rect">
            <a:avLst/>
          </a:prstGeom>
          <a:noFill/>
          <a:ln/>
        </p:spPr>
        <p:txBody>
          <a:bodyPr wrap="square" lIns="0" tIns="0" rIns="0" bIns="0" rtlCol="0" anchor="t"/>
          <a:lstStyle/>
          <a:p>
            <a:pPr indent="0" marL="0">
              <a:buNone/>
            </a:pPr>
            <a:r>
              <a:rPr lang="en-US" sz="1500" dirty="0">
                <a:solidFill>
                  <a:schemeClr val="bg2"/>
                </a:solidFill>
              </a:rPr>
              <a:t>A fake FRSC text asked for N5. One victim paid it and woke up to find millions of naira gone [S17]</a:t>
            </a:r>
            <a:endParaRPr lang="en-US" sz="1500" dirty="0"/>
          </a:p>
        </p:txBody>
      </p:sp>
      <p:sp>
        <p:nvSpPr>
          <p:cNvPr id="16" name="Dot 4"/>
          <p:cNvSpPr/>
          <p:nvPr/>
        </p:nvSpPr>
        <p:spPr>
          <a:xfrm>
            <a:off x="9098280" y="1828800"/>
            <a:ext cx="274320" cy="274320"/>
          </a:xfrm>
          <a:prstGeom prst="ellipse">
            <a:avLst/>
          </a:prstGeom>
          <a:solidFill>
            <a:srgbClr val="19C37D"/>
          </a:solidFill>
          <a:ln/>
        </p:spPr>
      </p:sp>
      <p:sp>
        <p:nvSpPr>
          <p:cNvPr id="17" name="Text 15"/>
          <p:cNvSpPr txBox="1"/>
          <p:nvPr/>
        </p:nvSpPr>
        <p:spPr>
          <a:xfrm>
            <a:off x="9052560" y="1371600"/>
            <a:ext cx="2560320" cy="365760"/>
          </a:xfrm>
          <a:prstGeom prst="rect">
            <a:avLst/>
          </a:prstGeom>
          <a:noFill/>
          <a:ln/>
        </p:spPr>
        <p:txBody>
          <a:bodyPr wrap="square" lIns="0" tIns="0" rIns="0" bIns="0" rtlCol="0" anchor="t"/>
          <a:lstStyle/>
          <a:p>
            <a:pPr indent="0" marL="0">
              <a:buNone/>
            </a:pPr>
            <a:r>
              <a:rPr lang="en-US" sz="1600" b="1" dirty="0">
                <a:solidFill>
                  <a:schemeClr val="accent1"/>
                </a:solidFill>
              </a:rPr>
              <a:t>SEP</a:t>
            </a:r>
            <a:endParaRPr lang="en-US" sz="1600" dirty="0"/>
          </a:p>
        </p:txBody>
      </p:sp>
      <p:sp>
        <p:nvSpPr>
          <p:cNvPr id="18" name="Text 16"/>
          <p:cNvSpPr txBox="1"/>
          <p:nvPr/>
        </p:nvSpPr>
        <p:spPr>
          <a:xfrm>
            <a:off x="9052560" y="2377440"/>
            <a:ext cx="2560320" cy="822960"/>
          </a:xfrm>
          <a:prstGeom prst="rect">
            <a:avLst/>
          </a:prstGeom>
          <a:noFill/>
          <a:ln/>
        </p:spPr>
        <p:txBody>
          <a:bodyPr wrap="square" lIns="0" tIns="0" rIns="0" bIns="0" rtlCol="0" anchor="t"/>
          <a:lstStyle/>
          <a:p>
            <a:pPr indent="0" marL="0">
              <a:buNone/>
            </a:pPr>
            <a:r>
              <a:rPr lang="en-US" sz="2200" b="1" dirty="0">
                <a:solidFill>
                  <a:schemeClr val="bg1"/>
                </a:solidFill>
              </a:rPr>
              <a:t>Still on 2G</a:t>
            </a:r>
            <a:endParaRPr lang="en-US" sz="2200" dirty="0"/>
          </a:p>
        </p:txBody>
      </p:sp>
      <p:sp>
        <p:nvSpPr>
          <p:cNvPr id="19" name="Text 17"/>
          <p:cNvSpPr txBox="1"/>
          <p:nvPr/>
        </p:nvSpPr>
        <p:spPr>
          <a:xfrm>
            <a:off x="9052560" y="3200400"/>
            <a:ext cx="2514600" cy="2194560"/>
          </a:xfrm>
          <a:prstGeom prst="rect">
            <a:avLst/>
          </a:prstGeom>
          <a:noFill/>
          <a:ln/>
        </p:spPr>
        <p:txBody>
          <a:bodyPr wrap="square" lIns="0" tIns="0" rIns="0" bIns="0" rtlCol="0" anchor="t"/>
          <a:lstStyle/>
          <a:p>
            <a:pPr indent="0" marL="0">
              <a:buNone/>
            </a:pPr>
            <a:r>
              <a:rPr lang="en-US" sz="1500" dirty="0">
                <a:solidFill>
                  <a:schemeClr val="bg2"/>
                </a:solidFill>
              </a:rPr>
              <a:t>More than a third of mobile subscribers were still on 2G in May 2026: no app can reach them [S6]</a:t>
            </a:r>
            <a:endParaRPr lang="en-US" sz="1500" dirty="0"/>
          </a:p>
        </p:txBody>
      </p:sp>
      <p:sp>
        <p:nvSpPr>
          <p:cNvPr id="20" name="Text 18"/>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050" i="1" dirty="0">
                <a:solidFill>
                  <a:schemeClr val="accent5"/>
                </a:solidFill>
              </a:rPr>
              <a:t>[S16] CBN press statement, 21 Apr 2026 (press report). [S5] Truecaller via Vanguard, 6 May 2026 (press report). [S17] FRSC alert, 16 Sep 2026 (press report). [S6] KPMG/Orange, Sep 2026.</a:t>
            </a:r>
            <a:endParaRPr lang="en-US" sz="10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Everything you can see can be faked</a:t>
            </a:r>
            <a:endParaRPr lang="en-US" sz="3800" dirty="0"/>
          </a:p>
        </p:txBody>
      </p:sp>
      <p:sp>
        <p:nvSpPr>
          <p:cNvPr id="3" name="Fail 1"/>
          <p:cNvSpPr/>
          <p:nvPr/>
        </p:nvSpPr>
        <p:spPr>
          <a:xfrm>
            <a:off x="548640" y="1508760"/>
            <a:ext cx="2651760" cy="3291840"/>
          </a:xfrm>
          <a:prstGeom prst="roundRect">
            <a:avLst>
              <a:gd name="adj" fmla="val 4828"/>
            </a:avLst>
          </a:prstGeom>
          <a:solidFill>
            <a:schemeClr val="accent6"/>
          </a:solidFill>
          <a:ln/>
        </p:spPr>
      </p:sp>
      <p:sp>
        <p:nvSpPr>
          <p:cNvPr id="4" name="Fail 1 circle"/>
          <p:cNvSpPr/>
          <p:nvPr/>
        </p:nvSpPr>
        <p:spPr>
          <a:xfrm>
            <a:off x="1417320" y="1783080"/>
            <a:ext cx="914400" cy="914400"/>
          </a:xfrm>
          <a:prstGeom prst="ellipse">
            <a:avLst/>
          </a:prstGeom>
          <a:solidFill>
            <a:srgbClr val="2A1416"/>
          </a:solidFill>
          <a:ln/>
        </p:spPr>
      </p:sp>
      <p:pic>
        <p:nvPicPr>
          <p:cNvPr id="5" name="Fail 1 icon" descr="preencoded.png">    </p:cNvPr>
          <p:cNvPicPr>
            <a:picLocks noChangeAspect="1"/>
          </p:cNvPicPr>
          <p:nvPr/>
        </p:nvPicPr>
        <p:blipFill>
          <a:blip r:embed="rId1"/>
          <a:stretch>
            <a:fillRect/>
          </a:stretch>
        </p:blipFill>
        <p:spPr>
          <a:xfrm>
            <a:off x="1655064" y="2020824"/>
            <a:ext cx="438912" cy="438912"/>
          </a:xfrm>
          <a:prstGeom prst="rect">
            <a:avLst/>
          </a:prstGeom>
        </p:spPr>
      </p:pic>
      <p:sp>
        <p:nvSpPr>
          <p:cNvPr id="6" name="Text 3"/>
          <p:cNvSpPr txBox="1"/>
          <p:nvPr/>
        </p:nvSpPr>
        <p:spPr>
          <a:xfrm>
            <a:off x="731520" y="2880360"/>
            <a:ext cx="2286000" cy="457200"/>
          </a:xfrm>
          <a:prstGeom prst="rect">
            <a:avLst/>
          </a:prstGeom>
          <a:noFill/>
          <a:ln/>
        </p:spPr>
        <p:txBody>
          <a:bodyPr wrap="square" lIns="0" tIns="0" rIns="0" bIns="0" rtlCol="0" anchor="t"/>
          <a:lstStyle/>
          <a:p>
            <a:pPr algn="ctr" indent="0" marL="0">
              <a:buNone/>
            </a:pPr>
            <a:r>
              <a:rPr lang="en-US" sz="2100" b="1" dirty="0">
                <a:solidFill>
                  <a:schemeClr val="bg1"/>
                </a:solidFill>
              </a:rPr>
              <a:t>Caller ID</a:t>
            </a:r>
            <a:endParaRPr lang="en-US" sz="2100" dirty="0"/>
          </a:p>
        </p:txBody>
      </p:sp>
      <p:sp>
        <p:nvSpPr>
          <p:cNvPr id="7" name="Text 4"/>
          <p:cNvSpPr txBox="1"/>
          <p:nvPr/>
        </p:nvSpPr>
        <p:spPr>
          <a:xfrm>
            <a:off x="731520" y="3383280"/>
            <a:ext cx="2286000" cy="1280160"/>
          </a:xfrm>
          <a:prstGeom prst="rect">
            <a:avLst/>
          </a:prstGeom>
          <a:noFill/>
          <a:ln/>
        </p:spPr>
        <p:txBody>
          <a:bodyPr wrap="square" lIns="0" tIns="0" rIns="0" bIns="0" rtlCol="0" anchor="t"/>
          <a:lstStyle/>
          <a:p>
            <a:pPr algn="ctr" indent="0" marL="0">
              <a:buNone/>
            </a:pPr>
            <a:r>
              <a:rPr lang="en-US" sz="1500" dirty="0">
                <a:solidFill>
                  <a:schemeClr val="bg2"/>
                </a:solidFill>
              </a:rPr>
              <a:t>Spoofed. "It showed the bank's number" proves nothing.</a:t>
            </a:r>
            <a:endParaRPr lang="en-US" sz="1500" dirty="0"/>
          </a:p>
        </p:txBody>
      </p:sp>
      <p:sp>
        <p:nvSpPr>
          <p:cNvPr id="8" name="Fail 2"/>
          <p:cNvSpPr/>
          <p:nvPr/>
        </p:nvSpPr>
        <p:spPr>
          <a:xfrm>
            <a:off x="3383280" y="1508760"/>
            <a:ext cx="2651760" cy="3291840"/>
          </a:xfrm>
          <a:prstGeom prst="roundRect">
            <a:avLst>
              <a:gd name="adj" fmla="val 4828"/>
            </a:avLst>
          </a:prstGeom>
          <a:solidFill>
            <a:schemeClr val="accent6"/>
          </a:solidFill>
          <a:ln/>
        </p:spPr>
      </p:sp>
      <p:sp>
        <p:nvSpPr>
          <p:cNvPr id="9" name="Fail 2 circle"/>
          <p:cNvSpPr/>
          <p:nvPr/>
        </p:nvSpPr>
        <p:spPr>
          <a:xfrm>
            <a:off x="4251960" y="1783080"/>
            <a:ext cx="914400" cy="914400"/>
          </a:xfrm>
          <a:prstGeom prst="ellipse">
            <a:avLst/>
          </a:prstGeom>
          <a:solidFill>
            <a:srgbClr val="2A1416"/>
          </a:solidFill>
          <a:ln/>
        </p:spPr>
      </p:sp>
      <p:pic>
        <p:nvPicPr>
          <p:cNvPr id="10" name="Fail 2 icon" descr="preencoded.png">    </p:cNvPr>
          <p:cNvPicPr>
            <a:picLocks noChangeAspect="1"/>
          </p:cNvPicPr>
          <p:nvPr/>
        </p:nvPicPr>
        <p:blipFill>
          <a:blip r:embed="rId2"/>
          <a:stretch>
            <a:fillRect/>
          </a:stretch>
        </p:blipFill>
        <p:spPr>
          <a:xfrm>
            <a:off x="4489704" y="2020824"/>
            <a:ext cx="438912" cy="438912"/>
          </a:xfrm>
          <a:prstGeom prst="rect">
            <a:avLst/>
          </a:prstGeom>
        </p:spPr>
      </p:pic>
      <p:sp>
        <p:nvSpPr>
          <p:cNvPr id="11" name="Text 7"/>
          <p:cNvSpPr txBox="1"/>
          <p:nvPr/>
        </p:nvSpPr>
        <p:spPr>
          <a:xfrm>
            <a:off x="3566160" y="2880360"/>
            <a:ext cx="2286000" cy="457200"/>
          </a:xfrm>
          <a:prstGeom prst="rect">
            <a:avLst/>
          </a:prstGeom>
          <a:noFill/>
          <a:ln/>
        </p:spPr>
        <p:txBody>
          <a:bodyPr wrap="square" lIns="0" tIns="0" rIns="0" bIns="0" rtlCol="0" anchor="t"/>
          <a:lstStyle/>
          <a:p>
            <a:pPr algn="ctr" indent="0" marL="0">
              <a:buNone/>
            </a:pPr>
            <a:r>
              <a:rPr lang="en-US" sz="2100" b="1" dirty="0">
                <a:solidFill>
                  <a:schemeClr val="bg1"/>
                </a:solidFill>
              </a:rPr>
              <a:t>Sender name</a:t>
            </a:r>
            <a:endParaRPr lang="en-US" sz="2100" dirty="0"/>
          </a:p>
        </p:txBody>
      </p:sp>
      <p:sp>
        <p:nvSpPr>
          <p:cNvPr id="12" name="Text 8"/>
          <p:cNvSpPr txBox="1"/>
          <p:nvPr/>
        </p:nvSpPr>
        <p:spPr>
          <a:xfrm>
            <a:off x="3566160" y="3383280"/>
            <a:ext cx="2286000" cy="1280160"/>
          </a:xfrm>
          <a:prstGeom prst="rect">
            <a:avLst/>
          </a:prstGeom>
          <a:noFill/>
          <a:ln/>
        </p:spPr>
        <p:txBody>
          <a:bodyPr wrap="square" lIns="0" tIns="0" rIns="0" bIns="0" rtlCol="0" anchor="t"/>
          <a:lstStyle/>
          <a:p>
            <a:pPr algn="ctr" indent="0" marL="0">
              <a:buNone/>
            </a:pPr>
            <a:r>
              <a:rPr lang="en-US" sz="1500" dirty="0">
                <a:solidFill>
                  <a:schemeClr val="bg2"/>
                </a:solidFill>
              </a:rPr>
              <a:t>Set by whoever sends the SMS.</a:t>
            </a:r>
            <a:endParaRPr lang="en-US" sz="1500" dirty="0"/>
          </a:p>
        </p:txBody>
      </p:sp>
      <p:sp>
        <p:nvSpPr>
          <p:cNvPr id="13" name="Fail 3"/>
          <p:cNvSpPr/>
          <p:nvPr/>
        </p:nvSpPr>
        <p:spPr>
          <a:xfrm>
            <a:off x="6217920" y="1508760"/>
            <a:ext cx="2651760" cy="3291840"/>
          </a:xfrm>
          <a:prstGeom prst="roundRect">
            <a:avLst>
              <a:gd name="adj" fmla="val 4828"/>
            </a:avLst>
          </a:prstGeom>
          <a:solidFill>
            <a:schemeClr val="accent6"/>
          </a:solidFill>
          <a:ln/>
        </p:spPr>
      </p:sp>
      <p:sp>
        <p:nvSpPr>
          <p:cNvPr id="14" name="Fail 3 circle"/>
          <p:cNvSpPr/>
          <p:nvPr/>
        </p:nvSpPr>
        <p:spPr>
          <a:xfrm>
            <a:off x="7086600" y="1783080"/>
            <a:ext cx="914400" cy="914400"/>
          </a:xfrm>
          <a:prstGeom prst="ellipse">
            <a:avLst/>
          </a:prstGeom>
          <a:solidFill>
            <a:srgbClr val="2A1416"/>
          </a:solidFill>
          <a:ln/>
        </p:spPr>
      </p:sp>
      <p:pic>
        <p:nvPicPr>
          <p:cNvPr id="15" name="Fail 3 icon" descr="preencoded.png">    </p:cNvPr>
          <p:cNvPicPr>
            <a:picLocks noChangeAspect="1"/>
          </p:cNvPicPr>
          <p:nvPr/>
        </p:nvPicPr>
        <p:blipFill>
          <a:blip r:embed="rId3"/>
          <a:stretch>
            <a:fillRect/>
          </a:stretch>
        </p:blipFill>
        <p:spPr>
          <a:xfrm>
            <a:off x="7324344" y="2020824"/>
            <a:ext cx="438912" cy="438912"/>
          </a:xfrm>
          <a:prstGeom prst="rect">
            <a:avLst/>
          </a:prstGeom>
        </p:spPr>
      </p:pic>
      <p:sp>
        <p:nvSpPr>
          <p:cNvPr id="16" name="Text 11"/>
          <p:cNvSpPr txBox="1"/>
          <p:nvPr/>
        </p:nvSpPr>
        <p:spPr>
          <a:xfrm>
            <a:off x="6400800" y="2880360"/>
            <a:ext cx="2286000" cy="457200"/>
          </a:xfrm>
          <a:prstGeom prst="rect">
            <a:avLst/>
          </a:prstGeom>
          <a:noFill/>
          <a:ln/>
        </p:spPr>
        <p:txBody>
          <a:bodyPr wrap="square" lIns="0" tIns="0" rIns="0" bIns="0" rtlCol="0" anchor="t"/>
          <a:lstStyle/>
          <a:p>
            <a:pPr algn="ctr" indent="0" marL="0">
              <a:buNone/>
            </a:pPr>
            <a:r>
              <a:rPr lang="en-US" sz="2100" b="1" dirty="0">
                <a:solidFill>
                  <a:schemeClr val="bg1"/>
                </a:solidFill>
              </a:rPr>
              <a:t>The wording</a:t>
            </a:r>
            <a:endParaRPr lang="en-US" sz="2100" dirty="0"/>
          </a:p>
        </p:txBody>
      </p:sp>
      <p:sp>
        <p:nvSpPr>
          <p:cNvPr id="17" name="Text 12"/>
          <p:cNvSpPr txBox="1"/>
          <p:nvPr/>
        </p:nvSpPr>
        <p:spPr>
          <a:xfrm>
            <a:off x="6400800" y="3383280"/>
            <a:ext cx="2286000" cy="1280160"/>
          </a:xfrm>
          <a:prstGeom prst="rect">
            <a:avLst/>
          </a:prstGeom>
          <a:noFill/>
          <a:ln/>
        </p:spPr>
        <p:txBody>
          <a:bodyPr wrap="square" lIns="0" tIns="0" rIns="0" bIns="0" rtlCol="0" anchor="t"/>
          <a:lstStyle/>
          <a:p>
            <a:pPr algn="ctr" indent="0" marL="0">
              <a:buNone/>
            </a:pPr>
            <a:r>
              <a:rPr lang="en-US" sz="1500" dirty="0">
                <a:solidFill>
                  <a:schemeClr val="bg2"/>
                </a:solidFill>
              </a:rPr>
              <a:t>Copied from a real alert, word for word.</a:t>
            </a:r>
            <a:endParaRPr lang="en-US" sz="1500" dirty="0"/>
          </a:p>
        </p:txBody>
      </p:sp>
      <p:sp>
        <p:nvSpPr>
          <p:cNvPr id="18" name="Fail 4"/>
          <p:cNvSpPr/>
          <p:nvPr/>
        </p:nvSpPr>
        <p:spPr>
          <a:xfrm>
            <a:off x="9052560" y="1508760"/>
            <a:ext cx="2651760" cy="3291840"/>
          </a:xfrm>
          <a:prstGeom prst="roundRect">
            <a:avLst>
              <a:gd name="adj" fmla="val 4828"/>
            </a:avLst>
          </a:prstGeom>
          <a:solidFill>
            <a:schemeClr val="accent6"/>
          </a:solidFill>
          <a:ln/>
        </p:spPr>
      </p:sp>
      <p:sp>
        <p:nvSpPr>
          <p:cNvPr id="19" name="Fail 4 circle"/>
          <p:cNvSpPr/>
          <p:nvPr/>
        </p:nvSpPr>
        <p:spPr>
          <a:xfrm>
            <a:off x="9921240" y="1783080"/>
            <a:ext cx="914400" cy="914400"/>
          </a:xfrm>
          <a:prstGeom prst="ellipse">
            <a:avLst/>
          </a:prstGeom>
          <a:solidFill>
            <a:srgbClr val="2A1416"/>
          </a:solidFill>
          <a:ln/>
        </p:spPr>
      </p:sp>
      <p:pic>
        <p:nvPicPr>
          <p:cNvPr id="20" name="Fail 4 icon" descr="preencoded.png">    </p:cNvPr>
          <p:cNvPicPr>
            <a:picLocks noChangeAspect="1"/>
          </p:cNvPicPr>
          <p:nvPr/>
        </p:nvPicPr>
        <p:blipFill>
          <a:blip r:embed="rId4"/>
          <a:stretch>
            <a:fillRect/>
          </a:stretch>
        </p:blipFill>
        <p:spPr>
          <a:xfrm>
            <a:off x="10158984" y="2020824"/>
            <a:ext cx="438912" cy="438912"/>
          </a:xfrm>
          <a:prstGeom prst="rect">
            <a:avLst/>
          </a:prstGeom>
        </p:spPr>
      </p:pic>
      <p:sp>
        <p:nvSpPr>
          <p:cNvPr id="21" name="Text 15"/>
          <p:cNvSpPr txBox="1"/>
          <p:nvPr/>
        </p:nvSpPr>
        <p:spPr>
          <a:xfrm>
            <a:off x="9235440" y="2880360"/>
            <a:ext cx="2286000" cy="457200"/>
          </a:xfrm>
          <a:prstGeom prst="rect">
            <a:avLst/>
          </a:prstGeom>
          <a:noFill/>
          <a:ln/>
        </p:spPr>
        <p:txBody>
          <a:bodyPr wrap="square" lIns="0" tIns="0" rIns="0" bIns="0" rtlCol="0" anchor="t"/>
          <a:lstStyle/>
          <a:p>
            <a:pPr algn="ctr" indent="0" marL="0">
              <a:buNone/>
            </a:pPr>
            <a:r>
              <a:rPr lang="en-US" sz="2100" b="1" dirty="0">
                <a:solidFill>
                  <a:schemeClr val="bg1"/>
                </a:solidFill>
              </a:rPr>
              <a:t>AI detectors</a:t>
            </a:r>
            <a:endParaRPr lang="en-US" sz="2100" dirty="0"/>
          </a:p>
        </p:txBody>
      </p:sp>
      <p:sp>
        <p:nvSpPr>
          <p:cNvPr id="22" name="Text 16"/>
          <p:cNvSpPr txBox="1"/>
          <p:nvPr/>
        </p:nvSpPr>
        <p:spPr>
          <a:xfrm>
            <a:off x="9235440" y="3383280"/>
            <a:ext cx="2286000" cy="1280160"/>
          </a:xfrm>
          <a:prstGeom prst="rect">
            <a:avLst/>
          </a:prstGeom>
          <a:noFill/>
          <a:ln/>
        </p:spPr>
        <p:txBody>
          <a:bodyPr wrap="square" lIns="0" tIns="0" rIns="0" bIns="0" rtlCol="0" anchor="t"/>
          <a:lstStyle/>
          <a:p>
            <a:pPr algn="ctr" indent="0" marL="0">
              <a:buNone/>
            </a:pPr>
            <a:r>
              <a:rPr lang="en-US" sz="1500" dirty="0">
                <a:solidFill>
                  <a:schemeClr val="bg2"/>
                </a:solidFill>
              </a:rPr>
              <a:t>Guess from wording. A perfect copy scores as genuine.</a:t>
            </a:r>
            <a:endParaRPr lang="en-US" sz="1500" dirty="0"/>
          </a:p>
        </p:txBody>
      </p:sp>
      <p:sp>
        <p:nvSpPr>
          <p:cNvPr id="23" name="Text 17"/>
          <p:cNvSpPr txBox="1"/>
          <p:nvPr/>
        </p:nvSpPr>
        <p:spPr>
          <a:xfrm>
            <a:off x="548640" y="5120640"/>
            <a:ext cx="11064240" cy="640080"/>
          </a:xfrm>
          <a:prstGeom prst="rect">
            <a:avLst/>
          </a:prstGeom>
          <a:noFill/>
          <a:ln/>
        </p:spPr>
        <p:txBody>
          <a:bodyPr wrap="square" lIns="0" tIns="0" rIns="0" bIns="0" rtlCol="0" anchor="ctr"/>
          <a:lstStyle/>
          <a:p>
            <a:pPr indent="0" marL="0">
              <a:buNone/>
            </a:pPr>
            <a:r>
              <a:rPr lang="en-US" sz="2600" dirty="0">
                <a:solidFill>
                  <a:schemeClr val="bg1"/>
                </a:solidFill>
              </a:rPr>
              <a:t>Only one party knows what the bank really sent: </a:t>
            </a:r>
            <a:pPr indent="0" marL="0">
              <a:buNone/>
            </a:pPr>
            <a:r>
              <a:rPr lang="en-US" sz="2600" b="1" dirty="0">
                <a:solidFill>
                  <a:schemeClr val="accent1"/>
                </a:solidFill>
              </a:rPr>
              <a:t>the bank.</a:t>
            </a:r>
            <a:endParaRPr lang="en-US" sz="2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Ask the bank itself</a:t>
            </a:r>
            <a:endParaRPr lang="en-US" sz="3800" dirty="0"/>
          </a:p>
        </p:txBody>
      </p:sp>
      <p:sp>
        <p:nvSpPr>
          <p:cNvPr id="3" name="Step 1 circle"/>
          <p:cNvSpPr/>
          <p:nvPr/>
        </p:nvSpPr>
        <p:spPr>
          <a:xfrm>
            <a:off x="1325880" y="1417320"/>
            <a:ext cx="1051560" cy="1051560"/>
          </a:xfrm>
          <a:prstGeom prst="ellipse">
            <a:avLst/>
          </a:prstGeom>
          <a:solidFill>
            <a:srgbClr val="19C37D"/>
          </a:solidFill>
          <a:ln/>
        </p:spPr>
      </p:sp>
      <p:pic>
        <p:nvPicPr>
          <p:cNvPr id="4" name="Step 1 icon" descr="preencoded.png">    </p:cNvPr>
          <p:cNvPicPr>
            <a:picLocks noChangeAspect="1"/>
          </p:cNvPicPr>
          <p:nvPr/>
        </p:nvPicPr>
        <p:blipFill>
          <a:blip r:embed="rId1"/>
          <a:stretch>
            <a:fillRect/>
          </a:stretch>
        </p:blipFill>
        <p:spPr>
          <a:xfrm>
            <a:off x="1599286" y="1690726"/>
            <a:ext cx="504749" cy="504749"/>
          </a:xfrm>
          <a:prstGeom prst="rect">
            <a:avLst/>
          </a:prstGeom>
        </p:spPr>
      </p:pic>
      <p:sp>
        <p:nvSpPr>
          <p:cNvPr id="5" name="Text 2"/>
          <p:cNvSpPr txBox="1"/>
          <p:nvPr/>
        </p:nvSpPr>
        <p:spPr>
          <a:xfrm>
            <a:off x="548640" y="2606040"/>
            <a:ext cx="2606040" cy="411480"/>
          </a:xfrm>
          <a:prstGeom prst="rect">
            <a:avLst/>
          </a:prstGeom>
          <a:noFill/>
          <a:ln/>
        </p:spPr>
        <p:txBody>
          <a:bodyPr wrap="square" lIns="0" tIns="0" rIns="0" bIns="0" rtlCol="0" anchor="t"/>
          <a:lstStyle/>
          <a:p>
            <a:pPr algn="ctr" indent="0" marL="0">
              <a:buNone/>
            </a:pPr>
            <a:r>
              <a:rPr lang="en-US" sz="1900" b="1" dirty="0">
                <a:solidFill>
                  <a:schemeClr val="bg1"/>
                </a:solidFill>
              </a:rPr>
              <a:t>Bank sends</a:t>
            </a:r>
            <a:endParaRPr lang="en-US" sz="1900" dirty="0"/>
          </a:p>
        </p:txBody>
      </p:sp>
      <p:sp>
        <p:nvSpPr>
          <p:cNvPr id="6" name="Text 3"/>
          <p:cNvSpPr txBox="1"/>
          <p:nvPr/>
        </p:nvSpPr>
        <p:spPr>
          <a:xfrm>
            <a:off x="548640" y="3017520"/>
            <a:ext cx="2606040" cy="731520"/>
          </a:xfrm>
          <a:prstGeom prst="rect">
            <a:avLst/>
          </a:prstGeom>
          <a:noFill/>
          <a:ln/>
        </p:spPr>
        <p:txBody>
          <a:bodyPr wrap="square" lIns="0" tIns="0" rIns="0" bIns="0" rtlCol="0" anchor="t"/>
          <a:lstStyle/>
          <a:p>
            <a:pPr algn="ctr" indent="0" marL="0">
              <a:buNone/>
            </a:pPr>
            <a:r>
              <a:rPr lang="en-US" sz="1400" dirty="0">
                <a:solidFill>
                  <a:schemeClr val="bg2"/>
                </a:solidFill>
              </a:rPr>
              <a:t>Message unchanged</a:t>
            </a:r>
            <a:endParaRPr lang="en-US" sz="1400" dirty="0"/>
          </a:p>
        </p:txBody>
      </p:sp>
      <p:sp>
        <p:nvSpPr>
          <p:cNvPr id="7" name="Arrow 1"/>
          <p:cNvSpPr/>
          <p:nvPr/>
        </p:nvSpPr>
        <p:spPr>
          <a:xfrm>
            <a:off x="2907792" y="1783080"/>
            <a:ext cx="457200" cy="329184"/>
          </a:xfrm>
          <a:prstGeom prst="rightArrow">
            <a:avLst/>
          </a:prstGeom>
          <a:solidFill>
            <a:srgbClr val="6E7F76"/>
          </a:solidFill>
          <a:ln/>
        </p:spPr>
      </p:sp>
      <p:sp>
        <p:nvSpPr>
          <p:cNvPr id="8" name="Step 2 circle"/>
          <p:cNvSpPr/>
          <p:nvPr/>
        </p:nvSpPr>
        <p:spPr>
          <a:xfrm>
            <a:off x="4160520" y="1417320"/>
            <a:ext cx="1051560" cy="1051560"/>
          </a:xfrm>
          <a:prstGeom prst="ellipse">
            <a:avLst/>
          </a:prstGeom>
          <a:solidFill>
            <a:srgbClr val="19C37D"/>
          </a:solidFill>
          <a:ln/>
        </p:spPr>
      </p:sp>
      <p:pic>
        <p:nvPicPr>
          <p:cNvPr id="9" name="Step 2 icon" descr="preencoded.png">    </p:cNvPr>
          <p:cNvPicPr>
            <a:picLocks noChangeAspect="1"/>
          </p:cNvPicPr>
          <p:nvPr/>
        </p:nvPicPr>
        <p:blipFill>
          <a:blip r:embed="rId2"/>
          <a:stretch>
            <a:fillRect/>
          </a:stretch>
        </p:blipFill>
        <p:spPr>
          <a:xfrm>
            <a:off x="4433926" y="1690726"/>
            <a:ext cx="504749" cy="504749"/>
          </a:xfrm>
          <a:prstGeom prst="rect">
            <a:avLst/>
          </a:prstGeom>
        </p:spPr>
      </p:pic>
      <p:sp>
        <p:nvSpPr>
          <p:cNvPr id="10" name="Text 6"/>
          <p:cNvSpPr txBox="1"/>
          <p:nvPr/>
        </p:nvSpPr>
        <p:spPr>
          <a:xfrm>
            <a:off x="3383280" y="2606040"/>
            <a:ext cx="2606040" cy="411480"/>
          </a:xfrm>
          <a:prstGeom prst="rect">
            <a:avLst/>
          </a:prstGeom>
          <a:noFill/>
          <a:ln/>
        </p:spPr>
        <p:txBody>
          <a:bodyPr wrap="square" lIns="0" tIns="0" rIns="0" bIns="0" rtlCol="0" anchor="t"/>
          <a:lstStyle/>
          <a:p>
            <a:pPr algn="ctr" indent="0" marL="0">
              <a:buNone/>
            </a:pPr>
            <a:r>
              <a:rPr lang="en-US" sz="1900" b="1" dirty="0">
                <a:solidFill>
                  <a:schemeClr val="bg1"/>
                </a:solidFill>
              </a:rPr>
              <a:t>Bank registers</a:t>
            </a:r>
            <a:endParaRPr lang="en-US" sz="1900" dirty="0"/>
          </a:p>
        </p:txBody>
      </p:sp>
      <p:sp>
        <p:nvSpPr>
          <p:cNvPr id="11" name="Text 7"/>
          <p:cNvSpPr txBox="1"/>
          <p:nvPr/>
        </p:nvSpPr>
        <p:spPr>
          <a:xfrm>
            <a:off x="3383280" y="3017520"/>
            <a:ext cx="2606040" cy="731520"/>
          </a:xfrm>
          <a:prstGeom prst="rect">
            <a:avLst/>
          </a:prstGeom>
          <a:noFill/>
          <a:ln/>
        </p:spPr>
        <p:txBody>
          <a:bodyPr wrap="square" lIns="0" tIns="0" rIns="0" bIns="0" rtlCol="0" anchor="t"/>
          <a:lstStyle/>
          <a:p>
            <a:pPr algn="ctr" indent="0" marL="0">
              <a:buNone/>
            </a:pPr>
            <a:r>
              <a:rPr lang="en-US" sz="1400" dirty="0">
                <a:solidFill>
                  <a:schemeClr val="bg2"/>
                </a:solidFill>
              </a:rPr>
              <a:t>One API call: a keyed fingerprint, bound to that phone number</a:t>
            </a:r>
            <a:endParaRPr lang="en-US" sz="1400" dirty="0"/>
          </a:p>
        </p:txBody>
      </p:sp>
      <p:sp>
        <p:nvSpPr>
          <p:cNvPr id="12" name="Arrow 2"/>
          <p:cNvSpPr/>
          <p:nvPr/>
        </p:nvSpPr>
        <p:spPr>
          <a:xfrm>
            <a:off x="5742432" y="1783080"/>
            <a:ext cx="457200" cy="329184"/>
          </a:xfrm>
          <a:prstGeom prst="rightArrow">
            <a:avLst/>
          </a:prstGeom>
          <a:solidFill>
            <a:srgbClr val="6E7F76"/>
          </a:solidFill>
          <a:ln/>
        </p:spPr>
      </p:sp>
      <p:sp>
        <p:nvSpPr>
          <p:cNvPr id="13" name="Step 3 circle"/>
          <p:cNvSpPr/>
          <p:nvPr/>
        </p:nvSpPr>
        <p:spPr>
          <a:xfrm>
            <a:off x="6995160" y="1417320"/>
            <a:ext cx="1051560" cy="1051560"/>
          </a:xfrm>
          <a:prstGeom prst="ellipse">
            <a:avLst/>
          </a:prstGeom>
          <a:solidFill>
            <a:srgbClr val="19C37D"/>
          </a:solidFill>
          <a:ln/>
        </p:spPr>
      </p:sp>
      <p:pic>
        <p:nvPicPr>
          <p:cNvPr id="14" name="Step 3 icon" descr="preencoded.png">    </p:cNvPr>
          <p:cNvPicPr>
            <a:picLocks noChangeAspect="1"/>
          </p:cNvPicPr>
          <p:nvPr/>
        </p:nvPicPr>
        <p:blipFill>
          <a:blip r:embed="rId3"/>
          <a:stretch>
            <a:fillRect/>
          </a:stretch>
        </p:blipFill>
        <p:spPr>
          <a:xfrm>
            <a:off x="7268566" y="1690726"/>
            <a:ext cx="504749" cy="504749"/>
          </a:xfrm>
          <a:prstGeom prst="rect">
            <a:avLst/>
          </a:prstGeom>
        </p:spPr>
      </p:pic>
      <p:sp>
        <p:nvSpPr>
          <p:cNvPr id="15" name="Text 10"/>
          <p:cNvSpPr txBox="1"/>
          <p:nvPr/>
        </p:nvSpPr>
        <p:spPr>
          <a:xfrm>
            <a:off x="6217920" y="2606040"/>
            <a:ext cx="2606040" cy="411480"/>
          </a:xfrm>
          <a:prstGeom prst="rect">
            <a:avLst/>
          </a:prstGeom>
          <a:noFill/>
          <a:ln/>
        </p:spPr>
        <p:txBody>
          <a:bodyPr wrap="square" lIns="0" tIns="0" rIns="0" bIns="0" rtlCol="0" anchor="t"/>
          <a:lstStyle/>
          <a:p>
            <a:pPr algn="ctr" indent="0" marL="0">
              <a:buNone/>
            </a:pPr>
            <a:r>
              <a:rPr lang="en-US" sz="1900" b="1" dirty="0">
                <a:solidFill>
                  <a:schemeClr val="bg1"/>
                </a:solidFill>
              </a:rPr>
              <a:t>Customer checks</a:t>
            </a:r>
            <a:endParaRPr lang="en-US" sz="1900" dirty="0"/>
          </a:p>
        </p:txBody>
      </p:sp>
      <p:sp>
        <p:nvSpPr>
          <p:cNvPr id="16" name="Text 11"/>
          <p:cNvSpPr txBox="1"/>
          <p:nvPr/>
        </p:nvSpPr>
        <p:spPr>
          <a:xfrm>
            <a:off x="6217920" y="3017520"/>
            <a:ext cx="2606040" cy="731520"/>
          </a:xfrm>
          <a:prstGeom prst="rect">
            <a:avLst/>
          </a:prstGeom>
          <a:noFill/>
          <a:ln/>
        </p:spPr>
        <p:txBody>
          <a:bodyPr wrap="square" lIns="0" tIns="0" rIns="0" bIns="0" rtlCol="0" anchor="t"/>
          <a:lstStyle/>
          <a:p>
            <a:pPr algn="ctr" indent="0" marL="0">
              <a:buNone/>
            </a:pPr>
            <a:r>
              <a:rPr lang="en-US" sz="1400" dirty="0">
                <a:solidFill>
                  <a:schemeClr val="bg2"/>
                </a:solidFill>
              </a:rPr>
              <a:t>App, WhatsApp or USSD</a:t>
            </a:r>
            <a:endParaRPr lang="en-US" sz="1400" dirty="0"/>
          </a:p>
        </p:txBody>
      </p:sp>
      <p:sp>
        <p:nvSpPr>
          <p:cNvPr id="17" name="Arrow 3"/>
          <p:cNvSpPr/>
          <p:nvPr/>
        </p:nvSpPr>
        <p:spPr>
          <a:xfrm>
            <a:off x="8577072" y="1783080"/>
            <a:ext cx="457200" cy="329184"/>
          </a:xfrm>
          <a:prstGeom prst="rightArrow">
            <a:avLst/>
          </a:prstGeom>
          <a:solidFill>
            <a:srgbClr val="6E7F76"/>
          </a:solidFill>
          <a:ln/>
        </p:spPr>
      </p:sp>
      <p:sp>
        <p:nvSpPr>
          <p:cNvPr id="18" name="Step 4 circle"/>
          <p:cNvSpPr/>
          <p:nvPr/>
        </p:nvSpPr>
        <p:spPr>
          <a:xfrm>
            <a:off x="9829800" y="1417320"/>
            <a:ext cx="1051560" cy="1051560"/>
          </a:xfrm>
          <a:prstGeom prst="ellipse">
            <a:avLst/>
          </a:prstGeom>
          <a:solidFill>
            <a:srgbClr val="19C37D"/>
          </a:solidFill>
          <a:ln/>
        </p:spPr>
      </p:sp>
      <p:pic>
        <p:nvPicPr>
          <p:cNvPr id="19" name="Step 4 icon" descr="preencoded.png">    </p:cNvPr>
          <p:cNvPicPr>
            <a:picLocks noChangeAspect="1"/>
          </p:cNvPicPr>
          <p:nvPr/>
        </p:nvPicPr>
        <p:blipFill>
          <a:blip r:embed="rId4"/>
          <a:stretch>
            <a:fillRect/>
          </a:stretch>
        </p:blipFill>
        <p:spPr>
          <a:xfrm>
            <a:off x="10103206" y="1690726"/>
            <a:ext cx="504749" cy="504749"/>
          </a:xfrm>
          <a:prstGeom prst="rect">
            <a:avLst/>
          </a:prstGeom>
        </p:spPr>
      </p:pic>
      <p:sp>
        <p:nvSpPr>
          <p:cNvPr id="20" name="Text 14"/>
          <p:cNvSpPr txBox="1"/>
          <p:nvPr/>
        </p:nvSpPr>
        <p:spPr>
          <a:xfrm>
            <a:off x="9052560" y="2606040"/>
            <a:ext cx="2606040" cy="411480"/>
          </a:xfrm>
          <a:prstGeom prst="rect">
            <a:avLst/>
          </a:prstGeom>
          <a:noFill/>
          <a:ln/>
        </p:spPr>
        <p:txBody>
          <a:bodyPr wrap="square" lIns="0" tIns="0" rIns="0" bIns="0" rtlCol="0" anchor="t"/>
          <a:lstStyle/>
          <a:p>
            <a:pPr algn="ctr" indent="0" marL="0">
              <a:buNone/>
            </a:pPr>
            <a:r>
              <a:rPr lang="en-US" sz="1900" b="1" dirty="0">
                <a:solidFill>
                  <a:schemeClr val="bg1"/>
                </a:solidFill>
              </a:rPr>
              <a:t>Exact match</a:t>
            </a:r>
            <a:endParaRPr lang="en-US" sz="1900" dirty="0"/>
          </a:p>
        </p:txBody>
      </p:sp>
      <p:sp>
        <p:nvSpPr>
          <p:cNvPr id="21" name="Text 15"/>
          <p:cNvSpPr txBox="1"/>
          <p:nvPr/>
        </p:nvSpPr>
        <p:spPr>
          <a:xfrm>
            <a:off x="9052560" y="3017520"/>
            <a:ext cx="2606040" cy="731520"/>
          </a:xfrm>
          <a:prstGeom prst="rect">
            <a:avLst/>
          </a:prstGeom>
          <a:noFill/>
          <a:ln/>
        </p:spPr>
        <p:txBody>
          <a:bodyPr wrap="square" lIns="0" tIns="0" rIns="0" bIns="0" rtlCol="0" anchor="t"/>
          <a:lstStyle/>
          <a:p>
            <a:pPr algn="ctr" indent="0" marL="0">
              <a:buNone/>
            </a:pPr>
            <a:r>
              <a:rPr lang="en-US" sz="1400" dirty="0">
                <a:solidFill>
                  <a:schemeClr val="bg2"/>
                </a:solidFill>
              </a:rPr>
              <a:t>Or it is not confirmed</a:t>
            </a:r>
            <a:endParaRPr lang="en-US" sz="1400" dirty="0"/>
          </a:p>
        </p:txBody>
      </p:sp>
      <p:sp>
        <p:nvSpPr>
          <p:cNvPr id="22" name="Rule 1"/>
          <p:cNvSpPr/>
          <p:nvPr/>
        </p:nvSpPr>
        <p:spPr>
          <a:xfrm>
            <a:off x="548640" y="4069080"/>
            <a:ext cx="2651760" cy="1371600"/>
          </a:xfrm>
          <a:prstGeom prst="roundRect">
            <a:avLst>
              <a:gd name="adj" fmla="val 9333"/>
            </a:avLst>
          </a:prstGeom>
          <a:solidFill>
            <a:schemeClr val="accent6"/>
          </a:solidFill>
          <a:ln/>
        </p:spPr>
      </p:sp>
      <p:sp>
        <p:nvSpPr>
          <p:cNvPr id="23" name="Text 17"/>
          <p:cNvSpPr txBox="1"/>
          <p:nvPr/>
        </p:nvSpPr>
        <p:spPr>
          <a:xfrm>
            <a:off x="731520" y="4224528"/>
            <a:ext cx="2286000" cy="411480"/>
          </a:xfrm>
          <a:prstGeom prst="rect">
            <a:avLst/>
          </a:prstGeom>
          <a:noFill/>
          <a:ln/>
        </p:spPr>
        <p:txBody>
          <a:bodyPr wrap="square" lIns="0" tIns="0" rIns="0" bIns="0" rtlCol="0" anchor="t"/>
          <a:lstStyle/>
          <a:p>
            <a:pPr indent="0" marL="0">
              <a:buNone/>
            </a:pPr>
            <a:r>
              <a:rPr lang="en-US" sz="1600" dirty="0">
                <a:solidFill>
                  <a:schemeClr val="bg2"/>
                </a:solidFill>
              </a:rPr>
              <a:t>One character changed</a:t>
            </a:r>
            <a:endParaRPr lang="en-US" sz="1600" dirty="0"/>
          </a:p>
        </p:txBody>
      </p:sp>
      <p:sp>
        <p:nvSpPr>
          <p:cNvPr id="24" name="Text 18"/>
          <p:cNvSpPr txBox="1"/>
          <p:nvPr/>
        </p:nvSpPr>
        <p:spPr>
          <a:xfrm>
            <a:off x="731520" y="4663440"/>
            <a:ext cx="2286000" cy="685800"/>
          </a:xfrm>
          <a:prstGeom prst="rect">
            <a:avLst/>
          </a:prstGeom>
          <a:noFill/>
          <a:ln/>
        </p:spPr>
        <p:txBody>
          <a:bodyPr wrap="square" lIns="0" tIns="0" rIns="0" bIns="0" rtlCol="0" anchor="t"/>
          <a:lstStyle/>
          <a:p>
            <a:pPr indent="0" marL="0">
              <a:buNone/>
            </a:pPr>
            <a:r>
              <a:rPr lang="en-US" sz="1800" b="1" dirty="0">
                <a:solidFill>
                  <a:schemeClr val="accent1"/>
                </a:solidFill>
              </a:rPr>
              <a:t>Not confirmed</a:t>
            </a:r>
            <a:endParaRPr lang="en-US" sz="1800" dirty="0"/>
          </a:p>
        </p:txBody>
      </p:sp>
      <p:sp>
        <p:nvSpPr>
          <p:cNvPr id="25" name="Rule 2"/>
          <p:cNvSpPr/>
          <p:nvPr/>
        </p:nvSpPr>
        <p:spPr>
          <a:xfrm>
            <a:off x="3383280" y="4069080"/>
            <a:ext cx="2651760" cy="1371600"/>
          </a:xfrm>
          <a:prstGeom prst="roundRect">
            <a:avLst>
              <a:gd name="adj" fmla="val 9333"/>
            </a:avLst>
          </a:prstGeom>
          <a:solidFill>
            <a:schemeClr val="accent6"/>
          </a:solidFill>
          <a:ln/>
        </p:spPr>
      </p:sp>
      <p:sp>
        <p:nvSpPr>
          <p:cNvPr id="26" name="Text 20"/>
          <p:cNvSpPr txBox="1"/>
          <p:nvPr/>
        </p:nvSpPr>
        <p:spPr>
          <a:xfrm>
            <a:off x="3566160" y="4224528"/>
            <a:ext cx="2286000" cy="411480"/>
          </a:xfrm>
          <a:prstGeom prst="rect">
            <a:avLst/>
          </a:prstGeom>
          <a:noFill/>
          <a:ln/>
        </p:spPr>
        <p:txBody>
          <a:bodyPr wrap="square" lIns="0" tIns="0" rIns="0" bIns="0" rtlCol="0" anchor="t"/>
          <a:lstStyle/>
          <a:p>
            <a:pPr indent="0" marL="0">
              <a:buNone/>
            </a:pPr>
            <a:r>
              <a:rPr lang="en-US" sz="1600" dirty="0">
                <a:solidFill>
                  <a:schemeClr val="bg2"/>
                </a:solidFill>
              </a:rPr>
              <a:t>Sent to another phone</a:t>
            </a:r>
            <a:endParaRPr lang="en-US" sz="1600" dirty="0"/>
          </a:p>
        </p:txBody>
      </p:sp>
      <p:sp>
        <p:nvSpPr>
          <p:cNvPr id="27" name="Text 21"/>
          <p:cNvSpPr txBox="1"/>
          <p:nvPr/>
        </p:nvSpPr>
        <p:spPr>
          <a:xfrm>
            <a:off x="3566160" y="4663440"/>
            <a:ext cx="2286000" cy="685800"/>
          </a:xfrm>
          <a:prstGeom prst="rect">
            <a:avLst/>
          </a:prstGeom>
          <a:noFill/>
          <a:ln/>
        </p:spPr>
        <p:txBody>
          <a:bodyPr wrap="square" lIns="0" tIns="0" rIns="0" bIns="0" rtlCol="0" anchor="t"/>
          <a:lstStyle/>
          <a:p>
            <a:pPr indent="0" marL="0">
              <a:buNone/>
            </a:pPr>
            <a:r>
              <a:rPr lang="en-US" sz="1800" b="1" dirty="0">
                <a:solidFill>
                  <a:schemeClr val="accent1"/>
                </a:solidFill>
              </a:rPr>
              <a:t>Not confirmed</a:t>
            </a:r>
            <a:endParaRPr lang="en-US" sz="1800" dirty="0"/>
          </a:p>
        </p:txBody>
      </p:sp>
      <p:sp>
        <p:nvSpPr>
          <p:cNvPr id="28" name="Rule 3"/>
          <p:cNvSpPr/>
          <p:nvPr/>
        </p:nvSpPr>
        <p:spPr>
          <a:xfrm>
            <a:off x="6217920" y="4069080"/>
            <a:ext cx="2651760" cy="1371600"/>
          </a:xfrm>
          <a:prstGeom prst="roundRect">
            <a:avLst>
              <a:gd name="adj" fmla="val 9333"/>
            </a:avLst>
          </a:prstGeom>
          <a:solidFill>
            <a:schemeClr val="accent6"/>
          </a:solidFill>
          <a:ln/>
        </p:spPr>
      </p:sp>
      <p:sp>
        <p:nvSpPr>
          <p:cNvPr id="29" name="Text 23"/>
          <p:cNvSpPr txBox="1"/>
          <p:nvPr/>
        </p:nvSpPr>
        <p:spPr>
          <a:xfrm>
            <a:off x="6400800" y="4224528"/>
            <a:ext cx="2286000" cy="411480"/>
          </a:xfrm>
          <a:prstGeom prst="rect">
            <a:avLst/>
          </a:prstGeom>
          <a:noFill/>
          <a:ln/>
        </p:spPr>
        <p:txBody>
          <a:bodyPr wrap="square" lIns="0" tIns="0" rIns="0" bIns="0" rtlCol="0" anchor="t"/>
          <a:lstStyle/>
          <a:p>
            <a:pPr indent="0" marL="0">
              <a:buNone/>
            </a:pPr>
            <a:r>
              <a:rPr lang="en-US" sz="1600" dirty="0">
                <a:solidFill>
                  <a:schemeClr val="bg2"/>
                </a:solidFill>
              </a:rPr>
              <a:t>Registry down</a:t>
            </a:r>
            <a:endParaRPr lang="en-US" sz="1600" dirty="0"/>
          </a:p>
        </p:txBody>
      </p:sp>
      <p:sp>
        <p:nvSpPr>
          <p:cNvPr id="30" name="Text 24"/>
          <p:cNvSpPr txBox="1"/>
          <p:nvPr/>
        </p:nvSpPr>
        <p:spPr>
          <a:xfrm>
            <a:off x="6400800" y="4663440"/>
            <a:ext cx="2286000" cy="685800"/>
          </a:xfrm>
          <a:prstGeom prst="rect">
            <a:avLst/>
          </a:prstGeom>
          <a:noFill/>
          <a:ln/>
        </p:spPr>
        <p:txBody>
          <a:bodyPr wrap="square" lIns="0" tIns="0" rIns="0" bIns="0" rtlCol="0" anchor="t"/>
          <a:lstStyle/>
          <a:p>
            <a:pPr indent="0" marL="0">
              <a:buNone/>
            </a:pPr>
            <a:r>
              <a:rPr lang="en-US" sz="1800" b="1" dirty="0">
                <a:solidFill>
                  <a:schemeClr val="accent2"/>
                </a:solidFill>
              </a:rPr>
              <a:t>Cannot check, never "genuine"</a:t>
            </a:r>
            <a:endParaRPr lang="en-US" sz="1800" dirty="0"/>
          </a:p>
        </p:txBody>
      </p:sp>
      <p:sp>
        <p:nvSpPr>
          <p:cNvPr id="31" name="Rule 4"/>
          <p:cNvSpPr/>
          <p:nvPr/>
        </p:nvSpPr>
        <p:spPr>
          <a:xfrm>
            <a:off x="9052560" y="4069080"/>
            <a:ext cx="2651760" cy="1371600"/>
          </a:xfrm>
          <a:prstGeom prst="roundRect">
            <a:avLst>
              <a:gd name="adj" fmla="val 9333"/>
            </a:avLst>
          </a:prstGeom>
          <a:solidFill>
            <a:schemeClr val="accent6"/>
          </a:solidFill>
          <a:ln/>
        </p:spPr>
      </p:sp>
      <p:sp>
        <p:nvSpPr>
          <p:cNvPr id="32" name="Text 26"/>
          <p:cNvSpPr txBox="1"/>
          <p:nvPr/>
        </p:nvSpPr>
        <p:spPr>
          <a:xfrm>
            <a:off x="9235440" y="4224528"/>
            <a:ext cx="2286000" cy="411480"/>
          </a:xfrm>
          <a:prstGeom prst="rect">
            <a:avLst/>
          </a:prstGeom>
          <a:noFill/>
          <a:ln/>
        </p:spPr>
        <p:txBody>
          <a:bodyPr wrap="square" lIns="0" tIns="0" rIns="0" bIns="0" rtlCol="0" anchor="t"/>
          <a:lstStyle/>
          <a:p>
            <a:pPr indent="0" marL="0">
              <a:buNone/>
            </a:pPr>
            <a:r>
              <a:rPr lang="en-US" sz="1600" dirty="0">
                <a:solidFill>
                  <a:schemeClr val="bg2"/>
                </a:solidFill>
              </a:rPr>
              <a:t>Registry breached</a:t>
            </a:r>
            <a:endParaRPr lang="en-US" sz="1600" dirty="0"/>
          </a:p>
        </p:txBody>
      </p:sp>
      <p:sp>
        <p:nvSpPr>
          <p:cNvPr id="33" name="Text 27"/>
          <p:cNvSpPr txBox="1"/>
          <p:nvPr/>
        </p:nvSpPr>
        <p:spPr>
          <a:xfrm>
            <a:off x="9235440" y="4663440"/>
            <a:ext cx="2286000" cy="685800"/>
          </a:xfrm>
          <a:prstGeom prst="rect">
            <a:avLst/>
          </a:prstGeom>
          <a:noFill/>
          <a:ln/>
        </p:spPr>
        <p:txBody>
          <a:bodyPr wrap="square" lIns="0" tIns="0" rIns="0" bIns="0" rtlCol="0" anchor="t"/>
          <a:lstStyle/>
          <a:p>
            <a:pPr indent="0" marL="0">
              <a:buNone/>
            </a:pPr>
            <a:r>
              <a:rPr lang="en-US" sz="1800" b="1" dirty="0">
                <a:solidFill>
                  <a:schemeClr val="accent1"/>
                </a:solidFill>
              </a:rPr>
              <a:t>No texts, no phone numbers inside</a:t>
            </a:r>
            <a:endParaRPr lang="en-US" sz="1800" dirty="0"/>
          </a:p>
        </p:txBody>
      </p:sp>
      <p:sp>
        <p:nvSpPr>
          <p:cNvPr id="34" name="Text 28"/>
          <p:cNvSpPr txBox="1"/>
          <p:nvPr/>
        </p:nvSpPr>
        <p:spPr>
          <a:xfrm>
            <a:off x="548640" y="5577840"/>
            <a:ext cx="11064240" cy="365760"/>
          </a:xfrm>
          <a:prstGeom prst="rect">
            <a:avLst/>
          </a:prstGeom>
          <a:noFill/>
          <a:ln/>
        </p:spPr>
        <p:txBody>
          <a:bodyPr wrap="square" lIns="0" tIns="0" rIns="0" bIns="0" rtlCol="0" anchor="t"/>
          <a:lstStyle/>
          <a:p>
            <a:pPr indent="0" marL="0">
              <a:buNone/>
            </a:pPr>
            <a:r>
              <a:rPr lang="en-US" sz="1500" i="1" dirty="0">
                <a:solidFill>
                  <a:schemeClr val="bg2"/>
                </a:solidFill>
              </a:rPr>
              <a:t>Calls too: before the bank dials, the app and the agent show the same 4-digit code.</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What the customer sees</a:t>
            </a:r>
            <a:endParaRPr lang="en-US" sz="3800" dirty="0"/>
          </a:p>
        </p:txBody>
      </p:sp>
      <p:pic>
        <p:nvPicPr>
          <p:cNvPr id="3" name="Phone confirmed" descr="App screen: The real message">    </p:cNvPr>
          <p:cNvPicPr>
            <a:picLocks noChangeAspect="1"/>
          </p:cNvPicPr>
          <p:nvPr/>
        </p:nvPicPr>
        <p:blipFill>
          <a:blip r:embed="rId1"/>
          <a:stretch>
            <a:fillRect/>
          </a:stretch>
        </p:blipFill>
        <p:spPr>
          <a:xfrm>
            <a:off x="1207008" y="1234440"/>
            <a:ext cx="1889615" cy="3977640"/>
          </a:xfrm>
          <a:prstGeom prst="rect">
            <a:avLst/>
          </a:prstGeom>
        </p:spPr>
      </p:pic>
      <p:sp>
        <p:nvSpPr>
          <p:cNvPr id="4" name="Text 1"/>
          <p:cNvSpPr txBox="1"/>
          <p:nvPr/>
        </p:nvSpPr>
        <p:spPr>
          <a:xfrm>
            <a:off x="411480" y="5303520"/>
            <a:ext cx="3474720" cy="365760"/>
          </a:xfrm>
          <a:prstGeom prst="rect">
            <a:avLst/>
          </a:prstGeom>
          <a:noFill/>
          <a:ln/>
        </p:spPr>
        <p:txBody>
          <a:bodyPr wrap="square" lIns="0" tIns="0" rIns="0" bIns="0" rtlCol="0" anchor="t"/>
          <a:lstStyle/>
          <a:p>
            <a:pPr algn="ctr" indent="0" marL="0">
              <a:buNone/>
            </a:pPr>
            <a:r>
              <a:rPr lang="en-US" sz="1700" b="1" dirty="0">
                <a:solidFill>
                  <a:schemeClr val="bg1"/>
                </a:solidFill>
              </a:rPr>
              <a:t>The real message</a:t>
            </a:r>
            <a:endParaRPr lang="en-US" sz="1700" dirty="0"/>
          </a:p>
        </p:txBody>
      </p:sp>
      <p:sp>
        <p:nvSpPr>
          <p:cNvPr id="5" name="Text 2"/>
          <p:cNvSpPr txBox="1"/>
          <p:nvPr/>
        </p:nvSpPr>
        <p:spPr>
          <a:xfrm>
            <a:off x="411480" y="5669280"/>
            <a:ext cx="3474720" cy="320040"/>
          </a:xfrm>
          <a:prstGeom prst="rect">
            <a:avLst/>
          </a:prstGeom>
          <a:noFill/>
          <a:ln/>
        </p:spPr>
        <p:txBody>
          <a:bodyPr wrap="square" lIns="0" tIns="0" rIns="0" bIns="0" rtlCol="0" anchor="t"/>
          <a:lstStyle/>
          <a:p>
            <a:pPr algn="ctr" indent="0" marL="0">
              <a:buNone/>
            </a:pPr>
            <a:r>
              <a:rPr lang="en-US" sz="1400" dirty="0">
                <a:solidFill>
                  <a:schemeClr val="accent1"/>
                </a:solidFill>
              </a:rPr>
              <a:t>Sent by your bank</a:t>
            </a:r>
            <a:endParaRPr lang="en-US" sz="1400" dirty="0"/>
          </a:p>
        </p:txBody>
      </p:sp>
      <p:pic>
        <p:nvPicPr>
          <p:cNvPr id="6" name="Phone notconf" descr="App screen: One character changed">    </p:cNvPr>
          <p:cNvPicPr>
            <a:picLocks noChangeAspect="1"/>
          </p:cNvPicPr>
          <p:nvPr/>
        </p:nvPicPr>
        <p:blipFill>
          <a:blip r:embed="rId2"/>
          <a:stretch>
            <a:fillRect/>
          </a:stretch>
        </p:blipFill>
        <p:spPr>
          <a:xfrm>
            <a:off x="5138928" y="1234440"/>
            <a:ext cx="1889615" cy="3977640"/>
          </a:xfrm>
          <a:prstGeom prst="rect">
            <a:avLst/>
          </a:prstGeom>
        </p:spPr>
      </p:pic>
      <p:sp>
        <p:nvSpPr>
          <p:cNvPr id="7" name="Text 3"/>
          <p:cNvSpPr txBox="1"/>
          <p:nvPr/>
        </p:nvSpPr>
        <p:spPr>
          <a:xfrm>
            <a:off x="4343400" y="5303520"/>
            <a:ext cx="3474720" cy="365760"/>
          </a:xfrm>
          <a:prstGeom prst="rect">
            <a:avLst/>
          </a:prstGeom>
          <a:noFill/>
          <a:ln/>
        </p:spPr>
        <p:txBody>
          <a:bodyPr wrap="square" lIns="0" tIns="0" rIns="0" bIns="0" rtlCol="0" anchor="t"/>
          <a:lstStyle/>
          <a:p>
            <a:pPr algn="ctr" indent="0" marL="0">
              <a:buNone/>
            </a:pPr>
            <a:r>
              <a:rPr lang="en-US" sz="1700" b="1" dirty="0">
                <a:solidFill>
                  <a:schemeClr val="bg1"/>
                </a:solidFill>
              </a:rPr>
              <a:t>One character changed</a:t>
            </a:r>
            <a:endParaRPr lang="en-US" sz="1700" dirty="0"/>
          </a:p>
        </p:txBody>
      </p:sp>
      <p:sp>
        <p:nvSpPr>
          <p:cNvPr id="8" name="Text 4"/>
          <p:cNvSpPr txBox="1"/>
          <p:nvPr/>
        </p:nvSpPr>
        <p:spPr>
          <a:xfrm>
            <a:off x="4343400" y="5669280"/>
            <a:ext cx="3474720" cy="320040"/>
          </a:xfrm>
          <a:prstGeom prst="rect">
            <a:avLst/>
          </a:prstGeom>
          <a:noFill/>
          <a:ln/>
        </p:spPr>
        <p:txBody>
          <a:bodyPr wrap="square" lIns="0" tIns="0" rIns="0" bIns="0" rtlCol="0" anchor="t"/>
          <a:lstStyle/>
          <a:p>
            <a:pPr algn="ctr" indent="0" marL="0">
              <a:buNone/>
            </a:pPr>
            <a:r>
              <a:rPr lang="en-US" sz="1400" dirty="0">
                <a:solidFill>
                  <a:schemeClr val="accent2"/>
                </a:solidFill>
              </a:rPr>
              <a:t>Not confirmed</a:t>
            </a:r>
            <a:endParaRPr lang="en-US" sz="1400" dirty="0"/>
          </a:p>
        </p:txBody>
      </p:sp>
      <p:pic>
        <p:nvPicPr>
          <p:cNvPr id="9" name="Phone calling" descr="App screen: The bank is calling">    </p:cNvPr>
          <p:cNvPicPr>
            <a:picLocks noChangeAspect="1"/>
          </p:cNvPicPr>
          <p:nvPr/>
        </p:nvPicPr>
        <p:blipFill>
          <a:blip r:embed="rId3"/>
          <a:stretch>
            <a:fillRect/>
          </a:stretch>
        </p:blipFill>
        <p:spPr>
          <a:xfrm>
            <a:off x="9070848" y="1234440"/>
            <a:ext cx="1889615" cy="3977640"/>
          </a:xfrm>
          <a:prstGeom prst="rect">
            <a:avLst/>
          </a:prstGeom>
        </p:spPr>
      </p:pic>
      <p:sp>
        <p:nvSpPr>
          <p:cNvPr id="10" name="Text 5"/>
          <p:cNvSpPr txBox="1"/>
          <p:nvPr/>
        </p:nvSpPr>
        <p:spPr>
          <a:xfrm>
            <a:off x="8275320" y="5303520"/>
            <a:ext cx="3474720" cy="365760"/>
          </a:xfrm>
          <a:prstGeom prst="rect">
            <a:avLst/>
          </a:prstGeom>
          <a:noFill/>
          <a:ln/>
        </p:spPr>
        <p:txBody>
          <a:bodyPr wrap="square" lIns="0" tIns="0" rIns="0" bIns="0" rtlCol="0" anchor="t"/>
          <a:lstStyle/>
          <a:p>
            <a:pPr algn="ctr" indent="0" marL="0">
              <a:buNone/>
            </a:pPr>
            <a:r>
              <a:rPr lang="en-US" sz="1700" b="1" dirty="0">
                <a:solidFill>
                  <a:schemeClr val="bg1"/>
                </a:solidFill>
              </a:rPr>
              <a:t>The bank is calling</a:t>
            </a:r>
            <a:endParaRPr lang="en-US" sz="1700" dirty="0"/>
          </a:p>
        </p:txBody>
      </p:sp>
      <p:sp>
        <p:nvSpPr>
          <p:cNvPr id="11" name="Text 6"/>
          <p:cNvSpPr txBox="1"/>
          <p:nvPr/>
        </p:nvSpPr>
        <p:spPr>
          <a:xfrm>
            <a:off x="8275320" y="5669280"/>
            <a:ext cx="3474720" cy="320040"/>
          </a:xfrm>
          <a:prstGeom prst="rect">
            <a:avLst/>
          </a:prstGeom>
          <a:noFill/>
          <a:ln/>
        </p:spPr>
        <p:txBody>
          <a:bodyPr wrap="square" lIns="0" tIns="0" rIns="0" bIns="0" rtlCol="0" anchor="t"/>
          <a:lstStyle/>
          <a:p>
            <a:pPr algn="ctr" indent="0" marL="0">
              <a:buNone/>
            </a:pPr>
            <a:r>
              <a:rPr lang="en-US" sz="1400" dirty="0">
                <a:solidFill>
                  <a:schemeClr val="accent1"/>
                </a:solidFill>
              </a:rPr>
              <a:t>Same code the agent reads</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12 fraud tricks, one registry</a:t>
            </a:r>
            <a:endParaRPr lang="en-US" sz="3800" dirty="0"/>
          </a:p>
        </p:txBody>
      </p:sp>
      <p:sp>
        <p:nvSpPr>
          <p:cNvPr id="3" name="Caught 1"/>
          <p:cNvSpPr/>
          <p:nvPr/>
        </p:nvSpPr>
        <p:spPr>
          <a:xfrm>
            <a:off x="548640" y="1371600"/>
            <a:ext cx="2240280" cy="1051560"/>
          </a:xfrm>
          <a:prstGeom prst="roundRect">
            <a:avLst>
              <a:gd name="adj" fmla="val 12174"/>
            </a:avLst>
          </a:prstGeom>
          <a:solidFill>
            <a:schemeClr val="accent6"/>
          </a:solidFill>
          <a:ln/>
        </p:spPr>
      </p:sp>
      <p:sp>
        <p:nvSpPr>
          <p:cNvPr id="4" name="Caught 1 circle"/>
          <p:cNvSpPr/>
          <p:nvPr/>
        </p:nvSpPr>
        <p:spPr>
          <a:xfrm>
            <a:off x="713232" y="1591056"/>
            <a:ext cx="621792" cy="621792"/>
          </a:xfrm>
          <a:prstGeom prst="ellipse">
            <a:avLst/>
          </a:prstGeom>
          <a:solidFill>
            <a:srgbClr val="19C37D"/>
          </a:solidFill>
          <a:ln/>
        </p:spPr>
      </p:sp>
      <p:pic>
        <p:nvPicPr>
          <p:cNvPr id="5" name="Caught 1 icon" descr="preencoded.png">    </p:cNvPr>
          <p:cNvPicPr>
            <a:picLocks noChangeAspect="1"/>
          </p:cNvPicPr>
          <p:nvPr/>
        </p:nvPicPr>
        <p:blipFill>
          <a:blip r:embed="rId1"/>
          <a:stretch>
            <a:fillRect/>
          </a:stretch>
        </p:blipFill>
        <p:spPr>
          <a:xfrm>
            <a:off x="874898" y="1752722"/>
            <a:ext cx="298460" cy="298460"/>
          </a:xfrm>
          <a:prstGeom prst="rect">
            <a:avLst/>
          </a:prstGeom>
        </p:spPr>
      </p:pic>
      <p:sp>
        <p:nvSpPr>
          <p:cNvPr id="6" name="Text 3"/>
          <p:cNvSpPr txBox="1"/>
          <p:nvPr/>
        </p:nvSpPr>
        <p:spPr>
          <a:xfrm>
            <a:off x="1444752" y="1481328"/>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bank SMS, WhatsApp, email</a:t>
            </a:r>
            <a:endParaRPr lang="en-US" sz="1250" dirty="0"/>
          </a:p>
        </p:txBody>
      </p:sp>
      <p:sp>
        <p:nvSpPr>
          <p:cNvPr id="7" name="Caught 2"/>
          <p:cNvSpPr/>
          <p:nvPr/>
        </p:nvSpPr>
        <p:spPr>
          <a:xfrm>
            <a:off x="2926080" y="1371600"/>
            <a:ext cx="2240280" cy="1051560"/>
          </a:xfrm>
          <a:prstGeom prst="roundRect">
            <a:avLst>
              <a:gd name="adj" fmla="val 12174"/>
            </a:avLst>
          </a:prstGeom>
          <a:solidFill>
            <a:schemeClr val="accent6"/>
          </a:solidFill>
          <a:ln/>
        </p:spPr>
      </p:sp>
      <p:sp>
        <p:nvSpPr>
          <p:cNvPr id="8" name="Caught 2 circle"/>
          <p:cNvSpPr/>
          <p:nvPr/>
        </p:nvSpPr>
        <p:spPr>
          <a:xfrm>
            <a:off x="3090672" y="1591056"/>
            <a:ext cx="621792" cy="621792"/>
          </a:xfrm>
          <a:prstGeom prst="ellipse">
            <a:avLst/>
          </a:prstGeom>
          <a:solidFill>
            <a:srgbClr val="19C37D"/>
          </a:solidFill>
          <a:ln/>
        </p:spPr>
      </p:sp>
      <p:pic>
        <p:nvPicPr>
          <p:cNvPr id="9" name="Caught 2 icon" descr="preencoded.png">    </p:cNvPr>
          <p:cNvPicPr>
            <a:picLocks noChangeAspect="1"/>
          </p:cNvPicPr>
          <p:nvPr/>
        </p:nvPicPr>
        <p:blipFill>
          <a:blip r:embed="rId2"/>
          <a:stretch>
            <a:fillRect/>
          </a:stretch>
        </p:blipFill>
        <p:spPr>
          <a:xfrm>
            <a:off x="3252338" y="1752722"/>
            <a:ext cx="298460" cy="298460"/>
          </a:xfrm>
          <a:prstGeom prst="rect">
            <a:avLst/>
          </a:prstGeom>
        </p:spPr>
      </p:pic>
      <p:sp>
        <p:nvSpPr>
          <p:cNvPr id="10" name="Text 6"/>
          <p:cNvSpPr txBox="1"/>
          <p:nvPr/>
        </p:nvSpPr>
        <p:spPr>
          <a:xfrm>
            <a:off x="3822192" y="1481328"/>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Phishing and lookalike links</a:t>
            </a:r>
            <a:endParaRPr lang="en-US" sz="1250" dirty="0"/>
          </a:p>
        </p:txBody>
      </p:sp>
      <p:sp>
        <p:nvSpPr>
          <p:cNvPr id="11" name="Caught 3"/>
          <p:cNvSpPr/>
          <p:nvPr/>
        </p:nvSpPr>
        <p:spPr>
          <a:xfrm>
            <a:off x="5303520" y="1371600"/>
            <a:ext cx="2240280" cy="1051560"/>
          </a:xfrm>
          <a:prstGeom prst="roundRect">
            <a:avLst>
              <a:gd name="adj" fmla="val 12174"/>
            </a:avLst>
          </a:prstGeom>
          <a:solidFill>
            <a:schemeClr val="accent6"/>
          </a:solidFill>
          <a:ln/>
        </p:spPr>
      </p:sp>
      <p:sp>
        <p:nvSpPr>
          <p:cNvPr id="12" name="Caught 3 circle"/>
          <p:cNvSpPr/>
          <p:nvPr/>
        </p:nvSpPr>
        <p:spPr>
          <a:xfrm>
            <a:off x="5468112" y="1591056"/>
            <a:ext cx="621792" cy="621792"/>
          </a:xfrm>
          <a:prstGeom prst="ellipse">
            <a:avLst/>
          </a:prstGeom>
          <a:solidFill>
            <a:srgbClr val="19C37D"/>
          </a:solidFill>
          <a:ln/>
        </p:spPr>
      </p:sp>
      <p:pic>
        <p:nvPicPr>
          <p:cNvPr id="13" name="Caught 3 icon" descr="preencoded.png">    </p:cNvPr>
          <p:cNvPicPr>
            <a:picLocks noChangeAspect="1"/>
          </p:cNvPicPr>
          <p:nvPr/>
        </p:nvPicPr>
        <p:blipFill>
          <a:blip r:embed="rId3"/>
          <a:stretch>
            <a:fillRect/>
          </a:stretch>
        </p:blipFill>
        <p:spPr>
          <a:xfrm>
            <a:off x="5629778" y="1752722"/>
            <a:ext cx="298460" cy="298460"/>
          </a:xfrm>
          <a:prstGeom prst="rect">
            <a:avLst/>
          </a:prstGeom>
        </p:spPr>
      </p:pic>
      <p:sp>
        <p:nvSpPr>
          <p:cNvPr id="14" name="Text 9"/>
          <p:cNvSpPr txBox="1"/>
          <p:nvPr/>
        </p:nvSpPr>
        <p:spPr>
          <a:xfrm>
            <a:off x="6199632" y="1481328"/>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"bank staff" calls</a:t>
            </a:r>
            <a:endParaRPr lang="en-US" sz="1250" dirty="0"/>
          </a:p>
        </p:txBody>
      </p:sp>
      <p:sp>
        <p:nvSpPr>
          <p:cNvPr id="15" name="Caught 4"/>
          <p:cNvSpPr/>
          <p:nvPr/>
        </p:nvSpPr>
        <p:spPr>
          <a:xfrm>
            <a:off x="7680960" y="1371600"/>
            <a:ext cx="2240280" cy="1051560"/>
          </a:xfrm>
          <a:prstGeom prst="roundRect">
            <a:avLst>
              <a:gd name="adj" fmla="val 12174"/>
            </a:avLst>
          </a:prstGeom>
          <a:solidFill>
            <a:schemeClr val="accent6"/>
          </a:solidFill>
          <a:ln/>
        </p:spPr>
      </p:sp>
      <p:sp>
        <p:nvSpPr>
          <p:cNvPr id="16" name="Caught 4 circle"/>
          <p:cNvSpPr/>
          <p:nvPr/>
        </p:nvSpPr>
        <p:spPr>
          <a:xfrm>
            <a:off x="7845552" y="1591056"/>
            <a:ext cx="621792" cy="621792"/>
          </a:xfrm>
          <a:prstGeom prst="ellipse">
            <a:avLst/>
          </a:prstGeom>
          <a:solidFill>
            <a:srgbClr val="19C37D"/>
          </a:solidFill>
          <a:ln/>
        </p:spPr>
      </p:sp>
      <p:pic>
        <p:nvPicPr>
          <p:cNvPr id="17" name="Caught 4 icon" descr="preencoded.png">    </p:cNvPr>
          <p:cNvPicPr>
            <a:picLocks noChangeAspect="1"/>
          </p:cNvPicPr>
          <p:nvPr/>
        </p:nvPicPr>
        <p:blipFill>
          <a:blip r:embed="rId4"/>
          <a:stretch>
            <a:fillRect/>
          </a:stretch>
        </p:blipFill>
        <p:spPr>
          <a:xfrm>
            <a:off x="8007218" y="1752722"/>
            <a:ext cx="298460" cy="298460"/>
          </a:xfrm>
          <a:prstGeom prst="rect">
            <a:avLst/>
          </a:prstGeom>
        </p:spPr>
      </p:pic>
      <p:sp>
        <p:nvSpPr>
          <p:cNvPr id="18" name="Text 12"/>
          <p:cNvSpPr txBox="1"/>
          <p:nvPr/>
        </p:nvSpPr>
        <p:spPr>
          <a:xfrm>
            <a:off x="8577072" y="1481328"/>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"Read me your OTP" scripts</a:t>
            </a:r>
            <a:endParaRPr lang="en-US" sz="1250" dirty="0"/>
          </a:p>
        </p:txBody>
      </p:sp>
      <p:sp>
        <p:nvSpPr>
          <p:cNvPr id="19" name="Caught 5"/>
          <p:cNvSpPr/>
          <p:nvPr/>
        </p:nvSpPr>
        <p:spPr>
          <a:xfrm>
            <a:off x="548640" y="2578608"/>
            <a:ext cx="2240280" cy="1051560"/>
          </a:xfrm>
          <a:prstGeom prst="roundRect">
            <a:avLst>
              <a:gd name="adj" fmla="val 12174"/>
            </a:avLst>
          </a:prstGeom>
          <a:solidFill>
            <a:schemeClr val="accent6"/>
          </a:solidFill>
          <a:ln/>
        </p:spPr>
      </p:sp>
      <p:sp>
        <p:nvSpPr>
          <p:cNvPr id="20" name="Caught 5 circle"/>
          <p:cNvSpPr/>
          <p:nvPr/>
        </p:nvSpPr>
        <p:spPr>
          <a:xfrm>
            <a:off x="713232" y="2798064"/>
            <a:ext cx="621792" cy="621792"/>
          </a:xfrm>
          <a:prstGeom prst="ellipse">
            <a:avLst/>
          </a:prstGeom>
          <a:solidFill>
            <a:srgbClr val="19C37D"/>
          </a:solidFill>
          <a:ln/>
        </p:spPr>
      </p:sp>
      <p:pic>
        <p:nvPicPr>
          <p:cNvPr id="21" name="Caught 5 icon" descr="preencoded.png">    </p:cNvPr>
          <p:cNvPicPr>
            <a:picLocks noChangeAspect="1"/>
          </p:cNvPicPr>
          <p:nvPr/>
        </p:nvPicPr>
        <p:blipFill>
          <a:blip r:embed="rId5"/>
          <a:stretch>
            <a:fillRect/>
          </a:stretch>
        </p:blipFill>
        <p:spPr>
          <a:xfrm>
            <a:off x="874898" y="2959730"/>
            <a:ext cx="298460" cy="298460"/>
          </a:xfrm>
          <a:prstGeom prst="rect">
            <a:avLst/>
          </a:prstGeom>
        </p:spPr>
      </p:pic>
      <p:sp>
        <p:nvSpPr>
          <p:cNvPr id="22" name="Text 15"/>
          <p:cNvSpPr txBox="1"/>
          <p:nvPr/>
        </p:nvSpPr>
        <p:spPr>
          <a:xfrm>
            <a:off x="1444752" y="2688336"/>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Edited or forwarded messages</a:t>
            </a:r>
            <a:endParaRPr lang="en-US" sz="1250" dirty="0"/>
          </a:p>
        </p:txBody>
      </p:sp>
      <p:sp>
        <p:nvSpPr>
          <p:cNvPr id="23" name="Caught 6"/>
          <p:cNvSpPr/>
          <p:nvPr/>
        </p:nvSpPr>
        <p:spPr>
          <a:xfrm>
            <a:off x="2926080" y="2578608"/>
            <a:ext cx="2240280" cy="1051560"/>
          </a:xfrm>
          <a:prstGeom prst="roundRect">
            <a:avLst>
              <a:gd name="adj" fmla="val 12174"/>
            </a:avLst>
          </a:prstGeom>
          <a:solidFill>
            <a:schemeClr val="accent6"/>
          </a:solidFill>
          <a:ln/>
        </p:spPr>
      </p:sp>
      <p:sp>
        <p:nvSpPr>
          <p:cNvPr id="24" name="Caught 6 circle"/>
          <p:cNvSpPr/>
          <p:nvPr/>
        </p:nvSpPr>
        <p:spPr>
          <a:xfrm>
            <a:off x="3090672" y="2798064"/>
            <a:ext cx="621792" cy="621792"/>
          </a:xfrm>
          <a:prstGeom prst="ellipse">
            <a:avLst/>
          </a:prstGeom>
          <a:solidFill>
            <a:srgbClr val="19C37D"/>
          </a:solidFill>
          <a:ln/>
        </p:spPr>
      </p:sp>
      <p:pic>
        <p:nvPicPr>
          <p:cNvPr id="25" name="Caught 6 icon" descr="preencoded.png">    </p:cNvPr>
          <p:cNvPicPr>
            <a:picLocks noChangeAspect="1"/>
          </p:cNvPicPr>
          <p:nvPr/>
        </p:nvPicPr>
        <p:blipFill>
          <a:blip r:embed="rId6"/>
          <a:stretch>
            <a:fillRect/>
          </a:stretch>
        </p:blipFill>
        <p:spPr>
          <a:xfrm>
            <a:off x="3252338" y="2959730"/>
            <a:ext cx="298460" cy="298460"/>
          </a:xfrm>
          <a:prstGeom prst="rect">
            <a:avLst/>
          </a:prstGeom>
        </p:spPr>
      </p:pic>
      <p:sp>
        <p:nvSpPr>
          <p:cNvPr id="26" name="Text 18"/>
          <p:cNvSpPr txBox="1"/>
          <p:nvPr/>
        </p:nvSpPr>
        <p:spPr>
          <a:xfrm>
            <a:off x="3822192" y="2688336"/>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Spoofed sender names</a:t>
            </a:r>
            <a:endParaRPr lang="en-US" sz="1250" dirty="0"/>
          </a:p>
        </p:txBody>
      </p:sp>
      <p:sp>
        <p:nvSpPr>
          <p:cNvPr id="27" name="Caught 7"/>
          <p:cNvSpPr/>
          <p:nvPr/>
        </p:nvSpPr>
        <p:spPr>
          <a:xfrm>
            <a:off x="5303520" y="2578608"/>
            <a:ext cx="2240280" cy="1051560"/>
          </a:xfrm>
          <a:prstGeom prst="roundRect">
            <a:avLst>
              <a:gd name="adj" fmla="val 12174"/>
            </a:avLst>
          </a:prstGeom>
          <a:solidFill>
            <a:schemeClr val="accent6"/>
          </a:solidFill>
          <a:ln/>
        </p:spPr>
      </p:sp>
      <p:sp>
        <p:nvSpPr>
          <p:cNvPr id="28" name="Caught 7 circle"/>
          <p:cNvSpPr/>
          <p:nvPr/>
        </p:nvSpPr>
        <p:spPr>
          <a:xfrm>
            <a:off x="5468112" y="2798064"/>
            <a:ext cx="621792" cy="621792"/>
          </a:xfrm>
          <a:prstGeom prst="ellipse">
            <a:avLst/>
          </a:prstGeom>
          <a:solidFill>
            <a:srgbClr val="19C37D"/>
          </a:solidFill>
          <a:ln/>
        </p:spPr>
      </p:sp>
      <p:pic>
        <p:nvPicPr>
          <p:cNvPr id="29" name="Caught 7 icon" descr="preencoded.png">    </p:cNvPr>
          <p:cNvPicPr>
            <a:picLocks noChangeAspect="1"/>
          </p:cNvPicPr>
          <p:nvPr/>
        </p:nvPicPr>
        <p:blipFill>
          <a:blip r:embed="rId7"/>
          <a:stretch>
            <a:fillRect/>
          </a:stretch>
        </p:blipFill>
        <p:spPr>
          <a:xfrm>
            <a:off x="5629778" y="2959730"/>
            <a:ext cx="298460" cy="298460"/>
          </a:xfrm>
          <a:prstGeom prst="rect">
            <a:avLst/>
          </a:prstGeom>
        </p:spPr>
      </p:pic>
      <p:sp>
        <p:nvSpPr>
          <p:cNvPr id="30" name="Text 21"/>
          <p:cNvSpPr txBox="1"/>
          <p:nvPr/>
        </p:nvSpPr>
        <p:spPr>
          <a:xfrm>
            <a:off x="6199632" y="2688336"/>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customer-care numbers</a:t>
            </a:r>
            <a:endParaRPr lang="en-US" sz="1250" dirty="0"/>
          </a:p>
        </p:txBody>
      </p:sp>
      <p:sp>
        <p:nvSpPr>
          <p:cNvPr id="31" name="Caught 8"/>
          <p:cNvSpPr/>
          <p:nvPr/>
        </p:nvSpPr>
        <p:spPr>
          <a:xfrm>
            <a:off x="7680960" y="2578608"/>
            <a:ext cx="2240280" cy="1051560"/>
          </a:xfrm>
          <a:prstGeom prst="roundRect">
            <a:avLst>
              <a:gd name="adj" fmla="val 12174"/>
            </a:avLst>
          </a:prstGeom>
          <a:solidFill>
            <a:schemeClr val="accent6"/>
          </a:solidFill>
          <a:ln/>
        </p:spPr>
      </p:sp>
      <p:sp>
        <p:nvSpPr>
          <p:cNvPr id="32" name="Caught 8 circle"/>
          <p:cNvSpPr/>
          <p:nvPr/>
        </p:nvSpPr>
        <p:spPr>
          <a:xfrm>
            <a:off x="7845552" y="2798064"/>
            <a:ext cx="621792" cy="621792"/>
          </a:xfrm>
          <a:prstGeom prst="ellipse">
            <a:avLst/>
          </a:prstGeom>
          <a:solidFill>
            <a:srgbClr val="19C37D"/>
          </a:solidFill>
          <a:ln/>
        </p:spPr>
      </p:sp>
      <p:pic>
        <p:nvPicPr>
          <p:cNvPr id="33" name="Caught 8 icon" descr="preencoded.png">    </p:cNvPr>
          <p:cNvPicPr>
            <a:picLocks noChangeAspect="1"/>
          </p:cNvPicPr>
          <p:nvPr/>
        </p:nvPicPr>
        <p:blipFill>
          <a:blip r:embed="rId8"/>
          <a:stretch>
            <a:fillRect/>
          </a:stretch>
        </p:blipFill>
        <p:spPr>
          <a:xfrm>
            <a:off x="8007218" y="2959730"/>
            <a:ext cx="298460" cy="298460"/>
          </a:xfrm>
          <a:prstGeom prst="rect">
            <a:avLst/>
          </a:prstGeom>
        </p:spPr>
      </p:pic>
      <p:sp>
        <p:nvSpPr>
          <p:cNvPr id="34" name="Text 24"/>
          <p:cNvSpPr txBox="1"/>
          <p:nvPr/>
        </p:nvSpPr>
        <p:spPr>
          <a:xfrm>
            <a:off x="8577072" y="2688336"/>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"I have paid you" receipts</a:t>
            </a:r>
            <a:endParaRPr lang="en-US" sz="1250" dirty="0"/>
          </a:p>
        </p:txBody>
      </p:sp>
      <p:sp>
        <p:nvSpPr>
          <p:cNvPr id="35" name="Caught 9"/>
          <p:cNvSpPr/>
          <p:nvPr/>
        </p:nvSpPr>
        <p:spPr>
          <a:xfrm>
            <a:off x="548640" y="3785616"/>
            <a:ext cx="2240280" cy="1051560"/>
          </a:xfrm>
          <a:prstGeom prst="roundRect">
            <a:avLst>
              <a:gd name="adj" fmla="val 12174"/>
            </a:avLst>
          </a:prstGeom>
          <a:solidFill>
            <a:schemeClr val="accent6"/>
          </a:solidFill>
          <a:ln/>
        </p:spPr>
      </p:sp>
      <p:sp>
        <p:nvSpPr>
          <p:cNvPr id="36" name="Caught 9 circle"/>
          <p:cNvSpPr/>
          <p:nvPr/>
        </p:nvSpPr>
        <p:spPr>
          <a:xfrm>
            <a:off x="713232" y="4005072"/>
            <a:ext cx="621792" cy="621792"/>
          </a:xfrm>
          <a:prstGeom prst="ellipse">
            <a:avLst/>
          </a:prstGeom>
          <a:solidFill>
            <a:srgbClr val="19C37D"/>
          </a:solidFill>
          <a:ln/>
        </p:spPr>
      </p:sp>
      <p:pic>
        <p:nvPicPr>
          <p:cNvPr id="37" name="Caught 9 icon" descr="preencoded.png">    </p:cNvPr>
          <p:cNvPicPr>
            <a:picLocks noChangeAspect="1"/>
          </p:cNvPicPr>
          <p:nvPr/>
        </p:nvPicPr>
        <p:blipFill>
          <a:blip r:embed="rId9"/>
          <a:stretch>
            <a:fillRect/>
          </a:stretch>
        </p:blipFill>
        <p:spPr>
          <a:xfrm>
            <a:off x="874898" y="4166738"/>
            <a:ext cx="298460" cy="298460"/>
          </a:xfrm>
          <a:prstGeom prst="rect">
            <a:avLst/>
          </a:prstGeom>
        </p:spPr>
      </p:pic>
      <p:sp>
        <p:nvSpPr>
          <p:cNvPr id="38" name="Text 27"/>
          <p:cNvSpPr txBox="1"/>
          <p:nvPr/>
        </p:nvSpPr>
        <p:spPr>
          <a:xfrm>
            <a:off x="1444752" y="3895344"/>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banking apps (APKs)</a:t>
            </a:r>
            <a:endParaRPr lang="en-US" sz="1250" dirty="0"/>
          </a:p>
        </p:txBody>
      </p:sp>
      <p:sp>
        <p:nvSpPr>
          <p:cNvPr id="39" name="Caught 10"/>
          <p:cNvSpPr/>
          <p:nvPr/>
        </p:nvSpPr>
        <p:spPr>
          <a:xfrm>
            <a:off x="2926080" y="3785616"/>
            <a:ext cx="2240280" cy="1051560"/>
          </a:xfrm>
          <a:prstGeom prst="roundRect">
            <a:avLst>
              <a:gd name="adj" fmla="val 12174"/>
            </a:avLst>
          </a:prstGeom>
          <a:solidFill>
            <a:schemeClr val="accent6"/>
          </a:solidFill>
          <a:ln/>
        </p:spPr>
      </p:sp>
      <p:sp>
        <p:nvSpPr>
          <p:cNvPr id="40" name="Caught 10 circle"/>
          <p:cNvSpPr/>
          <p:nvPr/>
        </p:nvSpPr>
        <p:spPr>
          <a:xfrm>
            <a:off x="3090672" y="4005072"/>
            <a:ext cx="621792" cy="621792"/>
          </a:xfrm>
          <a:prstGeom prst="ellipse">
            <a:avLst/>
          </a:prstGeom>
          <a:solidFill>
            <a:srgbClr val="19C37D"/>
          </a:solidFill>
          <a:ln/>
        </p:spPr>
      </p:sp>
      <p:pic>
        <p:nvPicPr>
          <p:cNvPr id="41" name="Caught 10 icon" descr="preencoded.png">    </p:cNvPr>
          <p:cNvPicPr>
            <a:picLocks noChangeAspect="1"/>
          </p:cNvPicPr>
          <p:nvPr/>
        </p:nvPicPr>
        <p:blipFill>
          <a:blip r:embed="rId10"/>
          <a:stretch>
            <a:fillRect/>
          </a:stretch>
        </p:blipFill>
        <p:spPr>
          <a:xfrm>
            <a:off x="3252338" y="4166738"/>
            <a:ext cx="298460" cy="298460"/>
          </a:xfrm>
          <a:prstGeom prst="rect">
            <a:avLst/>
          </a:prstGeom>
        </p:spPr>
      </p:pic>
      <p:sp>
        <p:nvSpPr>
          <p:cNvPr id="42" name="Text 30"/>
          <p:cNvSpPr txBox="1"/>
          <p:nvPr/>
        </p:nvSpPr>
        <p:spPr>
          <a:xfrm>
            <a:off x="3822192" y="3895344"/>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SIM swap before an OTP</a:t>
            </a:r>
            <a:endParaRPr lang="en-US" sz="1250" dirty="0"/>
          </a:p>
        </p:txBody>
      </p:sp>
      <p:sp>
        <p:nvSpPr>
          <p:cNvPr id="43" name="Caught 11"/>
          <p:cNvSpPr/>
          <p:nvPr/>
        </p:nvSpPr>
        <p:spPr>
          <a:xfrm>
            <a:off x="5303520" y="3785616"/>
            <a:ext cx="2240280" cy="1051560"/>
          </a:xfrm>
          <a:prstGeom prst="roundRect">
            <a:avLst>
              <a:gd name="adj" fmla="val 12174"/>
            </a:avLst>
          </a:prstGeom>
          <a:solidFill>
            <a:schemeClr val="accent6"/>
          </a:solidFill>
          <a:ln/>
        </p:spPr>
      </p:sp>
      <p:sp>
        <p:nvSpPr>
          <p:cNvPr id="44" name="Caught 11 circle"/>
          <p:cNvSpPr/>
          <p:nvPr/>
        </p:nvSpPr>
        <p:spPr>
          <a:xfrm>
            <a:off x="5468112" y="4005072"/>
            <a:ext cx="621792" cy="621792"/>
          </a:xfrm>
          <a:prstGeom prst="ellipse">
            <a:avLst/>
          </a:prstGeom>
          <a:solidFill>
            <a:srgbClr val="19C37D"/>
          </a:solidFill>
          <a:ln/>
        </p:spPr>
      </p:sp>
      <p:pic>
        <p:nvPicPr>
          <p:cNvPr id="45" name="Caught 11 icon" descr="preencoded.png">    </p:cNvPr>
          <p:cNvPicPr>
            <a:picLocks noChangeAspect="1"/>
          </p:cNvPicPr>
          <p:nvPr/>
        </p:nvPicPr>
        <p:blipFill>
          <a:blip r:embed="rId11"/>
          <a:stretch>
            <a:fillRect/>
          </a:stretch>
        </p:blipFill>
        <p:spPr>
          <a:xfrm>
            <a:off x="5629778" y="4166738"/>
            <a:ext cx="298460" cy="298460"/>
          </a:xfrm>
          <a:prstGeom prst="rect">
            <a:avLst/>
          </a:prstGeom>
        </p:spPr>
      </p:pic>
      <p:sp>
        <p:nvSpPr>
          <p:cNvPr id="46" name="Text 33"/>
          <p:cNvSpPr txBox="1"/>
          <p:nvPr/>
        </p:nvSpPr>
        <p:spPr>
          <a:xfrm>
            <a:off x="6199632" y="3895344"/>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Fake government messages</a:t>
            </a:r>
            <a:endParaRPr lang="en-US" sz="1250" dirty="0"/>
          </a:p>
        </p:txBody>
      </p:sp>
      <p:sp>
        <p:nvSpPr>
          <p:cNvPr id="47" name="Caught 12"/>
          <p:cNvSpPr/>
          <p:nvPr/>
        </p:nvSpPr>
        <p:spPr>
          <a:xfrm>
            <a:off x="7680960" y="3785616"/>
            <a:ext cx="2240280" cy="1051560"/>
          </a:xfrm>
          <a:prstGeom prst="roundRect">
            <a:avLst>
              <a:gd name="adj" fmla="val 12174"/>
            </a:avLst>
          </a:prstGeom>
          <a:solidFill>
            <a:schemeClr val="accent6"/>
          </a:solidFill>
          <a:ln/>
        </p:spPr>
      </p:sp>
      <p:sp>
        <p:nvSpPr>
          <p:cNvPr id="48" name="Caught 12 circle"/>
          <p:cNvSpPr/>
          <p:nvPr/>
        </p:nvSpPr>
        <p:spPr>
          <a:xfrm>
            <a:off x="7845552" y="4005072"/>
            <a:ext cx="621792" cy="621792"/>
          </a:xfrm>
          <a:prstGeom prst="ellipse">
            <a:avLst/>
          </a:prstGeom>
          <a:solidFill>
            <a:srgbClr val="19C37D"/>
          </a:solidFill>
          <a:ln/>
        </p:spPr>
      </p:sp>
      <p:pic>
        <p:nvPicPr>
          <p:cNvPr id="49" name="Caught 12 icon" descr="preencoded.png">    </p:cNvPr>
          <p:cNvPicPr>
            <a:picLocks noChangeAspect="1"/>
          </p:cNvPicPr>
          <p:nvPr/>
        </p:nvPicPr>
        <p:blipFill>
          <a:blip r:embed="rId12"/>
          <a:stretch>
            <a:fillRect/>
          </a:stretch>
        </p:blipFill>
        <p:spPr>
          <a:xfrm>
            <a:off x="8007218" y="4166738"/>
            <a:ext cx="298460" cy="298460"/>
          </a:xfrm>
          <a:prstGeom prst="rect">
            <a:avLst/>
          </a:prstGeom>
        </p:spPr>
      </p:pic>
      <p:sp>
        <p:nvSpPr>
          <p:cNvPr id="50" name="Text 36"/>
          <p:cNvSpPr txBox="1"/>
          <p:nvPr/>
        </p:nvSpPr>
        <p:spPr>
          <a:xfrm>
            <a:off x="8577072" y="3895344"/>
            <a:ext cx="1280160" cy="822960"/>
          </a:xfrm>
          <a:prstGeom prst="rect">
            <a:avLst/>
          </a:prstGeom>
          <a:noFill/>
          <a:ln/>
        </p:spPr>
        <p:txBody>
          <a:bodyPr wrap="square" lIns="0" tIns="0" rIns="0" bIns="0" rtlCol="0" anchor="ctr"/>
          <a:lstStyle/>
          <a:p>
            <a:pPr indent="0" marL="0">
              <a:buNone/>
            </a:pPr>
            <a:r>
              <a:rPr lang="en-US" sz="1250" b="1" dirty="0">
                <a:solidFill>
                  <a:schemeClr val="bg1"/>
                </a:solidFill>
              </a:rPr>
              <a:t>Unlicensed loan apps</a:t>
            </a:r>
            <a:endParaRPr lang="en-US" sz="1250" dirty="0"/>
          </a:p>
        </p:txBody>
      </p:sp>
      <p:sp>
        <p:nvSpPr>
          <p:cNvPr id="51" name="Out of scope"/>
          <p:cNvSpPr/>
          <p:nvPr/>
        </p:nvSpPr>
        <p:spPr>
          <a:xfrm>
            <a:off x="10104120" y="1371600"/>
            <a:ext cx="1508760" cy="3465576"/>
          </a:xfrm>
          <a:prstGeom prst="roundRect">
            <a:avLst>
              <a:gd name="adj" fmla="val 8485"/>
            </a:avLst>
          </a:prstGeom>
          <a:solidFill>
            <a:srgbClr val="2A1416"/>
          </a:solidFill>
          <a:ln/>
        </p:spPr>
      </p:sp>
      <p:sp>
        <p:nvSpPr>
          <p:cNvPr id="52" name="Text 38"/>
          <p:cNvSpPr txBox="1"/>
          <p:nvPr/>
        </p:nvSpPr>
        <p:spPr>
          <a:xfrm>
            <a:off x="10241280" y="1508760"/>
            <a:ext cx="1280160" cy="548640"/>
          </a:xfrm>
          <a:prstGeom prst="rect">
            <a:avLst/>
          </a:prstGeom>
          <a:noFill/>
          <a:ln/>
        </p:spPr>
        <p:txBody>
          <a:bodyPr wrap="square" lIns="0" tIns="0" rIns="0" bIns="0" rtlCol="0" anchor="t"/>
          <a:lstStyle/>
          <a:p>
            <a:pPr indent="0" marL="0">
              <a:buNone/>
            </a:pPr>
            <a:r>
              <a:rPr lang="en-US" sz="1300" b="1" dirty="0">
                <a:solidFill>
                  <a:schemeClr val="accent3"/>
                </a:solidFill>
              </a:rPr>
              <a:t>Not ours to stop</a:t>
            </a:r>
            <a:endParaRPr lang="en-US" sz="1300" dirty="0"/>
          </a:p>
        </p:txBody>
      </p:sp>
      <p:sp>
        <p:nvSpPr>
          <p:cNvPr id="53" name="Text 39"/>
          <p:cNvSpPr txBox="1"/>
          <p:nvPr/>
        </p:nvSpPr>
        <p:spPr>
          <a:xfrm>
            <a:off x="10241280" y="2103120"/>
            <a:ext cx="1280160" cy="2651760"/>
          </a:xfrm>
          <a:prstGeom prst="rect">
            <a:avLst/>
          </a:prstGeom>
          <a:noFill/>
          <a:ln/>
        </p:spPr>
        <p:txBody>
          <a:bodyPr wrap="square" lIns="0" tIns="0" rIns="0" bIns="0" rtlCol="0" anchor="t"/>
          <a:lstStyle/>
          <a:p>
            <a:pPr indent="0" marL="0">
              <a:buNone/>
            </a:pPr>
            <a:r>
              <a:rPr lang="en-US" sz="1150" dirty="0">
                <a:solidFill>
                  <a:schemeClr val="bg2"/>
                </a:solidFill>
              </a:rPr>
              <a:t>Insider abuse</a:t>
            </a:r>
            <a:endParaRPr lang="en-US" sz="1150" dirty="0"/>
          </a:p>
          <a:p>
            <a:pPr indent="0" marL="0">
              <a:buNone/>
            </a:pPr>
            <a:endParaRPr lang="en-US" sz="1150" dirty="0"/>
          </a:p>
          <a:p>
            <a:pPr indent="0" marL="0">
              <a:buNone/>
            </a:pPr>
            <a:r>
              <a:rPr lang="en-US" sz="1150" dirty="0">
                <a:solidFill>
                  <a:schemeClr val="bg2"/>
                </a:solidFill>
              </a:rPr>
              <a:t>Account takeover</a:t>
            </a:r>
            <a:endParaRPr lang="en-US" sz="1150" dirty="0"/>
          </a:p>
          <a:p>
            <a:pPr indent="0" marL="0">
              <a:buNone/>
            </a:pPr>
            <a:endParaRPr lang="en-US" sz="1150" dirty="0"/>
          </a:p>
          <a:p>
            <a:pPr indent="0" marL="0">
              <a:buNone/>
            </a:pPr>
            <a:r>
              <a:rPr lang="en-US" sz="1150" dirty="0">
                <a:solidFill>
                  <a:schemeClr val="bg2"/>
                </a:solidFill>
              </a:rPr>
              <a:t>Card and POS fraud</a:t>
            </a:r>
            <a:endParaRPr lang="en-US" sz="1150" dirty="0"/>
          </a:p>
          <a:p>
            <a:pPr indent="0" marL="0">
              <a:buNone/>
            </a:pPr>
            <a:endParaRPr lang="en-US" sz="1150" dirty="0"/>
          </a:p>
          <a:p>
            <a:pPr indent="0" marL="0">
              <a:buNone/>
            </a:pPr>
            <a:r>
              <a:rPr lang="en-US" sz="1150" dirty="0">
                <a:solidFill>
                  <a:schemeClr val="bg2"/>
                </a:solidFill>
              </a:rPr>
              <a:t>Fake identities (KYC)</a:t>
            </a:r>
            <a:endParaRPr lang="en-US" sz="1150" dirty="0"/>
          </a:p>
        </p:txBody>
      </p:sp>
      <p:sp>
        <p:nvSpPr>
          <p:cNvPr id="54" name="Text 40"/>
          <p:cNvSpPr txBox="1"/>
          <p:nvPr/>
        </p:nvSpPr>
        <p:spPr>
          <a:xfrm>
            <a:off x="548640" y="5120640"/>
            <a:ext cx="11064240" cy="731520"/>
          </a:xfrm>
          <a:prstGeom prst="rect">
            <a:avLst/>
          </a:prstGeom>
          <a:noFill/>
          <a:ln/>
        </p:spPr>
        <p:txBody>
          <a:bodyPr wrap="square" lIns="0" tIns="0" rIns="0" bIns="0" rtlCol="0" anchor="t"/>
          <a:lstStyle/>
          <a:p>
            <a:pPr indent="0" marL="0">
              <a:buNone/>
            </a:pPr>
            <a:r>
              <a:rPr lang="en-US" sz="1500" i="1" dirty="0">
                <a:solidFill>
                  <a:schemeClr val="bg2"/>
                </a:solidFill>
              </a:rPr>
              <a:t>Only an exact match against what the organisation registered can say "genuine". Every new check follows the same rule, and SIM-swap or lookalike signals only ever add a warning.</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Live: 90 seconds</a:t>
            </a:r>
            <a:endParaRPr lang="en-US" sz="3800" dirty="0"/>
          </a:p>
        </p:txBody>
      </p:sp>
      <p:sp>
        <p:nvSpPr>
          <p:cNvPr id="3"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600" dirty="0">
                <a:solidFill>
                  <a:schemeClr val="accent1"/>
                </a:solidFill>
              </a:rPr>
              <a:t>Simulated bank systems only: no live banking or production APIs</a:t>
            </a:r>
            <a:endParaRPr lang="en-US" sz="1600" dirty="0"/>
          </a:p>
        </p:txBody>
      </p:sp>
      <p:sp>
        <p:nvSpPr>
          <p:cNvPr id="4" name="Demo A"/>
          <p:cNvSpPr/>
          <p:nvPr/>
        </p:nvSpPr>
        <p:spPr>
          <a:xfrm>
            <a:off x="548640" y="1737360"/>
            <a:ext cx="3108960" cy="1280160"/>
          </a:xfrm>
          <a:prstGeom prst="roundRect">
            <a:avLst>
              <a:gd name="adj" fmla="val 10000"/>
            </a:avLst>
          </a:prstGeom>
          <a:solidFill>
            <a:schemeClr val="accent6"/>
          </a:solidFill>
          <a:ln/>
        </p:spPr>
      </p:sp>
      <p:sp>
        <p:nvSpPr>
          <p:cNvPr id="5" name="Text 3"/>
          <p:cNvSpPr txBox="1"/>
          <p:nvPr/>
        </p:nvSpPr>
        <p:spPr>
          <a:xfrm>
            <a:off x="777240" y="190195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A</a:t>
            </a:r>
            <a:endParaRPr lang="en-US" sz="2800" dirty="0"/>
          </a:p>
        </p:txBody>
      </p:sp>
      <p:sp>
        <p:nvSpPr>
          <p:cNvPr id="6" name="Text 4"/>
          <p:cNvSpPr txBox="1"/>
          <p:nvPr/>
        </p:nvSpPr>
        <p:spPr>
          <a:xfrm>
            <a:off x="1280160" y="1938528"/>
            <a:ext cx="2286000" cy="411480"/>
          </a:xfrm>
          <a:prstGeom prst="rect">
            <a:avLst/>
          </a:prstGeom>
          <a:noFill/>
          <a:ln/>
        </p:spPr>
        <p:txBody>
          <a:bodyPr wrap="square" lIns="0" tIns="0" rIns="0" bIns="0" rtlCol="0" anchor="t"/>
          <a:lstStyle/>
          <a:p>
            <a:pPr indent="0" marL="0">
              <a:buNone/>
            </a:pPr>
            <a:r>
              <a:rPr lang="en-US" sz="1600" b="1" dirty="0">
                <a:solidFill>
                  <a:schemeClr val="bg1"/>
                </a:solidFill>
              </a:rPr>
              <a:t>The real SMS</a:t>
            </a:r>
            <a:endParaRPr lang="en-US" sz="1600" dirty="0"/>
          </a:p>
        </p:txBody>
      </p:sp>
      <p:sp>
        <p:nvSpPr>
          <p:cNvPr id="7" name="Demo result A"/>
          <p:cNvSpPr/>
          <p:nvPr/>
        </p:nvSpPr>
        <p:spPr>
          <a:xfrm>
            <a:off x="1280160" y="2468880"/>
            <a:ext cx="2194560" cy="347472"/>
          </a:xfrm>
          <a:prstGeom prst="roundRect">
            <a:avLst>
              <a:gd name="adj" fmla="val 50000"/>
            </a:avLst>
          </a:prstGeom>
          <a:solidFill>
            <a:srgbClr val="19C37D"/>
          </a:solidFill>
          <a:ln/>
        </p:spPr>
      </p:sp>
      <p:sp>
        <p:nvSpPr>
          <p:cNvPr id="8" name="Text 6"/>
          <p:cNvSpPr txBox="1"/>
          <p:nvPr/>
        </p:nvSpPr>
        <p:spPr>
          <a:xfrm>
            <a:off x="1280160" y="246888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Sent by your bank</a:t>
            </a:r>
            <a:endParaRPr lang="en-US" sz="1200" dirty="0"/>
          </a:p>
        </p:txBody>
      </p:sp>
      <p:sp>
        <p:nvSpPr>
          <p:cNvPr id="9" name="Demo B"/>
          <p:cNvSpPr/>
          <p:nvPr/>
        </p:nvSpPr>
        <p:spPr>
          <a:xfrm>
            <a:off x="3794760" y="1737360"/>
            <a:ext cx="3108960" cy="1280160"/>
          </a:xfrm>
          <a:prstGeom prst="roundRect">
            <a:avLst>
              <a:gd name="adj" fmla="val 10000"/>
            </a:avLst>
          </a:prstGeom>
          <a:solidFill>
            <a:schemeClr val="accent6"/>
          </a:solidFill>
          <a:ln/>
        </p:spPr>
      </p:sp>
      <p:sp>
        <p:nvSpPr>
          <p:cNvPr id="10" name="Text 8"/>
          <p:cNvSpPr txBox="1"/>
          <p:nvPr/>
        </p:nvSpPr>
        <p:spPr>
          <a:xfrm>
            <a:off x="4023360" y="190195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B</a:t>
            </a:r>
            <a:endParaRPr lang="en-US" sz="2800" dirty="0"/>
          </a:p>
        </p:txBody>
      </p:sp>
      <p:sp>
        <p:nvSpPr>
          <p:cNvPr id="11" name="Text 9"/>
          <p:cNvSpPr txBox="1"/>
          <p:nvPr/>
        </p:nvSpPr>
        <p:spPr>
          <a:xfrm>
            <a:off x="4526280" y="1938528"/>
            <a:ext cx="2286000" cy="411480"/>
          </a:xfrm>
          <a:prstGeom prst="rect">
            <a:avLst/>
          </a:prstGeom>
          <a:noFill/>
          <a:ln/>
        </p:spPr>
        <p:txBody>
          <a:bodyPr wrap="square" lIns="0" tIns="0" rIns="0" bIns="0" rtlCol="0" anchor="t"/>
          <a:lstStyle/>
          <a:p>
            <a:pPr indent="0" marL="0">
              <a:buNone/>
            </a:pPr>
            <a:r>
              <a:rPr lang="en-US" sz="1600" b="1" dirty="0">
                <a:solidFill>
                  <a:schemeClr val="bg1"/>
                </a:solidFill>
              </a:rPr>
              <a:t>One character changed</a:t>
            </a:r>
            <a:endParaRPr lang="en-US" sz="1600" dirty="0"/>
          </a:p>
        </p:txBody>
      </p:sp>
      <p:sp>
        <p:nvSpPr>
          <p:cNvPr id="12" name="Demo result B"/>
          <p:cNvSpPr/>
          <p:nvPr/>
        </p:nvSpPr>
        <p:spPr>
          <a:xfrm>
            <a:off x="4526280" y="2468880"/>
            <a:ext cx="2194560" cy="347472"/>
          </a:xfrm>
          <a:prstGeom prst="roundRect">
            <a:avLst>
              <a:gd name="adj" fmla="val 50000"/>
            </a:avLst>
          </a:prstGeom>
          <a:solidFill>
            <a:srgbClr val="F5A524"/>
          </a:solidFill>
          <a:ln/>
        </p:spPr>
      </p:sp>
      <p:sp>
        <p:nvSpPr>
          <p:cNvPr id="13" name="Text 11"/>
          <p:cNvSpPr txBox="1"/>
          <p:nvPr/>
        </p:nvSpPr>
        <p:spPr>
          <a:xfrm>
            <a:off x="4526280" y="246888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Not confirmed</a:t>
            </a:r>
            <a:endParaRPr lang="en-US" sz="1200" dirty="0"/>
          </a:p>
        </p:txBody>
      </p:sp>
      <p:sp>
        <p:nvSpPr>
          <p:cNvPr id="14" name="Demo C"/>
          <p:cNvSpPr/>
          <p:nvPr/>
        </p:nvSpPr>
        <p:spPr>
          <a:xfrm>
            <a:off x="548640" y="3154680"/>
            <a:ext cx="3108960" cy="1280160"/>
          </a:xfrm>
          <a:prstGeom prst="roundRect">
            <a:avLst>
              <a:gd name="adj" fmla="val 10000"/>
            </a:avLst>
          </a:prstGeom>
          <a:solidFill>
            <a:schemeClr val="accent6"/>
          </a:solidFill>
          <a:ln/>
        </p:spPr>
      </p:sp>
      <p:sp>
        <p:nvSpPr>
          <p:cNvPr id="15" name="Text 13"/>
          <p:cNvSpPr txBox="1"/>
          <p:nvPr/>
        </p:nvSpPr>
        <p:spPr>
          <a:xfrm>
            <a:off x="777240" y="331927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C</a:t>
            </a:r>
            <a:endParaRPr lang="en-US" sz="2800" dirty="0"/>
          </a:p>
        </p:txBody>
      </p:sp>
      <p:sp>
        <p:nvSpPr>
          <p:cNvPr id="16" name="Text 14"/>
          <p:cNvSpPr txBox="1"/>
          <p:nvPr/>
        </p:nvSpPr>
        <p:spPr>
          <a:xfrm>
            <a:off x="1280160" y="3355848"/>
            <a:ext cx="2286000" cy="411480"/>
          </a:xfrm>
          <a:prstGeom prst="rect">
            <a:avLst/>
          </a:prstGeom>
          <a:noFill/>
          <a:ln/>
        </p:spPr>
        <p:txBody>
          <a:bodyPr wrap="square" lIns="0" tIns="0" rIns="0" bIns="0" rtlCol="0" anchor="t"/>
          <a:lstStyle/>
          <a:p>
            <a:pPr indent="0" marL="0">
              <a:buNone/>
            </a:pPr>
            <a:r>
              <a:rPr lang="en-US" sz="1600" b="1" dirty="0">
                <a:solidFill>
                  <a:schemeClr val="bg1"/>
                </a:solidFill>
              </a:rPr>
              <a:t>Same SMS, another phone</a:t>
            </a:r>
            <a:endParaRPr lang="en-US" sz="1600" dirty="0"/>
          </a:p>
        </p:txBody>
      </p:sp>
      <p:sp>
        <p:nvSpPr>
          <p:cNvPr id="17" name="Demo result C"/>
          <p:cNvSpPr/>
          <p:nvPr/>
        </p:nvSpPr>
        <p:spPr>
          <a:xfrm>
            <a:off x="1280160" y="3886200"/>
            <a:ext cx="2194560" cy="347472"/>
          </a:xfrm>
          <a:prstGeom prst="roundRect">
            <a:avLst>
              <a:gd name="adj" fmla="val 50000"/>
            </a:avLst>
          </a:prstGeom>
          <a:solidFill>
            <a:srgbClr val="F5A524"/>
          </a:solidFill>
          <a:ln/>
        </p:spPr>
      </p:sp>
      <p:sp>
        <p:nvSpPr>
          <p:cNvPr id="18" name="Text 16"/>
          <p:cNvSpPr txBox="1"/>
          <p:nvPr/>
        </p:nvSpPr>
        <p:spPr>
          <a:xfrm>
            <a:off x="1280160" y="388620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Not confirmed</a:t>
            </a:r>
            <a:endParaRPr lang="en-US" sz="1200" dirty="0"/>
          </a:p>
        </p:txBody>
      </p:sp>
      <p:sp>
        <p:nvSpPr>
          <p:cNvPr id="19" name="Demo D"/>
          <p:cNvSpPr/>
          <p:nvPr/>
        </p:nvSpPr>
        <p:spPr>
          <a:xfrm>
            <a:off x="3794760" y="3154680"/>
            <a:ext cx="3108960" cy="1280160"/>
          </a:xfrm>
          <a:prstGeom prst="roundRect">
            <a:avLst>
              <a:gd name="adj" fmla="val 10000"/>
            </a:avLst>
          </a:prstGeom>
          <a:solidFill>
            <a:schemeClr val="accent6"/>
          </a:solidFill>
          <a:ln/>
        </p:spPr>
      </p:sp>
      <p:sp>
        <p:nvSpPr>
          <p:cNvPr id="20" name="Text 18"/>
          <p:cNvSpPr txBox="1"/>
          <p:nvPr/>
        </p:nvSpPr>
        <p:spPr>
          <a:xfrm>
            <a:off x="4023360" y="331927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D</a:t>
            </a:r>
            <a:endParaRPr lang="en-US" sz="2800" dirty="0"/>
          </a:p>
        </p:txBody>
      </p:sp>
      <p:sp>
        <p:nvSpPr>
          <p:cNvPr id="21" name="Text 19"/>
          <p:cNvSpPr txBox="1"/>
          <p:nvPr/>
        </p:nvSpPr>
        <p:spPr>
          <a:xfrm>
            <a:off x="4526280" y="3355848"/>
            <a:ext cx="2286000" cy="411480"/>
          </a:xfrm>
          <a:prstGeom prst="rect">
            <a:avLst/>
          </a:prstGeom>
          <a:noFill/>
          <a:ln/>
        </p:spPr>
        <p:txBody>
          <a:bodyPr wrap="square" lIns="0" tIns="0" rIns="0" bIns="0" rtlCol="0" anchor="t"/>
          <a:lstStyle/>
          <a:p>
            <a:pPr indent="0" marL="0">
              <a:buNone/>
            </a:pPr>
            <a:r>
              <a:rPr lang="en-US" sz="1600" b="1" dirty="0">
                <a:solidFill>
                  <a:schemeClr val="bg1"/>
                </a:solidFill>
              </a:rPr>
              <a:t>The bank calls</a:t>
            </a:r>
            <a:endParaRPr lang="en-US" sz="1600" dirty="0"/>
          </a:p>
        </p:txBody>
      </p:sp>
      <p:sp>
        <p:nvSpPr>
          <p:cNvPr id="22" name="Demo result D"/>
          <p:cNvSpPr/>
          <p:nvPr/>
        </p:nvSpPr>
        <p:spPr>
          <a:xfrm>
            <a:off x="4526280" y="3886200"/>
            <a:ext cx="2194560" cy="347472"/>
          </a:xfrm>
          <a:prstGeom prst="roundRect">
            <a:avLst>
              <a:gd name="adj" fmla="val 50000"/>
            </a:avLst>
          </a:prstGeom>
          <a:solidFill>
            <a:srgbClr val="19C37D"/>
          </a:solidFill>
          <a:ln/>
        </p:spPr>
      </p:sp>
      <p:sp>
        <p:nvSpPr>
          <p:cNvPr id="23" name="Text 21"/>
          <p:cNvSpPr txBox="1"/>
          <p:nvPr/>
        </p:nvSpPr>
        <p:spPr>
          <a:xfrm>
            <a:off x="4526280" y="388620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Same 4-digit code</a:t>
            </a:r>
            <a:endParaRPr lang="en-US" sz="1200" dirty="0"/>
          </a:p>
        </p:txBody>
      </p:sp>
      <p:sp>
        <p:nvSpPr>
          <p:cNvPr id="24" name="Demo E"/>
          <p:cNvSpPr/>
          <p:nvPr/>
        </p:nvSpPr>
        <p:spPr>
          <a:xfrm>
            <a:off x="548640" y="4572000"/>
            <a:ext cx="3108960" cy="1280160"/>
          </a:xfrm>
          <a:prstGeom prst="roundRect">
            <a:avLst>
              <a:gd name="adj" fmla="val 10000"/>
            </a:avLst>
          </a:prstGeom>
          <a:solidFill>
            <a:schemeClr val="accent6"/>
          </a:solidFill>
          <a:ln/>
        </p:spPr>
      </p:sp>
      <p:sp>
        <p:nvSpPr>
          <p:cNvPr id="25" name="Text 23"/>
          <p:cNvSpPr txBox="1"/>
          <p:nvPr/>
        </p:nvSpPr>
        <p:spPr>
          <a:xfrm>
            <a:off x="777240" y="473659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E</a:t>
            </a:r>
            <a:endParaRPr lang="en-US" sz="2800" dirty="0"/>
          </a:p>
        </p:txBody>
      </p:sp>
      <p:sp>
        <p:nvSpPr>
          <p:cNvPr id="26" name="Text 24"/>
          <p:cNvSpPr txBox="1"/>
          <p:nvPr/>
        </p:nvSpPr>
        <p:spPr>
          <a:xfrm>
            <a:off x="1280160" y="4773168"/>
            <a:ext cx="2286000" cy="411480"/>
          </a:xfrm>
          <a:prstGeom prst="rect">
            <a:avLst/>
          </a:prstGeom>
          <a:noFill/>
          <a:ln/>
        </p:spPr>
        <p:txBody>
          <a:bodyPr wrap="square" lIns="0" tIns="0" rIns="0" bIns="0" rtlCol="0" anchor="t"/>
          <a:lstStyle/>
          <a:p>
            <a:pPr indent="0" marL="0">
              <a:buNone/>
            </a:pPr>
            <a:r>
              <a:rPr lang="en-US" sz="1600" b="1" dirty="0">
                <a:solidFill>
                  <a:schemeClr val="bg1"/>
                </a:solidFill>
              </a:rPr>
              <a:t>A basic feature phone</a:t>
            </a:r>
            <a:endParaRPr lang="en-US" sz="1600" dirty="0"/>
          </a:p>
        </p:txBody>
      </p:sp>
      <p:sp>
        <p:nvSpPr>
          <p:cNvPr id="27" name="Demo result E"/>
          <p:cNvSpPr/>
          <p:nvPr/>
        </p:nvSpPr>
        <p:spPr>
          <a:xfrm>
            <a:off x="1280160" y="5303520"/>
            <a:ext cx="2194560" cy="347472"/>
          </a:xfrm>
          <a:prstGeom prst="roundRect">
            <a:avLst>
              <a:gd name="adj" fmla="val 50000"/>
            </a:avLst>
          </a:prstGeom>
          <a:solidFill>
            <a:srgbClr val="19C37D"/>
          </a:solidFill>
          <a:ln/>
        </p:spPr>
      </p:sp>
      <p:sp>
        <p:nvSpPr>
          <p:cNvPr id="28" name="Text 26"/>
          <p:cNvSpPr txBox="1"/>
          <p:nvPr/>
        </p:nvSpPr>
        <p:spPr>
          <a:xfrm>
            <a:off x="1280160" y="530352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USSD: bank calling?</a:t>
            </a:r>
            <a:endParaRPr lang="en-US" sz="1200" dirty="0"/>
          </a:p>
        </p:txBody>
      </p:sp>
      <p:sp>
        <p:nvSpPr>
          <p:cNvPr id="29" name="Demo F"/>
          <p:cNvSpPr/>
          <p:nvPr/>
        </p:nvSpPr>
        <p:spPr>
          <a:xfrm>
            <a:off x="3794760" y="4572000"/>
            <a:ext cx="3108960" cy="1280160"/>
          </a:xfrm>
          <a:prstGeom prst="roundRect">
            <a:avLst>
              <a:gd name="adj" fmla="val 10000"/>
            </a:avLst>
          </a:prstGeom>
          <a:solidFill>
            <a:schemeClr val="accent6"/>
          </a:solidFill>
          <a:ln/>
        </p:spPr>
      </p:sp>
      <p:sp>
        <p:nvSpPr>
          <p:cNvPr id="30" name="Text 28"/>
          <p:cNvSpPr txBox="1"/>
          <p:nvPr/>
        </p:nvSpPr>
        <p:spPr>
          <a:xfrm>
            <a:off x="4023360" y="4736592"/>
            <a:ext cx="457200" cy="548640"/>
          </a:xfrm>
          <a:prstGeom prst="rect">
            <a:avLst/>
          </a:prstGeom>
          <a:noFill/>
          <a:ln/>
        </p:spPr>
        <p:txBody>
          <a:bodyPr wrap="square" lIns="0" tIns="0" rIns="0" bIns="0" rtlCol="0" anchor="t"/>
          <a:lstStyle/>
          <a:p>
            <a:pPr indent="0" marL="0">
              <a:buNone/>
            </a:pPr>
            <a:r>
              <a:rPr lang="en-US" sz="2800" b="1" dirty="0">
                <a:solidFill>
                  <a:schemeClr val="accent5"/>
                </a:solidFill>
              </a:rPr>
              <a:t>F</a:t>
            </a:r>
            <a:endParaRPr lang="en-US" sz="2800" dirty="0"/>
          </a:p>
        </p:txBody>
      </p:sp>
      <p:sp>
        <p:nvSpPr>
          <p:cNvPr id="31" name="Text 29"/>
          <p:cNvSpPr txBox="1"/>
          <p:nvPr/>
        </p:nvSpPr>
        <p:spPr>
          <a:xfrm>
            <a:off x="4526280" y="4773168"/>
            <a:ext cx="2286000" cy="411480"/>
          </a:xfrm>
          <a:prstGeom prst="rect">
            <a:avLst/>
          </a:prstGeom>
          <a:noFill/>
          <a:ln/>
        </p:spPr>
        <p:txBody>
          <a:bodyPr wrap="square" lIns="0" tIns="0" rIns="0" bIns="0" rtlCol="0" anchor="t"/>
          <a:lstStyle/>
          <a:p>
            <a:pPr indent="0" marL="0">
              <a:buNone/>
            </a:pPr>
            <a:r>
              <a:rPr lang="en-US" sz="1600" b="1" dirty="0">
                <a:solidFill>
                  <a:schemeClr val="bg1"/>
                </a:solidFill>
              </a:rPr>
              <a:t>Three scam reports</a:t>
            </a:r>
            <a:endParaRPr lang="en-US" sz="1600" dirty="0"/>
          </a:p>
        </p:txBody>
      </p:sp>
      <p:sp>
        <p:nvSpPr>
          <p:cNvPr id="32" name="Demo result F"/>
          <p:cNvSpPr/>
          <p:nvPr/>
        </p:nvSpPr>
        <p:spPr>
          <a:xfrm>
            <a:off x="4526280" y="5303520"/>
            <a:ext cx="2194560" cy="347472"/>
          </a:xfrm>
          <a:prstGeom prst="roundRect">
            <a:avLst>
              <a:gd name="adj" fmla="val 50000"/>
            </a:avLst>
          </a:prstGeom>
          <a:solidFill>
            <a:srgbClr val="4EA8DE"/>
          </a:solidFill>
          <a:ln/>
        </p:spPr>
      </p:sp>
      <p:sp>
        <p:nvSpPr>
          <p:cNvPr id="33" name="Text 31"/>
          <p:cNvSpPr txBox="1"/>
          <p:nvPr/>
        </p:nvSpPr>
        <p:spPr>
          <a:xfrm>
            <a:off x="4526280" y="5303520"/>
            <a:ext cx="2194560" cy="347472"/>
          </a:xfrm>
          <a:prstGeom prst="rect">
            <a:avLst/>
          </a:prstGeom>
          <a:noFill/>
          <a:ln/>
        </p:spPr>
        <p:txBody>
          <a:bodyPr wrap="square" lIns="0" tIns="0" rIns="0" bIns="0" rtlCol="0" anchor="ctr"/>
          <a:lstStyle/>
          <a:p>
            <a:pPr algn="ctr" indent="0" marL="0">
              <a:buNone/>
            </a:pPr>
            <a:r>
              <a:rPr lang="en-US" sz="1200" b="1" dirty="0">
                <a:solidFill>
                  <a:schemeClr val="tx1"/>
                </a:solidFill>
              </a:rPr>
              <a:t>Campaign + approved warning</a:t>
            </a:r>
            <a:endParaRPr lang="en-US" sz="1200" dirty="0"/>
          </a:p>
        </p:txBody>
      </p:sp>
      <p:pic>
        <p:nvPicPr>
          <p:cNvPr id="34" name="Console screenshot" descr="Bank sandbox console: Messages screen with a simulated phone">    </p:cNvPr>
          <p:cNvPicPr>
            <a:picLocks noChangeAspect="1"/>
          </p:cNvPicPr>
          <p:nvPr/>
        </p:nvPicPr>
        <p:blipFill>
          <a:blip r:embed="rId1"/>
          <a:stretch>
            <a:fillRect/>
          </a:stretch>
        </p:blipFill>
        <p:spPr>
          <a:xfrm>
            <a:off x="7178040" y="1737360"/>
            <a:ext cx="4434840" cy="2770632"/>
          </a:xfrm>
          <a:prstGeom prst="rect">
            <a:avLst/>
          </a:prstGeom>
        </p:spPr>
      </p:pic>
      <p:sp>
        <p:nvSpPr>
          <p:cNvPr id="35" name="Text 32"/>
          <p:cNvSpPr txBox="1"/>
          <p:nvPr/>
        </p:nvSpPr>
        <p:spPr>
          <a:xfrm>
            <a:off x="7178040" y="4617720"/>
            <a:ext cx="4434840" cy="685800"/>
          </a:xfrm>
          <a:prstGeom prst="rect">
            <a:avLst/>
          </a:prstGeom>
          <a:noFill/>
          <a:ln/>
        </p:spPr>
        <p:txBody>
          <a:bodyPr wrap="square" lIns="0" tIns="0" rIns="0" bIns="0" rtlCol="0" anchor="t"/>
          <a:lstStyle/>
          <a:p>
            <a:pPr indent="0" marL="0">
              <a:buNone/>
            </a:pPr>
            <a:r>
              <a:rPr lang="en-US" sz="1400" dirty="0">
                <a:solidFill>
                  <a:schemeClr val="bg2"/>
                </a:solidFill>
              </a:rPr>
              <a:t>The bank sandbox console plays the bank: it sends messages, places calls and runs the fraud desk.</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AI explains. It never decides.</a:t>
            </a:r>
            <a:endParaRPr lang="en-US" sz="3800" dirty="0"/>
          </a:p>
        </p:txBody>
      </p:sp>
      <p:pic>
        <p:nvPicPr>
          <p:cNvPr id="3" name="Phone notconf" descr="App screen: Not confirmed, with the explanation below the verdict">    </p:cNvPr>
          <p:cNvPicPr>
            <a:picLocks noChangeAspect="1"/>
          </p:cNvPicPr>
          <p:nvPr/>
        </p:nvPicPr>
        <p:blipFill>
          <a:blip r:embed="rId1"/>
          <a:stretch>
            <a:fillRect/>
          </a:stretch>
        </p:blipFill>
        <p:spPr>
          <a:xfrm>
            <a:off x="548640" y="1371600"/>
            <a:ext cx="2085093" cy="4389120"/>
          </a:xfrm>
          <a:prstGeom prst="rect">
            <a:avLst/>
          </a:prstGeom>
        </p:spPr>
      </p:pic>
      <p:sp>
        <p:nvSpPr>
          <p:cNvPr id="4" name="Text 1"/>
          <p:cNvSpPr txBox="1"/>
          <p:nvPr/>
        </p:nvSpPr>
        <p:spPr>
          <a:xfrm>
            <a:off x="2834640" y="1508760"/>
            <a:ext cx="1828800" cy="1280160"/>
          </a:xfrm>
          <a:prstGeom prst="rect">
            <a:avLst/>
          </a:prstGeom>
          <a:noFill/>
          <a:ln/>
        </p:spPr>
        <p:txBody>
          <a:bodyPr wrap="square" lIns="0" tIns="0" rIns="0" bIns="0" rtlCol="0" anchor="t"/>
          <a:lstStyle/>
          <a:p>
            <a:pPr indent="0" marL="0">
              <a:buNone/>
            </a:pPr>
            <a:r>
              <a:rPr lang="en-US" sz="2200" b="1" dirty="0">
                <a:solidFill>
                  <a:schemeClr val="accent1"/>
                </a:solidFill>
              </a:rPr>
              <a:t>The verdict comes first.</a:t>
            </a:r>
            <a:endParaRPr lang="en-US" sz="2200" dirty="0"/>
          </a:p>
        </p:txBody>
      </p:sp>
      <p:sp>
        <p:nvSpPr>
          <p:cNvPr id="5" name="Text 2"/>
          <p:cNvSpPr txBox="1"/>
          <p:nvPr/>
        </p:nvSpPr>
        <p:spPr>
          <a:xfrm>
            <a:off x="2834640" y="2834640"/>
            <a:ext cx="1828800" cy="1463040"/>
          </a:xfrm>
          <a:prstGeom prst="rect">
            <a:avLst/>
          </a:prstGeom>
          <a:noFill/>
          <a:ln/>
        </p:spPr>
        <p:txBody>
          <a:bodyPr wrap="square" lIns="0" tIns="0" rIns="0" bIns="0" rtlCol="0" anchor="t"/>
          <a:lstStyle/>
          <a:p>
            <a:pPr indent="0" marL="0">
              <a:buNone/>
            </a:pPr>
            <a:r>
              <a:rPr lang="en-US" sz="1500" dirty="0">
                <a:solidFill>
                  <a:schemeClr val="bg2"/>
                </a:solidFill>
              </a:rPr>
              <a:t>AI explains underneath. Nothing it says can change the answer.</a:t>
            </a:r>
            <a:endParaRPr lang="en-US" sz="1500" dirty="0"/>
          </a:p>
        </p:txBody>
      </p:sp>
      <p:sp>
        <p:nvSpPr>
          <p:cNvPr id="6" name="Text 3"/>
          <p:cNvSpPr txBox="1"/>
          <p:nvPr/>
        </p:nvSpPr>
        <p:spPr>
          <a:xfrm>
            <a:off x="2834640" y="4389120"/>
            <a:ext cx="1828800" cy="1280160"/>
          </a:xfrm>
          <a:prstGeom prst="rect">
            <a:avLst/>
          </a:prstGeom>
          <a:noFill/>
          <a:ln/>
        </p:spPr>
        <p:txBody>
          <a:bodyPr wrap="square" lIns="0" tIns="0" rIns="0" bIns="0" rtlCol="0" anchor="t"/>
          <a:lstStyle/>
          <a:p>
            <a:pPr indent="0" marL="0">
              <a:buNone/>
            </a:pPr>
            <a:r>
              <a:rPr lang="en-US" sz="1300" i="1" dirty="0">
                <a:solidFill>
                  <a:schemeClr val="accent5"/>
                </a:solidFill>
              </a:rPr>
              <a:t>Gemini, OpenAI, open-weights models inside the bank, or no AI at all.</a:t>
            </a:r>
            <a:endParaRPr lang="en-US" sz="1300" dirty="0"/>
          </a:p>
        </p:txBody>
      </p:sp>
      <p:sp>
        <p:nvSpPr>
          <p:cNvPr id="7" name="AI 1 circle"/>
          <p:cNvSpPr/>
          <p:nvPr/>
        </p:nvSpPr>
        <p:spPr>
          <a:xfrm>
            <a:off x="4937760" y="1508760"/>
            <a:ext cx="822960" cy="822960"/>
          </a:xfrm>
          <a:prstGeom prst="ellipse">
            <a:avLst/>
          </a:prstGeom>
          <a:solidFill>
            <a:srgbClr val="1E2823"/>
          </a:solidFill>
          <a:ln/>
        </p:spPr>
      </p:sp>
      <p:pic>
        <p:nvPicPr>
          <p:cNvPr id="8" name="AI 1 icon" descr="preencoded.png">    </p:cNvPr>
          <p:cNvPicPr>
            <a:picLocks noChangeAspect="1"/>
          </p:cNvPicPr>
          <p:nvPr/>
        </p:nvPicPr>
        <p:blipFill>
          <a:blip r:embed="rId2"/>
          <a:stretch>
            <a:fillRect/>
          </a:stretch>
        </p:blipFill>
        <p:spPr>
          <a:xfrm>
            <a:off x="5151730" y="1722730"/>
            <a:ext cx="395021" cy="395021"/>
          </a:xfrm>
          <a:prstGeom prst="rect">
            <a:avLst/>
          </a:prstGeom>
        </p:spPr>
      </p:pic>
      <p:sp>
        <p:nvSpPr>
          <p:cNvPr id="9" name="Text 5"/>
          <p:cNvSpPr txBox="1"/>
          <p:nvPr/>
        </p:nvSpPr>
        <p:spPr>
          <a:xfrm>
            <a:off x="5989320" y="1481328"/>
            <a:ext cx="5669280" cy="411480"/>
          </a:xfrm>
          <a:prstGeom prst="rect">
            <a:avLst/>
          </a:prstGeom>
          <a:noFill/>
          <a:ln/>
        </p:spPr>
        <p:txBody>
          <a:bodyPr wrap="square" lIns="0" tIns="0" rIns="0" bIns="0" rtlCol="0" anchor="t"/>
          <a:lstStyle/>
          <a:p>
            <a:pPr indent="0" marL="0">
              <a:buNone/>
            </a:pPr>
            <a:r>
              <a:rPr lang="en-US" sz="2000" b="1" dirty="0">
                <a:solidFill>
                  <a:schemeClr val="bg1"/>
                </a:solidFill>
              </a:rPr>
              <a:t>Your screenshot stays on your phone</a:t>
            </a:r>
            <a:endParaRPr lang="en-US" sz="2000" dirty="0"/>
          </a:p>
        </p:txBody>
      </p:sp>
      <p:sp>
        <p:nvSpPr>
          <p:cNvPr id="10" name="Text 6"/>
          <p:cNvSpPr txBox="1"/>
          <p:nvPr/>
        </p:nvSpPr>
        <p:spPr>
          <a:xfrm>
            <a:off x="5989320" y="1920240"/>
            <a:ext cx="5669280" cy="457200"/>
          </a:xfrm>
          <a:prstGeom prst="rect">
            <a:avLst/>
          </a:prstGeom>
          <a:noFill/>
          <a:ln/>
        </p:spPr>
        <p:txBody>
          <a:bodyPr wrap="square" lIns="0" tIns="0" rIns="0" bIns="0" rtlCol="0" anchor="t"/>
          <a:lstStyle/>
          <a:p>
            <a:pPr indent="0" marL="0">
              <a:buNone/>
            </a:pPr>
            <a:r>
              <a:rPr lang="en-US" sz="1500" dirty="0">
                <a:solidFill>
                  <a:schemeClr val="bg2"/>
                </a:solidFill>
              </a:rPr>
              <a:t>Read on the device; only fingerprints are sent</a:t>
            </a:r>
            <a:endParaRPr lang="en-US" sz="1500" dirty="0"/>
          </a:p>
        </p:txBody>
      </p:sp>
      <p:sp>
        <p:nvSpPr>
          <p:cNvPr id="11" name="AI 2 circle"/>
          <p:cNvSpPr/>
          <p:nvPr/>
        </p:nvSpPr>
        <p:spPr>
          <a:xfrm>
            <a:off x="4937760" y="2606040"/>
            <a:ext cx="822960" cy="822960"/>
          </a:xfrm>
          <a:prstGeom prst="ellipse">
            <a:avLst/>
          </a:prstGeom>
          <a:solidFill>
            <a:srgbClr val="1E2823"/>
          </a:solidFill>
          <a:ln/>
        </p:spPr>
      </p:sp>
      <p:pic>
        <p:nvPicPr>
          <p:cNvPr id="12" name="AI 2 icon" descr="preencoded.png">    </p:cNvPr>
          <p:cNvPicPr>
            <a:picLocks noChangeAspect="1"/>
          </p:cNvPicPr>
          <p:nvPr/>
        </p:nvPicPr>
        <p:blipFill>
          <a:blip r:embed="rId3"/>
          <a:stretch>
            <a:fillRect/>
          </a:stretch>
        </p:blipFill>
        <p:spPr>
          <a:xfrm>
            <a:off x="5151730" y="2820010"/>
            <a:ext cx="395021" cy="395021"/>
          </a:xfrm>
          <a:prstGeom prst="rect">
            <a:avLst/>
          </a:prstGeom>
        </p:spPr>
      </p:pic>
      <p:sp>
        <p:nvSpPr>
          <p:cNvPr id="13" name="Text 8"/>
          <p:cNvSpPr txBox="1"/>
          <p:nvPr/>
        </p:nvSpPr>
        <p:spPr>
          <a:xfrm>
            <a:off x="5989320" y="2578608"/>
            <a:ext cx="5669280" cy="411480"/>
          </a:xfrm>
          <a:prstGeom prst="rect">
            <a:avLst/>
          </a:prstGeom>
          <a:noFill/>
          <a:ln/>
        </p:spPr>
        <p:txBody>
          <a:bodyPr wrap="square" lIns="0" tIns="0" rIns="0" bIns="0" rtlCol="0" anchor="t"/>
          <a:lstStyle/>
          <a:p>
            <a:pPr indent="0" marL="0">
              <a:buNone/>
            </a:pPr>
            <a:r>
              <a:rPr lang="en-US" sz="2000" b="1" dirty="0">
                <a:solidFill>
                  <a:schemeClr val="bg1"/>
                </a:solidFill>
              </a:rPr>
              <a:t>It cannot say "genuine"</a:t>
            </a:r>
            <a:endParaRPr lang="en-US" sz="2000" dirty="0"/>
          </a:p>
        </p:txBody>
      </p:sp>
      <p:sp>
        <p:nvSpPr>
          <p:cNvPr id="14" name="Text 9"/>
          <p:cNvSpPr txBox="1"/>
          <p:nvPr/>
        </p:nvSpPr>
        <p:spPr>
          <a:xfrm>
            <a:off x="5989320" y="3017520"/>
            <a:ext cx="5669280" cy="457200"/>
          </a:xfrm>
          <a:prstGeom prst="rect">
            <a:avLst/>
          </a:prstGeom>
          <a:noFill/>
          <a:ln/>
        </p:spPr>
        <p:txBody>
          <a:bodyPr wrap="square" lIns="0" tIns="0" rIns="0" bIns="0" rtlCol="0" anchor="t"/>
          <a:lstStyle/>
          <a:p>
            <a:pPr indent="0" marL="0">
              <a:buNone/>
            </a:pPr>
            <a:r>
              <a:rPr lang="en-US" sz="1500" dirty="0">
                <a:solidFill>
                  <a:schemeClr val="bg2"/>
                </a:solidFill>
              </a:rPr>
              <a:t>Any model text claiming a message is safe or verified is replaced</a:t>
            </a:r>
            <a:endParaRPr lang="en-US" sz="1500" dirty="0"/>
          </a:p>
        </p:txBody>
      </p:sp>
      <p:sp>
        <p:nvSpPr>
          <p:cNvPr id="15" name="AI 3 circle"/>
          <p:cNvSpPr/>
          <p:nvPr/>
        </p:nvSpPr>
        <p:spPr>
          <a:xfrm>
            <a:off x="4937760" y="3703320"/>
            <a:ext cx="822960" cy="822960"/>
          </a:xfrm>
          <a:prstGeom prst="ellipse">
            <a:avLst/>
          </a:prstGeom>
          <a:solidFill>
            <a:srgbClr val="1E2823"/>
          </a:solidFill>
          <a:ln/>
        </p:spPr>
      </p:sp>
      <p:pic>
        <p:nvPicPr>
          <p:cNvPr id="16" name="AI 3 icon" descr="preencoded.png">    </p:cNvPr>
          <p:cNvPicPr>
            <a:picLocks noChangeAspect="1"/>
          </p:cNvPicPr>
          <p:nvPr/>
        </p:nvPicPr>
        <p:blipFill>
          <a:blip r:embed="rId4"/>
          <a:stretch>
            <a:fillRect/>
          </a:stretch>
        </p:blipFill>
        <p:spPr>
          <a:xfrm>
            <a:off x="5151730" y="3917290"/>
            <a:ext cx="395021" cy="395021"/>
          </a:xfrm>
          <a:prstGeom prst="rect">
            <a:avLst/>
          </a:prstGeom>
        </p:spPr>
      </p:pic>
      <p:sp>
        <p:nvSpPr>
          <p:cNvPr id="17" name="Text 11"/>
          <p:cNvSpPr txBox="1"/>
          <p:nvPr/>
        </p:nvSpPr>
        <p:spPr>
          <a:xfrm>
            <a:off x="5989320" y="3675888"/>
            <a:ext cx="5669280" cy="411480"/>
          </a:xfrm>
          <a:prstGeom prst="rect">
            <a:avLst/>
          </a:prstGeom>
          <a:noFill/>
          <a:ln/>
        </p:spPr>
        <p:txBody>
          <a:bodyPr wrap="square" lIns="0" tIns="0" rIns="0" bIns="0" rtlCol="0" anchor="t"/>
          <a:lstStyle/>
          <a:p>
            <a:pPr indent="0" marL="0">
              <a:buNone/>
            </a:pPr>
            <a:r>
              <a:rPr lang="en-US" sz="2000" b="1" dirty="0">
                <a:solidFill>
                  <a:schemeClr val="bg1"/>
                </a:solidFill>
              </a:rPr>
              <a:t>It flags the wrong sender</a:t>
            </a:r>
            <a:endParaRPr lang="en-US" sz="2000" dirty="0"/>
          </a:p>
        </p:txBody>
      </p:sp>
      <p:sp>
        <p:nvSpPr>
          <p:cNvPr id="18" name="Text 12"/>
          <p:cNvSpPr txBox="1"/>
          <p:nvPr/>
        </p:nvSpPr>
        <p:spPr>
          <a:xfrm>
            <a:off x="5989320" y="4114800"/>
            <a:ext cx="5669280" cy="457200"/>
          </a:xfrm>
          <a:prstGeom prst="rect">
            <a:avLst/>
          </a:prstGeom>
          <a:noFill/>
          <a:ln/>
        </p:spPr>
        <p:txBody>
          <a:bodyPr wrap="square" lIns="0" tIns="0" rIns="0" bIns="0" rtlCol="0" anchor="t"/>
          <a:lstStyle/>
          <a:p>
            <a:pPr indent="0" marL="0">
              <a:buNone/>
            </a:pPr>
            <a:r>
              <a:rPr lang="en-US" sz="1500" dirty="0">
                <a:solidFill>
                  <a:schemeClr val="bg2"/>
                </a:solidFill>
              </a:rPr>
              <a:t>A sender the bank never uses gets a warning</a:t>
            </a:r>
            <a:endParaRPr lang="en-US" sz="1500" dirty="0"/>
          </a:p>
        </p:txBody>
      </p:sp>
      <p:sp>
        <p:nvSpPr>
          <p:cNvPr id="19" name="AI 4 circle"/>
          <p:cNvSpPr/>
          <p:nvPr/>
        </p:nvSpPr>
        <p:spPr>
          <a:xfrm>
            <a:off x="4937760" y="4800600"/>
            <a:ext cx="822960" cy="822960"/>
          </a:xfrm>
          <a:prstGeom prst="ellipse">
            <a:avLst/>
          </a:prstGeom>
          <a:solidFill>
            <a:srgbClr val="1E2823"/>
          </a:solidFill>
          <a:ln/>
        </p:spPr>
      </p:sp>
      <p:pic>
        <p:nvPicPr>
          <p:cNvPr id="20" name="AI 4 icon" descr="preencoded.png">    </p:cNvPr>
          <p:cNvPicPr>
            <a:picLocks noChangeAspect="1"/>
          </p:cNvPicPr>
          <p:nvPr/>
        </p:nvPicPr>
        <p:blipFill>
          <a:blip r:embed="rId5"/>
          <a:stretch>
            <a:fillRect/>
          </a:stretch>
        </p:blipFill>
        <p:spPr>
          <a:xfrm>
            <a:off x="5151730" y="5014570"/>
            <a:ext cx="395021" cy="395021"/>
          </a:xfrm>
          <a:prstGeom prst="rect">
            <a:avLst/>
          </a:prstGeom>
        </p:spPr>
      </p:pic>
      <p:sp>
        <p:nvSpPr>
          <p:cNvPr id="21" name="Text 14"/>
          <p:cNvSpPr txBox="1"/>
          <p:nvPr/>
        </p:nvSpPr>
        <p:spPr>
          <a:xfrm>
            <a:off x="5989320" y="4773168"/>
            <a:ext cx="5669280" cy="411480"/>
          </a:xfrm>
          <a:prstGeom prst="rect">
            <a:avLst/>
          </a:prstGeom>
          <a:noFill/>
          <a:ln/>
        </p:spPr>
        <p:txBody>
          <a:bodyPr wrap="square" lIns="0" tIns="0" rIns="0" bIns="0" rtlCol="0" anchor="t"/>
          <a:lstStyle/>
          <a:p>
            <a:pPr indent="0" marL="0">
              <a:buNone/>
            </a:pPr>
            <a:r>
              <a:rPr lang="en-US" sz="2000" b="1" dirty="0">
                <a:solidFill>
                  <a:schemeClr val="bg1"/>
                </a:solidFill>
              </a:rPr>
              <a:t>It briefs the fraud desk</a:t>
            </a:r>
            <a:endParaRPr lang="en-US" sz="2000" dirty="0"/>
          </a:p>
        </p:txBody>
      </p:sp>
      <p:sp>
        <p:nvSpPr>
          <p:cNvPr id="22" name="Text 15"/>
          <p:cNvSpPr txBox="1"/>
          <p:nvPr/>
        </p:nvSpPr>
        <p:spPr>
          <a:xfrm>
            <a:off x="5989320" y="5212080"/>
            <a:ext cx="5669280" cy="457200"/>
          </a:xfrm>
          <a:prstGeom prst="rect">
            <a:avLst/>
          </a:prstGeom>
          <a:noFill/>
          <a:ln/>
        </p:spPr>
        <p:txBody>
          <a:bodyPr wrap="square" lIns="0" tIns="0" rIns="0" bIns="0" rtlCol="0" anchor="t"/>
          <a:lstStyle/>
          <a:p>
            <a:pPr indent="0" marL="0">
              <a:buNone/>
            </a:pPr>
            <a:r>
              <a:rPr lang="en-US" sz="1500" dirty="0">
                <a:solidFill>
                  <a:schemeClr val="bg2"/>
                </a:solidFill>
              </a:rPr>
              <a:t>Reports become campaigns; a human approves every warning</a:t>
            </a:r>
            <a:endParaRPr lang="en-US" sz="15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No smartphone. No data. Still protected.</a:t>
            </a:r>
            <a:endParaRPr lang="en-US" sz="3800" dirty="0"/>
          </a:p>
        </p:txBody>
      </p:sp>
      <p:sp>
        <p:nvSpPr>
          <p:cNvPr id="3" name="Text 1"/>
          <p:cNvSpPr txBox="1"/>
          <p:nvPr/>
        </p:nvSpPr>
        <p:spPr>
          <a:xfrm>
            <a:off x="548640" y="141732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93%</a:t>
            </a:r>
            <a:endParaRPr lang="en-US" sz="5400" dirty="0"/>
          </a:p>
        </p:txBody>
      </p:sp>
      <p:sp>
        <p:nvSpPr>
          <p:cNvPr id="4" name="Text 2"/>
          <p:cNvSpPr txBox="1"/>
          <p:nvPr/>
        </p:nvSpPr>
        <p:spPr>
          <a:xfrm>
            <a:off x="548640" y="2331720"/>
            <a:ext cx="3383280" cy="548640"/>
          </a:xfrm>
          <a:prstGeom prst="rect">
            <a:avLst/>
          </a:prstGeom>
          <a:noFill/>
          <a:ln/>
        </p:spPr>
        <p:txBody>
          <a:bodyPr wrap="square" lIns="0" tIns="0" rIns="0" bIns="0" rtlCol="0" anchor="t"/>
          <a:lstStyle/>
          <a:p>
            <a:pPr indent="0" marL="0">
              <a:buNone/>
            </a:pPr>
            <a:r>
              <a:rPr lang="en-US" sz="1600" dirty="0">
                <a:solidFill>
                  <a:schemeClr val="bg2"/>
                </a:solidFill>
              </a:rPr>
              <a:t>of Nigerian adults use a mobile phone [S7]</a:t>
            </a:r>
            <a:endParaRPr lang="en-US" sz="1600" dirty="0"/>
          </a:p>
        </p:txBody>
      </p:sp>
      <p:sp>
        <p:nvSpPr>
          <p:cNvPr id="5" name="Text 3"/>
          <p:cNvSpPr txBox="1"/>
          <p:nvPr/>
        </p:nvSpPr>
        <p:spPr>
          <a:xfrm>
            <a:off x="4297680" y="141732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1 in 3+</a:t>
            </a:r>
            <a:endParaRPr lang="en-US" sz="5400" dirty="0"/>
          </a:p>
        </p:txBody>
      </p:sp>
      <p:sp>
        <p:nvSpPr>
          <p:cNvPr id="6" name="Text 4"/>
          <p:cNvSpPr txBox="1"/>
          <p:nvPr/>
        </p:nvSpPr>
        <p:spPr>
          <a:xfrm>
            <a:off x="4297680" y="2331720"/>
            <a:ext cx="3383280" cy="548640"/>
          </a:xfrm>
          <a:prstGeom prst="rect">
            <a:avLst/>
          </a:prstGeom>
          <a:noFill/>
          <a:ln/>
        </p:spPr>
        <p:txBody>
          <a:bodyPr wrap="square" lIns="0" tIns="0" rIns="0" bIns="0" rtlCol="0" anchor="t"/>
          <a:lstStyle/>
          <a:p>
            <a:pPr indent="0" marL="0">
              <a:buNone/>
            </a:pPr>
            <a:r>
              <a:rPr lang="en-US" sz="1600" dirty="0">
                <a:solidFill>
                  <a:schemeClr val="bg2"/>
                </a:solidFill>
              </a:rPr>
              <a:t>subscribers still on 2G in May 2026 [S6]</a:t>
            </a:r>
            <a:endParaRPr lang="en-US" sz="1600" dirty="0"/>
          </a:p>
        </p:txBody>
      </p:sp>
      <p:sp>
        <p:nvSpPr>
          <p:cNvPr id="7" name="Text 5"/>
          <p:cNvSpPr txBox="1"/>
          <p:nvPr/>
        </p:nvSpPr>
        <p:spPr>
          <a:xfrm>
            <a:off x="8046720" y="1417320"/>
            <a:ext cx="3566160" cy="914400"/>
          </a:xfrm>
          <a:prstGeom prst="rect">
            <a:avLst/>
          </a:prstGeom>
          <a:noFill/>
          <a:ln/>
        </p:spPr>
        <p:txBody>
          <a:bodyPr wrap="square" lIns="0" tIns="0" rIns="0" bIns="0" rtlCol="0" anchor="t"/>
          <a:lstStyle/>
          <a:p>
            <a:pPr indent="0" marL="0">
              <a:buNone/>
            </a:pPr>
            <a:r>
              <a:rPr lang="en-US" sz="5400" b="1" dirty="0">
                <a:solidFill>
                  <a:schemeClr val="accent1"/>
                </a:solidFill>
                <a:latin typeface="Arial" pitchFamily="34" charset="0"/>
                <a:ea typeface="Arial" pitchFamily="34" charset="-122"/>
                <a:cs typeface="Arial" pitchFamily="34" charset="-120"/>
              </a:rPr>
              <a:t>~40m</a:t>
            </a:r>
            <a:endParaRPr lang="en-US" sz="5400" dirty="0"/>
          </a:p>
        </p:txBody>
      </p:sp>
      <p:sp>
        <p:nvSpPr>
          <p:cNvPr id="8" name="Text 6"/>
          <p:cNvSpPr txBox="1"/>
          <p:nvPr/>
        </p:nvSpPr>
        <p:spPr>
          <a:xfrm>
            <a:off x="8046720" y="2331720"/>
            <a:ext cx="3383280" cy="548640"/>
          </a:xfrm>
          <a:prstGeom prst="rect">
            <a:avLst/>
          </a:prstGeom>
          <a:noFill/>
          <a:ln/>
        </p:spPr>
        <p:txBody>
          <a:bodyPr wrap="square" lIns="0" tIns="0" rIns="0" bIns="0" rtlCol="0" anchor="t"/>
          <a:lstStyle/>
          <a:p>
            <a:pPr indent="0" marL="0">
              <a:buNone/>
            </a:pPr>
            <a:r>
              <a:rPr lang="en-US" sz="1600" dirty="0">
                <a:solidFill>
                  <a:schemeClr val="bg2"/>
                </a:solidFill>
              </a:rPr>
              <a:t>adults financially excluded [S7]</a:t>
            </a:r>
            <a:endParaRPr lang="en-US" sz="1600" dirty="0"/>
          </a:p>
        </p:txBody>
      </p:sp>
      <p:sp>
        <p:nvSpPr>
          <p:cNvPr id="9" name="Channel 1"/>
          <p:cNvSpPr/>
          <p:nvPr/>
        </p:nvSpPr>
        <p:spPr>
          <a:xfrm>
            <a:off x="548640" y="3200400"/>
            <a:ext cx="2103120" cy="2514600"/>
          </a:xfrm>
          <a:prstGeom prst="roundRect">
            <a:avLst>
              <a:gd name="adj" fmla="val 6087"/>
            </a:avLst>
          </a:prstGeom>
          <a:solidFill>
            <a:schemeClr val="accent6"/>
          </a:solidFill>
          <a:ln/>
        </p:spPr>
      </p:sp>
      <p:sp>
        <p:nvSpPr>
          <p:cNvPr id="10" name="Channel 1 circle"/>
          <p:cNvSpPr/>
          <p:nvPr/>
        </p:nvSpPr>
        <p:spPr>
          <a:xfrm>
            <a:off x="1188720" y="3383280"/>
            <a:ext cx="822960" cy="822960"/>
          </a:xfrm>
          <a:prstGeom prst="ellipse">
            <a:avLst/>
          </a:prstGeom>
          <a:solidFill>
            <a:srgbClr val="19C37D"/>
          </a:solidFill>
          <a:ln/>
        </p:spPr>
      </p:sp>
      <p:pic>
        <p:nvPicPr>
          <p:cNvPr id="11" name="Channel 1 icon" descr="preencoded.png">    </p:cNvPr>
          <p:cNvPicPr>
            <a:picLocks noChangeAspect="1"/>
          </p:cNvPicPr>
          <p:nvPr/>
        </p:nvPicPr>
        <p:blipFill>
          <a:blip r:embed="rId1"/>
          <a:stretch>
            <a:fillRect/>
          </a:stretch>
        </p:blipFill>
        <p:spPr>
          <a:xfrm>
            <a:off x="1402690" y="3597250"/>
            <a:ext cx="395021" cy="395021"/>
          </a:xfrm>
          <a:prstGeom prst="rect">
            <a:avLst/>
          </a:prstGeom>
        </p:spPr>
      </p:pic>
      <p:sp>
        <p:nvSpPr>
          <p:cNvPr id="12" name="Text 9"/>
          <p:cNvSpPr txBox="1"/>
          <p:nvPr/>
        </p:nvSpPr>
        <p:spPr>
          <a:xfrm>
            <a:off x="640080" y="4343400"/>
            <a:ext cx="1920240" cy="411480"/>
          </a:xfrm>
          <a:prstGeom prst="rect">
            <a:avLst/>
          </a:prstGeom>
          <a:noFill/>
          <a:ln/>
        </p:spPr>
        <p:txBody>
          <a:bodyPr wrap="square" lIns="0" tIns="0" rIns="0" bIns="0" rtlCol="0" anchor="t"/>
          <a:lstStyle/>
          <a:p>
            <a:pPr algn="ctr" indent="0" marL="0">
              <a:buNone/>
            </a:pPr>
            <a:r>
              <a:rPr lang="en-US" sz="1800" b="1" dirty="0">
                <a:solidFill>
                  <a:schemeClr val="bg1"/>
                </a:solidFill>
              </a:rPr>
              <a:t>USSD</a:t>
            </a:r>
            <a:endParaRPr lang="en-US" sz="1800" dirty="0"/>
          </a:p>
        </p:txBody>
      </p:sp>
      <p:sp>
        <p:nvSpPr>
          <p:cNvPr id="13" name="Text 10"/>
          <p:cNvSpPr txBox="1"/>
          <p:nvPr/>
        </p:nvSpPr>
        <p:spPr>
          <a:xfrm>
            <a:off x="640080" y="4754880"/>
            <a:ext cx="1920240" cy="822960"/>
          </a:xfrm>
          <a:prstGeom prst="rect">
            <a:avLst/>
          </a:prstGeom>
          <a:noFill/>
          <a:ln/>
        </p:spPr>
        <p:txBody>
          <a:bodyPr wrap="square" lIns="0" tIns="0" rIns="0" bIns="0" rtlCol="0" anchor="t"/>
          <a:lstStyle/>
          <a:p>
            <a:pPr algn="ctr" indent="0" marL="0">
              <a:buNone/>
            </a:pPr>
            <a:r>
              <a:rPr lang="en-US" sz="1400" dirty="0">
                <a:solidFill>
                  <a:schemeClr val="bg2"/>
                </a:solidFill>
              </a:rPr>
              <a:t>Any phone, no data</a:t>
            </a:r>
            <a:endParaRPr lang="en-US" sz="1400" dirty="0"/>
          </a:p>
        </p:txBody>
      </p:sp>
      <p:sp>
        <p:nvSpPr>
          <p:cNvPr id="14" name="Channel 2"/>
          <p:cNvSpPr/>
          <p:nvPr/>
        </p:nvSpPr>
        <p:spPr>
          <a:xfrm>
            <a:off x="2798064" y="3200400"/>
            <a:ext cx="2103120" cy="2514600"/>
          </a:xfrm>
          <a:prstGeom prst="roundRect">
            <a:avLst>
              <a:gd name="adj" fmla="val 6087"/>
            </a:avLst>
          </a:prstGeom>
          <a:solidFill>
            <a:schemeClr val="accent6"/>
          </a:solidFill>
          <a:ln/>
        </p:spPr>
      </p:sp>
      <p:sp>
        <p:nvSpPr>
          <p:cNvPr id="15" name="Channel 2 circle"/>
          <p:cNvSpPr/>
          <p:nvPr/>
        </p:nvSpPr>
        <p:spPr>
          <a:xfrm>
            <a:off x="3438144" y="3383280"/>
            <a:ext cx="822960" cy="822960"/>
          </a:xfrm>
          <a:prstGeom prst="ellipse">
            <a:avLst/>
          </a:prstGeom>
          <a:solidFill>
            <a:srgbClr val="19C37D"/>
          </a:solidFill>
          <a:ln/>
        </p:spPr>
      </p:sp>
      <p:pic>
        <p:nvPicPr>
          <p:cNvPr id="16" name="Channel 2 icon" descr="preencoded.png">    </p:cNvPr>
          <p:cNvPicPr>
            <a:picLocks noChangeAspect="1"/>
          </p:cNvPicPr>
          <p:nvPr/>
        </p:nvPicPr>
        <p:blipFill>
          <a:blip r:embed="rId2"/>
          <a:stretch>
            <a:fillRect/>
          </a:stretch>
        </p:blipFill>
        <p:spPr>
          <a:xfrm>
            <a:off x="3652114" y="3597250"/>
            <a:ext cx="395021" cy="395021"/>
          </a:xfrm>
          <a:prstGeom prst="rect">
            <a:avLst/>
          </a:prstGeom>
        </p:spPr>
      </p:pic>
      <p:sp>
        <p:nvSpPr>
          <p:cNvPr id="17" name="Text 13"/>
          <p:cNvSpPr txBox="1"/>
          <p:nvPr/>
        </p:nvSpPr>
        <p:spPr>
          <a:xfrm>
            <a:off x="2889504" y="4343400"/>
            <a:ext cx="1920240" cy="411480"/>
          </a:xfrm>
          <a:prstGeom prst="rect">
            <a:avLst/>
          </a:prstGeom>
          <a:noFill/>
          <a:ln/>
        </p:spPr>
        <p:txBody>
          <a:bodyPr wrap="square" lIns="0" tIns="0" rIns="0" bIns="0" rtlCol="0" anchor="t"/>
          <a:lstStyle/>
          <a:p>
            <a:pPr algn="ctr" indent="0" marL="0">
              <a:buNone/>
            </a:pPr>
            <a:r>
              <a:rPr lang="en-US" sz="1800" b="1" dirty="0">
                <a:solidFill>
                  <a:schemeClr val="bg1"/>
                </a:solidFill>
              </a:rPr>
              <a:t>WhatsApp</a:t>
            </a:r>
            <a:endParaRPr lang="en-US" sz="1800" dirty="0"/>
          </a:p>
        </p:txBody>
      </p:sp>
      <p:sp>
        <p:nvSpPr>
          <p:cNvPr id="18" name="Text 14"/>
          <p:cNvSpPr txBox="1"/>
          <p:nvPr/>
        </p:nvSpPr>
        <p:spPr>
          <a:xfrm>
            <a:off x="2889504" y="4754880"/>
            <a:ext cx="1920240" cy="822960"/>
          </a:xfrm>
          <a:prstGeom prst="rect">
            <a:avLst/>
          </a:prstGeom>
          <a:noFill/>
          <a:ln/>
        </p:spPr>
        <p:txBody>
          <a:bodyPr wrap="square" lIns="0" tIns="0" rIns="0" bIns="0" rtlCol="0" anchor="t"/>
          <a:lstStyle/>
          <a:p>
            <a:pPr algn="ctr" indent="0" marL="0">
              <a:buNone/>
            </a:pPr>
            <a:r>
              <a:rPr lang="en-US" sz="1400" dirty="0">
                <a:solidFill>
                  <a:schemeClr val="bg2"/>
                </a:solidFill>
              </a:rPr>
              <a:t>Nothing to install</a:t>
            </a:r>
            <a:endParaRPr lang="en-US" sz="1400" dirty="0"/>
          </a:p>
        </p:txBody>
      </p:sp>
      <p:sp>
        <p:nvSpPr>
          <p:cNvPr id="19" name="Channel 3"/>
          <p:cNvSpPr/>
          <p:nvPr/>
        </p:nvSpPr>
        <p:spPr>
          <a:xfrm>
            <a:off x="5047488" y="3200400"/>
            <a:ext cx="2103120" cy="2514600"/>
          </a:xfrm>
          <a:prstGeom prst="roundRect">
            <a:avLst>
              <a:gd name="adj" fmla="val 6087"/>
            </a:avLst>
          </a:prstGeom>
          <a:solidFill>
            <a:schemeClr val="accent6"/>
          </a:solidFill>
          <a:ln/>
        </p:spPr>
      </p:sp>
      <p:sp>
        <p:nvSpPr>
          <p:cNvPr id="20" name="Channel 3 circle"/>
          <p:cNvSpPr/>
          <p:nvPr/>
        </p:nvSpPr>
        <p:spPr>
          <a:xfrm>
            <a:off x="5687568" y="3383280"/>
            <a:ext cx="822960" cy="822960"/>
          </a:xfrm>
          <a:prstGeom prst="ellipse">
            <a:avLst/>
          </a:prstGeom>
          <a:solidFill>
            <a:srgbClr val="19C37D"/>
          </a:solidFill>
          <a:ln/>
        </p:spPr>
      </p:sp>
      <p:pic>
        <p:nvPicPr>
          <p:cNvPr id="21" name="Channel 3 icon" descr="preencoded.png">    </p:cNvPr>
          <p:cNvPicPr>
            <a:picLocks noChangeAspect="1"/>
          </p:cNvPicPr>
          <p:nvPr/>
        </p:nvPicPr>
        <p:blipFill>
          <a:blip r:embed="rId3"/>
          <a:stretch>
            <a:fillRect/>
          </a:stretch>
        </p:blipFill>
        <p:spPr>
          <a:xfrm>
            <a:off x="5901538" y="3597250"/>
            <a:ext cx="395021" cy="395021"/>
          </a:xfrm>
          <a:prstGeom prst="rect">
            <a:avLst/>
          </a:prstGeom>
        </p:spPr>
      </p:pic>
      <p:sp>
        <p:nvSpPr>
          <p:cNvPr id="22" name="Text 17"/>
          <p:cNvSpPr txBox="1"/>
          <p:nvPr/>
        </p:nvSpPr>
        <p:spPr>
          <a:xfrm>
            <a:off x="5138928" y="4343400"/>
            <a:ext cx="1920240" cy="411480"/>
          </a:xfrm>
          <a:prstGeom prst="rect">
            <a:avLst/>
          </a:prstGeom>
          <a:noFill/>
          <a:ln/>
        </p:spPr>
        <p:txBody>
          <a:bodyPr wrap="square" lIns="0" tIns="0" rIns="0" bIns="0" rtlCol="0" anchor="t"/>
          <a:lstStyle/>
          <a:p>
            <a:pPr algn="ctr" indent="0" marL="0">
              <a:buNone/>
            </a:pPr>
            <a:r>
              <a:rPr lang="en-US" sz="1800" b="1" dirty="0">
                <a:solidFill>
                  <a:schemeClr val="bg1"/>
                </a:solidFill>
              </a:rPr>
              <a:t>App</a:t>
            </a:r>
            <a:endParaRPr lang="en-US" sz="1800" dirty="0"/>
          </a:p>
        </p:txBody>
      </p:sp>
      <p:sp>
        <p:nvSpPr>
          <p:cNvPr id="23" name="Text 18"/>
          <p:cNvSpPr txBox="1"/>
          <p:nvPr/>
        </p:nvSpPr>
        <p:spPr>
          <a:xfrm>
            <a:off x="5138928" y="4754880"/>
            <a:ext cx="1920240" cy="822960"/>
          </a:xfrm>
          <a:prstGeom prst="rect">
            <a:avLst/>
          </a:prstGeom>
          <a:noFill/>
          <a:ln/>
        </p:spPr>
        <p:txBody>
          <a:bodyPr wrap="square" lIns="0" tIns="0" rIns="0" bIns="0" rtlCol="0" anchor="t"/>
          <a:lstStyle/>
          <a:p>
            <a:pPr algn="ctr" indent="0" marL="0">
              <a:buNone/>
            </a:pPr>
            <a:r>
              <a:rPr lang="en-US" sz="1400" dirty="0">
                <a:solidFill>
                  <a:schemeClr val="bg2"/>
                </a:solidFill>
              </a:rPr>
              <a:t>Messages, links, screenshots, calls</a:t>
            </a:r>
            <a:endParaRPr lang="en-US" sz="1400" dirty="0"/>
          </a:p>
        </p:txBody>
      </p:sp>
      <p:sp>
        <p:nvSpPr>
          <p:cNvPr id="24" name="Channel 4"/>
          <p:cNvSpPr/>
          <p:nvPr/>
        </p:nvSpPr>
        <p:spPr>
          <a:xfrm>
            <a:off x="7296912" y="3200400"/>
            <a:ext cx="2103120" cy="2514600"/>
          </a:xfrm>
          <a:prstGeom prst="roundRect">
            <a:avLst>
              <a:gd name="adj" fmla="val 6087"/>
            </a:avLst>
          </a:prstGeom>
          <a:solidFill>
            <a:schemeClr val="accent6"/>
          </a:solidFill>
          <a:ln/>
        </p:spPr>
      </p:sp>
      <p:sp>
        <p:nvSpPr>
          <p:cNvPr id="25" name="Channel 4 circle"/>
          <p:cNvSpPr/>
          <p:nvPr/>
        </p:nvSpPr>
        <p:spPr>
          <a:xfrm>
            <a:off x="7936992" y="3383280"/>
            <a:ext cx="822960" cy="822960"/>
          </a:xfrm>
          <a:prstGeom prst="ellipse">
            <a:avLst/>
          </a:prstGeom>
          <a:solidFill>
            <a:srgbClr val="19C37D"/>
          </a:solidFill>
          <a:ln/>
        </p:spPr>
      </p:sp>
      <p:pic>
        <p:nvPicPr>
          <p:cNvPr id="26" name="Channel 4 icon" descr="preencoded.png">    </p:cNvPr>
          <p:cNvPicPr>
            <a:picLocks noChangeAspect="1"/>
          </p:cNvPicPr>
          <p:nvPr/>
        </p:nvPicPr>
        <p:blipFill>
          <a:blip r:embed="rId4"/>
          <a:stretch>
            <a:fillRect/>
          </a:stretch>
        </p:blipFill>
        <p:spPr>
          <a:xfrm>
            <a:off x="8150962" y="3597250"/>
            <a:ext cx="395021" cy="395021"/>
          </a:xfrm>
          <a:prstGeom prst="rect">
            <a:avLst/>
          </a:prstGeom>
        </p:spPr>
      </p:pic>
      <p:sp>
        <p:nvSpPr>
          <p:cNvPr id="27" name="Text 21"/>
          <p:cNvSpPr txBox="1"/>
          <p:nvPr/>
        </p:nvSpPr>
        <p:spPr>
          <a:xfrm>
            <a:off x="7388352" y="4343400"/>
            <a:ext cx="1920240" cy="411480"/>
          </a:xfrm>
          <a:prstGeom prst="rect">
            <a:avLst/>
          </a:prstGeom>
          <a:noFill/>
          <a:ln/>
        </p:spPr>
        <p:txBody>
          <a:bodyPr wrap="square" lIns="0" tIns="0" rIns="0" bIns="0" rtlCol="0" anchor="t"/>
          <a:lstStyle/>
          <a:p>
            <a:pPr algn="ctr" indent="0" marL="0">
              <a:buNone/>
            </a:pPr>
            <a:r>
              <a:rPr lang="en-US" sz="1800" b="1" dirty="0">
                <a:solidFill>
                  <a:schemeClr val="bg1"/>
                </a:solidFill>
              </a:rPr>
              <a:t>5 languages</a:t>
            </a:r>
            <a:endParaRPr lang="en-US" sz="1800" dirty="0"/>
          </a:p>
        </p:txBody>
      </p:sp>
      <p:sp>
        <p:nvSpPr>
          <p:cNvPr id="28" name="Text 22"/>
          <p:cNvSpPr txBox="1"/>
          <p:nvPr/>
        </p:nvSpPr>
        <p:spPr>
          <a:xfrm>
            <a:off x="7388352" y="4754880"/>
            <a:ext cx="1920240" cy="822960"/>
          </a:xfrm>
          <a:prstGeom prst="rect">
            <a:avLst/>
          </a:prstGeom>
          <a:noFill/>
          <a:ln/>
        </p:spPr>
        <p:txBody>
          <a:bodyPr wrap="square" lIns="0" tIns="0" rIns="0" bIns="0" rtlCol="0" anchor="t"/>
          <a:lstStyle/>
          <a:p>
            <a:pPr algn="ctr" indent="0" marL="0">
              <a:buNone/>
            </a:pPr>
            <a:r>
              <a:rPr lang="en-US" sz="1400" dirty="0">
                <a:solidFill>
                  <a:schemeClr val="bg2"/>
                </a:solidFill>
              </a:rPr>
              <a:t>English, Pidgin, Hausa, Yoruba, Igbo*</a:t>
            </a:r>
            <a:endParaRPr lang="en-US" sz="1400" dirty="0"/>
          </a:p>
        </p:txBody>
      </p:sp>
      <p:sp>
        <p:nvSpPr>
          <p:cNvPr id="29" name="Channel 5"/>
          <p:cNvSpPr/>
          <p:nvPr/>
        </p:nvSpPr>
        <p:spPr>
          <a:xfrm>
            <a:off x="9546336" y="3200400"/>
            <a:ext cx="2103120" cy="2514600"/>
          </a:xfrm>
          <a:prstGeom prst="roundRect">
            <a:avLst>
              <a:gd name="adj" fmla="val 6087"/>
            </a:avLst>
          </a:prstGeom>
          <a:solidFill>
            <a:schemeClr val="accent6"/>
          </a:solidFill>
          <a:ln/>
        </p:spPr>
      </p:sp>
      <p:sp>
        <p:nvSpPr>
          <p:cNvPr id="30" name="Channel 5 circle"/>
          <p:cNvSpPr/>
          <p:nvPr/>
        </p:nvSpPr>
        <p:spPr>
          <a:xfrm>
            <a:off x="10186416" y="3383280"/>
            <a:ext cx="822960" cy="822960"/>
          </a:xfrm>
          <a:prstGeom prst="ellipse">
            <a:avLst/>
          </a:prstGeom>
          <a:solidFill>
            <a:srgbClr val="19C37D"/>
          </a:solidFill>
          <a:ln/>
        </p:spPr>
      </p:sp>
      <p:pic>
        <p:nvPicPr>
          <p:cNvPr id="31" name="Channel 5 icon" descr="preencoded.png">    </p:cNvPr>
          <p:cNvPicPr>
            <a:picLocks noChangeAspect="1"/>
          </p:cNvPicPr>
          <p:nvPr/>
        </p:nvPicPr>
        <p:blipFill>
          <a:blip r:embed="rId5"/>
          <a:stretch>
            <a:fillRect/>
          </a:stretch>
        </p:blipFill>
        <p:spPr>
          <a:xfrm>
            <a:off x="10400386" y="3597250"/>
            <a:ext cx="395021" cy="395021"/>
          </a:xfrm>
          <a:prstGeom prst="rect">
            <a:avLst/>
          </a:prstGeom>
        </p:spPr>
      </p:pic>
      <p:sp>
        <p:nvSpPr>
          <p:cNvPr id="32" name="Text 25"/>
          <p:cNvSpPr txBox="1"/>
          <p:nvPr/>
        </p:nvSpPr>
        <p:spPr>
          <a:xfrm>
            <a:off x="9637776" y="4343400"/>
            <a:ext cx="1920240" cy="411480"/>
          </a:xfrm>
          <a:prstGeom prst="rect">
            <a:avLst/>
          </a:prstGeom>
          <a:noFill/>
          <a:ln/>
        </p:spPr>
        <p:txBody>
          <a:bodyPr wrap="square" lIns="0" tIns="0" rIns="0" bIns="0" rtlCol="0" anchor="t"/>
          <a:lstStyle/>
          <a:p>
            <a:pPr algn="ctr" indent="0" marL="0">
              <a:buNone/>
            </a:pPr>
            <a:r>
              <a:rPr lang="en-US" sz="1800" b="1" dirty="0">
                <a:solidFill>
                  <a:schemeClr val="bg1"/>
                </a:solidFill>
              </a:rPr>
              <a:t>Accessible</a:t>
            </a:r>
            <a:endParaRPr lang="en-US" sz="1800" dirty="0"/>
          </a:p>
        </p:txBody>
      </p:sp>
      <p:sp>
        <p:nvSpPr>
          <p:cNvPr id="33" name="Text 26"/>
          <p:cNvSpPr txBox="1"/>
          <p:nvPr/>
        </p:nvSpPr>
        <p:spPr>
          <a:xfrm>
            <a:off x="9637776" y="4754880"/>
            <a:ext cx="1920240" cy="822960"/>
          </a:xfrm>
          <a:prstGeom prst="rect">
            <a:avLst/>
          </a:prstGeom>
          <a:noFill/>
          <a:ln/>
        </p:spPr>
        <p:txBody>
          <a:bodyPr wrap="square" lIns="0" tIns="0" rIns="0" bIns="0" rtlCol="0" anchor="t"/>
          <a:lstStyle/>
          <a:p>
            <a:pPr algn="ctr" indent="0" marL="0">
              <a:buNone/>
            </a:pPr>
            <a:r>
              <a:rPr lang="en-US" sz="1400" dirty="0">
                <a:solidFill>
                  <a:schemeClr val="bg2"/>
                </a:solidFill>
              </a:rPr>
              <a:t>Screen reader, large text</a:t>
            </a:r>
            <a:endParaRPr lang="en-US" sz="1400" dirty="0"/>
          </a:p>
        </p:txBody>
      </p:sp>
      <p:sp>
        <p:nvSpPr>
          <p:cNvPr id="34" name="Text 27"/>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050" i="1" dirty="0">
                <a:solidFill>
                  <a:schemeClr val="accent5"/>
                </a:solidFill>
              </a:rPr>
              <a:t>[S7] EFInA A2F 2023. [S6] KPMG/Orange Nigeria Smartphone Study, Sep 2026, citing NCC. *Translations pending native-speaker review.</a:t>
            </a:r>
            <a:endParaRPr lang="en-US" sz="10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Fraud is becoming the bank's bill</a:t>
            </a:r>
            <a:endParaRPr lang="en-US" sz="3800" dirty="0"/>
          </a:p>
        </p:txBody>
      </p:sp>
      <p:sp>
        <p:nvSpPr>
          <p:cNvPr id="3" name="APP card"/>
          <p:cNvSpPr/>
          <p:nvPr/>
        </p:nvSpPr>
        <p:spPr>
          <a:xfrm>
            <a:off x="548640" y="1463040"/>
            <a:ext cx="5486400" cy="2148840"/>
          </a:xfrm>
          <a:prstGeom prst="roundRect">
            <a:avLst>
              <a:gd name="adj" fmla="val 5957"/>
            </a:avLst>
          </a:prstGeom>
          <a:solidFill>
            <a:srgbClr val="2A1416"/>
          </a:solidFill>
          <a:ln/>
        </p:spPr>
      </p:sp>
      <p:sp>
        <p:nvSpPr>
          <p:cNvPr id="4" name="Text 2"/>
          <p:cNvSpPr txBox="1"/>
          <p:nvPr/>
        </p:nvSpPr>
        <p:spPr>
          <a:xfrm>
            <a:off x="822960" y="1645920"/>
            <a:ext cx="4937760" cy="365760"/>
          </a:xfrm>
          <a:prstGeom prst="rect">
            <a:avLst/>
          </a:prstGeom>
          <a:noFill/>
          <a:ln/>
        </p:spPr>
        <p:txBody>
          <a:bodyPr wrap="square" lIns="0" tIns="0" rIns="0" bIns="0" rtlCol="0" anchor="t"/>
          <a:lstStyle/>
          <a:p>
            <a:pPr indent="0" marL="0">
              <a:buNone/>
            </a:pPr>
            <a:r>
              <a:rPr lang="en-US" sz="1500" b="1" dirty="0">
                <a:solidFill>
                  <a:schemeClr val="accent3"/>
                </a:solidFill>
              </a:rPr>
              <a:t>CBN draft rules on push-payment fraud</a:t>
            </a:r>
            <a:endParaRPr lang="en-US" sz="1500" dirty="0"/>
          </a:p>
        </p:txBody>
      </p:sp>
      <p:sp>
        <p:nvSpPr>
          <p:cNvPr id="5" name="Text 3"/>
          <p:cNvSpPr txBox="1"/>
          <p:nvPr/>
        </p:nvSpPr>
        <p:spPr>
          <a:xfrm>
            <a:off x="822960" y="2057400"/>
            <a:ext cx="4937760" cy="914400"/>
          </a:xfrm>
          <a:prstGeom prst="rect">
            <a:avLst/>
          </a:prstGeom>
          <a:noFill/>
          <a:ln/>
        </p:spPr>
        <p:txBody>
          <a:bodyPr wrap="square" lIns="0" tIns="0" rIns="0" bIns="0" rtlCol="0" anchor="t"/>
          <a:lstStyle/>
          <a:p>
            <a:pPr indent="0" marL="0">
              <a:buNone/>
            </a:pPr>
            <a:r>
              <a:rPr lang="en-US" sz="2100" b="1" dirty="0">
                <a:solidFill>
                  <a:schemeClr val="bg1"/>
                </a:solidFill>
              </a:rPr>
              <a:t>Neither bank at fault? They split the refund. Weak controls? The bank pays it all.</a:t>
            </a:r>
            <a:endParaRPr lang="en-US" sz="2100" dirty="0"/>
          </a:p>
        </p:txBody>
      </p:sp>
      <p:sp>
        <p:nvSpPr>
          <p:cNvPr id="6" name="Text 4"/>
          <p:cNvSpPr txBox="1"/>
          <p:nvPr/>
        </p:nvSpPr>
        <p:spPr>
          <a:xfrm>
            <a:off x="822960" y="3108960"/>
            <a:ext cx="4937760" cy="320040"/>
          </a:xfrm>
          <a:prstGeom prst="rect">
            <a:avLst/>
          </a:prstGeom>
          <a:noFill/>
          <a:ln/>
        </p:spPr>
        <p:txBody>
          <a:bodyPr wrap="square" lIns="0" tIns="0" rIns="0" bIns="0" rtlCol="0" anchor="t"/>
          <a:lstStyle/>
          <a:p>
            <a:pPr indent="0" marL="0">
              <a:buNone/>
            </a:pPr>
            <a:r>
              <a:rPr lang="en-US" sz="1200" i="1" dirty="0">
                <a:solidFill>
                  <a:schemeClr val="accent5"/>
                </a:solidFill>
              </a:rPr>
              <a:t>Exposure draft, Nov 2025 [S18]</a:t>
            </a:r>
            <a:endParaRPr lang="en-US" sz="1200" dirty="0"/>
          </a:p>
        </p:txBody>
      </p:sp>
      <p:sp>
        <p:nvSpPr>
          <p:cNvPr id="7" name="Data card"/>
          <p:cNvSpPr/>
          <p:nvPr/>
        </p:nvSpPr>
        <p:spPr>
          <a:xfrm>
            <a:off x="548640" y="3794760"/>
            <a:ext cx="5486400" cy="1920240"/>
          </a:xfrm>
          <a:prstGeom prst="roundRect">
            <a:avLst>
              <a:gd name="adj" fmla="val 6667"/>
            </a:avLst>
          </a:prstGeom>
          <a:solidFill>
            <a:schemeClr val="accent6"/>
          </a:solidFill>
          <a:ln/>
        </p:spPr>
      </p:sp>
      <p:sp>
        <p:nvSpPr>
          <p:cNvPr id="8" name="Text 6"/>
          <p:cNvSpPr txBox="1"/>
          <p:nvPr/>
        </p:nvSpPr>
        <p:spPr>
          <a:xfrm>
            <a:off x="822960" y="3977640"/>
            <a:ext cx="4937760" cy="640080"/>
          </a:xfrm>
          <a:prstGeom prst="rect">
            <a:avLst/>
          </a:prstGeom>
          <a:noFill/>
          <a:ln/>
        </p:spPr>
        <p:txBody>
          <a:bodyPr wrap="square" lIns="0" tIns="0" rIns="0" bIns="0" rtlCol="0" anchor="t"/>
          <a:lstStyle/>
          <a:p>
            <a:pPr indent="0" marL="0">
              <a:buNone/>
            </a:pPr>
            <a:r>
              <a:rPr lang="en-US" sz="3400" b="1" dirty="0">
                <a:solidFill>
                  <a:schemeClr val="accent2"/>
                </a:solidFill>
              </a:rPr>
              <a:t>1 Jan 2027</a:t>
            </a:r>
            <a:endParaRPr lang="en-US" sz="3400" dirty="0"/>
          </a:p>
        </p:txBody>
      </p:sp>
      <p:sp>
        <p:nvSpPr>
          <p:cNvPr id="9" name="Text 7"/>
          <p:cNvSpPr txBox="1"/>
          <p:nvPr/>
        </p:nvSpPr>
        <p:spPr>
          <a:xfrm>
            <a:off x="822960" y="4617720"/>
            <a:ext cx="4937760" cy="914400"/>
          </a:xfrm>
          <a:prstGeom prst="rect">
            <a:avLst/>
          </a:prstGeom>
          <a:noFill/>
          <a:ln/>
        </p:spPr>
        <p:txBody>
          <a:bodyPr wrap="square" lIns="0" tIns="0" rIns="0" bIns="0" rtlCol="0" anchor="t"/>
          <a:lstStyle/>
          <a:p>
            <a:pPr indent="0" marL="0">
              <a:buNone/>
            </a:pPr>
            <a:r>
              <a:rPr lang="en-US" sz="1500" dirty="0">
                <a:solidFill>
                  <a:schemeClr val="bg2"/>
                </a:solidFill>
              </a:rPr>
              <a:t>Payment data generated in Nigeria must stay in Nigeria (CBN circular, press report) [S11]. Gaskiyya deploys inside the bank.</a:t>
            </a:r>
            <a:endParaRPr lang="en-US" sz="1500" dirty="0"/>
          </a:p>
        </p:txBody>
      </p:sp>
      <p:sp>
        <p:nvSpPr>
          <p:cNvPr id="10" name="Text 8"/>
          <p:cNvSpPr txBox="1"/>
          <p:nvPr/>
        </p:nvSpPr>
        <p:spPr>
          <a:xfrm>
            <a:off x="6492240" y="1463040"/>
            <a:ext cx="5120640" cy="411480"/>
          </a:xfrm>
          <a:prstGeom prst="rect">
            <a:avLst/>
          </a:prstGeom>
          <a:noFill/>
          <a:ln/>
        </p:spPr>
        <p:txBody>
          <a:bodyPr wrap="square" lIns="0" tIns="0" rIns="0" bIns="0" rtlCol="0" anchor="t"/>
          <a:lstStyle/>
          <a:p>
            <a:pPr indent="0" marL="0">
              <a:buNone/>
            </a:pPr>
            <a:r>
              <a:rPr lang="en-US" sz="2000" b="1" dirty="0">
                <a:solidFill>
                  <a:schemeClr val="accent1"/>
                </a:solidFill>
              </a:rPr>
              <a:t>What the bank changes</a:t>
            </a:r>
            <a:endParaRPr lang="en-US" sz="2000" dirty="0"/>
          </a:p>
        </p:txBody>
      </p:sp>
      <p:sp>
        <p:nvSpPr>
          <p:cNvPr id="11" name="Text 9"/>
          <p:cNvSpPr txBox="1"/>
          <p:nvPr/>
        </p:nvSpPr>
        <p:spPr>
          <a:xfrm>
            <a:off x="6492240" y="1965960"/>
            <a:ext cx="5120640" cy="20116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One API call at send time</a:t>
            </a:r>
            <a:endParaRPr lang="en-US" sz="1700" dirty="0"/>
          </a:p>
          <a:p>
            <a:pPr marL="342900" indent="-342900">
              <a:spcAft>
                <a:spcPts val="1000"/>
              </a:spcAft>
              <a:buSzPct val="100000"/>
              <a:buChar char="•"/>
            </a:pPr>
            <a:r>
              <a:rPr lang="en-US" sz="1700" dirty="0">
                <a:solidFill>
                  <a:schemeClr val="bg1"/>
                </a:solidFill>
              </a:rPr>
              <a:t>Messages, sender ID and length unchanged</a:t>
            </a:r>
            <a:endParaRPr lang="en-US" sz="1700" dirty="0"/>
          </a:p>
          <a:p>
            <a:pPr marL="342900" indent="-342900">
              <a:spcAft>
                <a:spcPts val="1000"/>
              </a:spcAft>
              <a:buSzPct val="100000"/>
              <a:buChar char="•"/>
            </a:pPr>
            <a:r>
              <a:rPr lang="en-US" sz="1700" dirty="0">
                <a:solidFill>
                  <a:schemeClr val="bg1"/>
                </a:solidFill>
              </a:rPr>
              <a:t>No core banking, balances or transactions touched</a:t>
            </a:r>
            <a:endParaRPr lang="en-US" sz="1700" dirty="0"/>
          </a:p>
          <a:p>
            <a:pPr marL="342900" indent="-342900">
              <a:spcAft>
                <a:spcPts val="1000"/>
              </a:spcAft>
              <a:buSzPct val="100000"/>
              <a:buChar char="•"/>
            </a:pPr>
            <a:r>
              <a:rPr lang="en-US" sz="1700" dirty="0">
                <a:solidFill>
                  <a:schemeClr val="bg1"/>
                </a:solidFill>
              </a:rPr>
              <a:t>Keys rotate with no downtime; data stays in-house</a:t>
            </a:r>
            <a:endParaRPr lang="en-US" sz="1700" dirty="0"/>
          </a:p>
        </p:txBody>
      </p:sp>
      <p:sp>
        <p:nvSpPr>
          <p:cNvPr id="12" name="Speed card"/>
          <p:cNvSpPr/>
          <p:nvPr/>
        </p:nvSpPr>
        <p:spPr>
          <a:xfrm>
            <a:off x="6492240" y="4160520"/>
            <a:ext cx="5120640" cy="1554480"/>
          </a:xfrm>
          <a:prstGeom prst="roundRect">
            <a:avLst>
              <a:gd name="adj" fmla="val 8235"/>
            </a:avLst>
          </a:prstGeom>
          <a:solidFill>
            <a:schemeClr val="accent6"/>
          </a:solidFill>
          <a:ln/>
        </p:spPr>
      </p:sp>
      <p:sp>
        <p:nvSpPr>
          <p:cNvPr id="13" name="Text 11"/>
          <p:cNvSpPr txBox="1"/>
          <p:nvPr/>
        </p:nvSpPr>
        <p:spPr>
          <a:xfrm>
            <a:off x="6766560" y="4251960"/>
            <a:ext cx="4663440" cy="1371600"/>
          </a:xfrm>
          <a:prstGeom prst="rect">
            <a:avLst/>
          </a:prstGeom>
          <a:noFill/>
          <a:ln/>
        </p:spPr>
        <p:txBody>
          <a:bodyPr wrap="square" lIns="0" tIns="0" rIns="0" bIns="0" rtlCol="0" anchor="ctr"/>
          <a:lstStyle/>
          <a:p>
            <a:pPr indent="0" marL="0">
              <a:buNone/>
            </a:pPr>
            <a:r>
              <a:rPr lang="en-US" sz="3800" b="1" dirty="0">
                <a:solidFill>
                  <a:schemeClr val="accent1"/>
                </a:solidFill>
              </a:rPr>
              <a:t>6,000+</a:t>
            </a:r>
            <a:endParaRPr lang="en-US" sz="1600" dirty="0"/>
          </a:p>
          <a:p>
            <a:pPr indent="0" marL="0">
              <a:buNone/>
            </a:pPr>
            <a:r>
              <a:rPr lang="en-US" sz="1400" dirty="0">
                <a:solidFill>
                  <a:schemeClr val="bg2"/>
                </a:solidFill>
              </a:rPr>
              <a:t>checks per second on one laptop; 160 ms from registration to confirmed (target 2 s)</a:t>
            </a:r>
            <a:endParaRPr lang="en-US" sz="1600" dirty="0"/>
          </a:p>
        </p:txBody>
      </p:sp>
      <p:sp>
        <p:nvSpPr>
          <p:cNvPr id="14" name="Text 12"/>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050" i="1" dirty="0">
                <a:solidFill>
                  <a:schemeClr val="accent5"/>
                </a:solidFill>
              </a:rPr>
              <a:t>[S18] CBN exposure draft, Guidelines for Handling Authorised Push Payment Fraud, Nov 2025 (summarised by BusinessDay, 2 Dec 2025). Load test: docs/PERFORMANCE.md, memory store; Firestore not measured.</a:t>
            </a:r>
            <a:endParaRPr lang="en-US" sz="10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Built on open source</a:t>
            </a:r>
            <a:endParaRPr lang="en-US" sz="3800" dirty="0"/>
          </a:p>
        </p:txBody>
      </p:sp>
      <p:sp>
        <p:nvSpPr>
          <p:cNvPr id="3" name="Text 1"/>
          <p:cNvSpPr txBox="1"/>
          <p:nvPr/>
        </p:nvSpPr>
        <p:spPr>
          <a:xfrm>
            <a:off x="548640" y="1188720"/>
            <a:ext cx="11064240" cy="365760"/>
          </a:xfrm>
          <a:prstGeom prst="rect">
            <a:avLst/>
          </a:prstGeom>
          <a:noFill/>
          <a:ln/>
        </p:spPr>
        <p:txBody>
          <a:bodyPr wrap="square" lIns="0" tIns="0" rIns="0" bIns="0" rtlCol="0" anchor="t"/>
          <a:lstStyle/>
          <a:p>
            <a:pPr indent="0" marL="0">
              <a:buNone/>
            </a:pPr>
            <a:r>
              <a:rPr lang="en-US" sz="1600" dirty="0">
                <a:solidFill>
                  <a:schemeClr val="bg2"/>
                </a:solidFill>
              </a:rPr>
              <a:t>Every paid service is optional. The whole demo runs offline: pnpm demo:offline</a:t>
            </a:r>
            <a:endParaRPr lang="en-US" sz="1600" dirty="0"/>
          </a:p>
        </p:txBody>
      </p:sp>
      <p:sp>
        <p:nvSpPr>
          <p:cNvPr id="4" name="Tech 1"/>
          <p:cNvSpPr/>
          <p:nvPr/>
        </p:nvSpPr>
        <p:spPr>
          <a:xfrm>
            <a:off x="548640" y="1783080"/>
            <a:ext cx="2651760" cy="1874520"/>
          </a:xfrm>
          <a:prstGeom prst="roundRect">
            <a:avLst>
              <a:gd name="adj" fmla="val 6829"/>
            </a:avLst>
          </a:prstGeom>
          <a:solidFill>
            <a:schemeClr val="accent6"/>
          </a:solidFill>
          <a:ln/>
        </p:spPr>
      </p:sp>
      <p:sp>
        <p:nvSpPr>
          <p:cNvPr id="5" name="Tech 1 circle"/>
          <p:cNvSpPr/>
          <p:nvPr/>
        </p:nvSpPr>
        <p:spPr>
          <a:xfrm>
            <a:off x="777240" y="2011680"/>
            <a:ext cx="685800" cy="685800"/>
          </a:xfrm>
          <a:prstGeom prst="ellipse">
            <a:avLst/>
          </a:prstGeom>
          <a:solidFill>
            <a:srgbClr val="19C37D"/>
          </a:solidFill>
          <a:ln/>
        </p:spPr>
      </p:sp>
      <p:pic>
        <p:nvPicPr>
          <p:cNvPr id="6" name="Tech 1 icon" descr="preencoded.png">    </p:cNvPr>
          <p:cNvPicPr>
            <a:picLocks noChangeAspect="1"/>
          </p:cNvPicPr>
          <p:nvPr/>
        </p:nvPicPr>
        <p:blipFill>
          <a:blip r:embed="rId1"/>
          <a:stretch>
            <a:fillRect/>
          </a:stretch>
        </p:blipFill>
        <p:spPr>
          <a:xfrm>
            <a:off x="955548" y="2189988"/>
            <a:ext cx="329184" cy="329184"/>
          </a:xfrm>
          <a:prstGeom prst="rect">
            <a:avLst/>
          </a:prstGeom>
        </p:spPr>
      </p:pic>
      <p:sp>
        <p:nvSpPr>
          <p:cNvPr id="7" name="Text 4"/>
          <p:cNvSpPr txBox="1"/>
          <p:nvPr/>
        </p:nvSpPr>
        <p:spPr>
          <a:xfrm>
            <a:off x="1600200" y="21031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Mobile</a:t>
            </a:r>
            <a:endParaRPr lang="en-US" sz="1700" dirty="0"/>
          </a:p>
        </p:txBody>
      </p:sp>
      <p:sp>
        <p:nvSpPr>
          <p:cNvPr id="8" name="Text 5"/>
          <p:cNvSpPr txBox="1"/>
          <p:nvPr/>
        </p:nvSpPr>
        <p:spPr>
          <a:xfrm>
            <a:off x="777240" y="2834640"/>
            <a:ext cx="2240280" cy="731520"/>
          </a:xfrm>
          <a:prstGeom prst="rect">
            <a:avLst/>
          </a:prstGeom>
          <a:noFill/>
          <a:ln/>
        </p:spPr>
        <p:txBody>
          <a:bodyPr wrap="square" lIns="0" tIns="0" rIns="0" bIns="0" rtlCol="0" anchor="t"/>
          <a:lstStyle/>
          <a:p>
            <a:pPr indent="0" marL="0">
              <a:buNone/>
            </a:pPr>
            <a:r>
              <a:rPr lang="en-US" sz="1400" dirty="0">
                <a:solidFill>
                  <a:schemeClr val="bg2"/>
                </a:solidFill>
              </a:rPr>
              <a:t>Flutter, Dart, ML Kit on-device OCR</a:t>
            </a:r>
            <a:endParaRPr lang="en-US" sz="1400" dirty="0"/>
          </a:p>
        </p:txBody>
      </p:sp>
      <p:sp>
        <p:nvSpPr>
          <p:cNvPr id="9" name="Tech 2"/>
          <p:cNvSpPr/>
          <p:nvPr/>
        </p:nvSpPr>
        <p:spPr>
          <a:xfrm>
            <a:off x="3383280" y="1783080"/>
            <a:ext cx="2651760" cy="1874520"/>
          </a:xfrm>
          <a:prstGeom prst="roundRect">
            <a:avLst>
              <a:gd name="adj" fmla="val 6829"/>
            </a:avLst>
          </a:prstGeom>
          <a:solidFill>
            <a:schemeClr val="accent6"/>
          </a:solidFill>
          <a:ln/>
        </p:spPr>
      </p:sp>
      <p:sp>
        <p:nvSpPr>
          <p:cNvPr id="10" name="Tech 2 circle"/>
          <p:cNvSpPr/>
          <p:nvPr/>
        </p:nvSpPr>
        <p:spPr>
          <a:xfrm>
            <a:off x="3611880" y="2011680"/>
            <a:ext cx="685800" cy="685800"/>
          </a:xfrm>
          <a:prstGeom prst="ellipse">
            <a:avLst/>
          </a:prstGeom>
          <a:solidFill>
            <a:srgbClr val="19C37D"/>
          </a:solidFill>
          <a:ln/>
        </p:spPr>
      </p:sp>
      <p:pic>
        <p:nvPicPr>
          <p:cNvPr id="11" name="Tech 2 icon" descr="preencoded.png">    </p:cNvPr>
          <p:cNvPicPr>
            <a:picLocks noChangeAspect="1"/>
          </p:cNvPicPr>
          <p:nvPr/>
        </p:nvPicPr>
        <p:blipFill>
          <a:blip r:embed="rId2"/>
          <a:stretch>
            <a:fillRect/>
          </a:stretch>
        </p:blipFill>
        <p:spPr>
          <a:xfrm>
            <a:off x="3790188" y="2189988"/>
            <a:ext cx="329184" cy="329184"/>
          </a:xfrm>
          <a:prstGeom prst="rect">
            <a:avLst/>
          </a:prstGeom>
        </p:spPr>
      </p:pic>
      <p:sp>
        <p:nvSpPr>
          <p:cNvPr id="12" name="Text 8"/>
          <p:cNvSpPr txBox="1"/>
          <p:nvPr/>
        </p:nvSpPr>
        <p:spPr>
          <a:xfrm>
            <a:off x="4434840" y="21031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Registry</a:t>
            </a:r>
            <a:endParaRPr lang="en-US" sz="1700" dirty="0"/>
          </a:p>
        </p:txBody>
      </p:sp>
      <p:sp>
        <p:nvSpPr>
          <p:cNvPr id="13" name="Text 9"/>
          <p:cNvSpPr txBox="1"/>
          <p:nvPr/>
        </p:nvSpPr>
        <p:spPr>
          <a:xfrm>
            <a:off x="3611880" y="2834640"/>
            <a:ext cx="2240280" cy="731520"/>
          </a:xfrm>
          <a:prstGeom prst="rect">
            <a:avLst/>
          </a:prstGeom>
          <a:noFill/>
          <a:ln/>
        </p:spPr>
        <p:txBody>
          <a:bodyPr wrap="square" lIns="0" tIns="0" rIns="0" bIns="0" rtlCol="0" anchor="t"/>
          <a:lstStyle/>
          <a:p>
            <a:pPr indent="0" marL="0">
              <a:buNone/>
            </a:pPr>
            <a:r>
              <a:rPr lang="en-US" sz="1400" dirty="0">
                <a:solidFill>
                  <a:schemeClr val="bg2"/>
                </a:solidFill>
              </a:rPr>
              <a:t>Node.js, TypeScript, Fastify, zod</a:t>
            </a:r>
            <a:endParaRPr lang="en-US" sz="1400" dirty="0"/>
          </a:p>
        </p:txBody>
      </p:sp>
      <p:sp>
        <p:nvSpPr>
          <p:cNvPr id="14" name="Tech 3"/>
          <p:cNvSpPr/>
          <p:nvPr/>
        </p:nvSpPr>
        <p:spPr>
          <a:xfrm>
            <a:off x="6217920" y="1783080"/>
            <a:ext cx="2651760" cy="1874520"/>
          </a:xfrm>
          <a:prstGeom prst="roundRect">
            <a:avLst>
              <a:gd name="adj" fmla="val 6829"/>
            </a:avLst>
          </a:prstGeom>
          <a:solidFill>
            <a:schemeClr val="accent6"/>
          </a:solidFill>
          <a:ln/>
        </p:spPr>
      </p:sp>
      <p:sp>
        <p:nvSpPr>
          <p:cNvPr id="15" name="Tech 3 circle"/>
          <p:cNvSpPr/>
          <p:nvPr/>
        </p:nvSpPr>
        <p:spPr>
          <a:xfrm>
            <a:off x="6446520" y="2011680"/>
            <a:ext cx="685800" cy="685800"/>
          </a:xfrm>
          <a:prstGeom prst="ellipse">
            <a:avLst/>
          </a:prstGeom>
          <a:solidFill>
            <a:srgbClr val="19C37D"/>
          </a:solidFill>
          <a:ln/>
        </p:spPr>
      </p:sp>
      <p:pic>
        <p:nvPicPr>
          <p:cNvPr id="16" name="Tech 3 icon" descr="preencoded.png">    </p:cNvPr>
          <p:cNvPicPr>
            <a:picLocks noChangeAspect="1"/>
          </p:cNvPicPr>
          <p:nvPr/>
        </p:nvPicPr>
        <p:blipFill>
          <a:blip r:embed="rId3"/>
          <a:stretch>
            <a:fillRect/>
          </a:stretch>
        </p:blipFill>
        <p:spPr>
          <a:xfrm>
            <a:off x="6624828" y="2189988"/>
            <a:ext cx="329184" cy="329184"/>
          </a:xfrm>
          <a:prstGeom prst="rect">
            <a:avLst/>
          </a:prstGeom>
        </p:spPr>
      </p:pic>
      <p:sp>
        <p:nvSpPr>
          <p:cNvPr id="17" name="Text 12"/>
          <p:cNvSpPr txBox="1"/>
          <p:nvPr/>
        </p:nvSpPr>
        <p:spPr>
          <a:xfrm>
            <a:off x="7269480" y="21031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AI</a:t>
            </a:r>
            <a:endParaRPr lang="en-US" sz="1700" dirty="0"/>
          </a:p>
        </p:txBody>
      </p:sp>
      <p:sp>
        <p:nvSpPr>
          <p:cNvPr id="18" name="Text 13"/>
          <p:cNvSpPr txBox="1"/>
          <p:nvPr/>
        </p:nvSpPr>
        <p:spPr>
          <a:xfrm>
            <a:off x="6446520" y="2834640"/>
            <a:ext cx="2240280" cy="731520"/>
          </a:xfrm>
          <a:prstGeom prst="rect">
            <a:avLst/>
          </a:prstGeom>
          <a:noFill/>
          <a:ln/>
        </p:spPr>
        <p:txBody>
          <a:bodyPr wrap="square" lIns="0" tIns="0" rIns="0" bIns="0" rtlCol="0" anchor="t"/>
          <a:lstStyle/>
          <a:p>
            <a:pPr indent="0" marL="0">
              <a:buNone/>
            </a:pPr>
            <a:r>
              <a:rPr lang="en-US" sz="1400" dirty="0">
                <a:solidFill>
                  <a:schemeClr val="bg2"/>
                </a:solidFill>
              </a:rPr>
              <a:t>Ollama open-weights, or Gemini / OpenAI, or none</a:t>
            </a:r>
            <a:endParaRPr lang="en-US" sz="1400" dirty="0"/>
          </a:p>
        </p:txBody>
      </p:sp>
      <p:sp>
        <p:nvSpPr>
          <p:cNvPr id="19" name="Tech 4"/>
          <p:cNvSpPr/>
          <p:nvPr/>
        </p:nvSpPr>
        <p:spPr>
          <a:xfrm>
            <a:off x="9052560" y="1783080"/>
            <a:ext cx="2651760" cy="1874520"/>
          </a:xfrm>
          <a:prstGeom prst="roundRect">
            <a:avLst>
              <a:gd name="adj" fmla="val 6829"/>
            </a:avLst>
          </a:prstGeom>
          <a:solidFill>
            <a:schemeClr val="accent6"/>
          </a:solidFill>
          <a:ln/>
        </p:spPr>
      </p:sp>
      <p:sp>
        <p:nvSpPr>
          <p:cNvPr id="20" name="Tech 4 circle"/>
          <p:cNvSpPr/>
          <p:nvPr/>
        </p:nvSpPr>
        <p:spPr>
          <a:xfrm>
            <a:off x="9281160" y="2011680"/>
            <a:ext cx="685800" cy="685800"/>
          </a:xfrm>
          <a:prstGeom prst="ellipse">
            <a:avLst/>
          </a:prstGeom>
          <a:solidFill>
            <a:srgbClr val="19C37D"/>
          </a:solidFill>
          <a:ln/>
        </p:spPr>
      </p:sp>
      <p:pic>
        <p:nvPicPr>
          <p:cNvPr id="21" name="Tech 4 icon" descr="preencoded.png">    </p:cNvPr>
          <p:cNvPicPr>
            <a:picLocks noChangeAspect="1"/>
          </p:cNvPicPr>
          <p:nvPr/>
        </p:nvPicPr>
        <p:blipFill>
          <a:blip r:embed="rId4"/>
          <a:stretch>
            <a:fillRect/>
          </a:stretch>
        </p:blipFill>
        <p:spPr>
          <a:xfrm>
            <a:off x="9459468" y="2189988"/>
            <a:ext cx="329184" cy="329184"/>
          </a:xfrm>
          <a:prstGeom prst="rect">
            <a:avLst/>
          </a:prstGeom>
        </p:spPr>
      </p:pic>
      <p:sp>
        <p:nvSpPr>
          <p:cNvPr id="22" name="Text 16"/>
          <p:cNvSpPr txBox="1"/>
          <p:nvPr/>
        </p:nvSpPr>
        <p:spPr>
          <a:xfrm>
            <a:off x="10104120" y="21031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Agent</a:t>
            </a:r>
            <a:endParaRPr lang="en-US" sz="1700" dirty="0"/>
          </a:p>
        </p:txBody>
      </p:sp>
      <p:sp>
        <p:nvSpPr>
          <p:cNvPr id="23" name="Text 17"/>
          <p:cNvSpPr txBox="1"/>
          <p:nvPr/>
        </p:nvSpPr>
        <p:spPr>
          <a:xfrm>
            <a:off x="9281160" y="2834640"/>
            <a:ext cx="2240280" cy="731520"/>
          </a:xfrm>
          <a:prstGeom prst="rect">
            <a:avLst/>
          </a:prstGeom>
          <a:noFill/>
          <a:ln/>
        </p:spPr>
        <p:txBody>
          <a:bodyPr wrap="square" lIns="0" tIns="0" rIns="0" bIns="0" rtlCol="0" anchor="t"/>
          <a:lstStyle/>
          <a:p>
            <a:pPr indent="0" marL="0">
              <a:buNone/>
            </a:pPr>
            <a:r>
              <a:rPr lang="en-US" sz="1400" dirty="0">
                <a:solidFill>
                  <a:schemeClr val="bg2"/>
                </a:solidFill>
              </a:rPr>
              <a:t>Our TypeScript loop, no send tool</a:t>
            </a:r>
            <a:endParaRPr lang="en-US" sz="1400" dirty="0"/>
          </a:p>
        </p:txBody>
      </p:sp>
      <p:sp>
        <p:nvSpPr>
          <p:cNvPr id="24" name="Tech 5"/>
          <p:cNvSpPr/>
          <p:nvPr/>
        </p:nvSpPr>
        <p:spPr>
          <a:xfrm>
            <a:off x="548640" y="3840480"/>
            <a:ext cx="2651760" cy="1874520"/>
          </a:xfrm>
          <a:prstGeom prst="roundRect">
            <a:avLst>
              <a:gd name="adj" fmla="val 6829"/>
            </a:avLst>
          </a:prstGeom>
          <a:solidFill>
            <a:schemeClr val="accent6"/>
          </a:solidFill>
          <a:ln/>
        </p:spPr>
      </p:sp>
      <p:sp>
        <p:nvSpPr>
          <p:cNvPr id="25" name="Tech 5 circle"/>
          <p:cNvSpPr/>
          <p:nvPr/>
        </p:nvSpPr>
        <p:spPr>
          <a:xfrm>
            <a:off x="777240" y="4069080"/>
            <a:ext cx="685800" cy="685800"/>
          </a:xfrm>
          <a:prstGeom prst="ellipse">
            <a:avLst/>
          </a:prstGeom>
          <a:solidFill>
            <a:srgbClr val="19C37D"/>
          </a:solidFill>
          <a:ln/>
        </p:spPr>
      </p:sp>
      <p:pic>
        <p:nvPicPr>
          <p:cNvPr id="26" name="Tech 5 icon" descr="preencoded.png">    </p:cNvPr>
          <p:cNvPicPr>
            <a:picLocks noChangeAspect="1"/>
          </p:cNvPicPr>
          <p:nvPr/>
        </p:nvPicPr>
        <p:blipFill>
          <a:blip r:embed="rId5"/>
          <a:stretch>
            <a:fillRect/>
          </a:stretch>
        </p:blipFill>
        <p:spPr>
          <a:xfrm>
            <a:off x="955548" y="4247388"/>
            <a:ext cx="329184" cy="329184"/>
          </a:xfrm>
          <a:prstGeom prst="rect">
            <a:avLst/>
          </a:prstGeom>
        </p:spPr>
      </p:pic>
      <p:sp>
        <p:nvSpPr>
          <p:cNvPr id="27" name="Text 20"/>
          <p:cNvSpPr txBox="1"/>
          <p:nvPr/>
        </p:nvSpPr>
        <p:spPr>
          <a:xfrm>
            <a:off x="1600200" y="41605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Bank sandbox</a:t>
            </a:r>
            <a:endParaRPr lang="en-US" sz="1700" dirty="0"/>
          </a:p>
        </p:txBody>
      </p:sp>
      <p:sp>
        <p:nvSpPr>
          <p:cNvPr id="28" name="Text 21"/>
          <p:cNvSpPr txBox="1"/>
          <p:nvPr/>
        </p:nvSpPr>
        <p:spPr>
          <a:xfrm>
            <a:off x="777240" y="4892040"/>
            <a:ext cx="2240280" cy="731520"/>
          </a:xfrm>
          <a:prstGeom prst="rect">
            <a:avLst/>
          </a:prstGeom>
          <a:noFill/>
          <a:ln/>
        </p:spPr>
        <p:txBody>
          <a:bodyPr wrap="square" lIns="0" tIns="0" rIns="0" bIns="0" rtlCol="0" anchor="t"/>
          <a:lstStyle/>
          <a:p>
            <a:pPr indent="0" marL="0">
              <a:buNone/>
            </a:pPr>
            <a:r>
              <a:rPr lang="en-US" sz="1400" dirty="0">
                <a:solidFill>
                  <a:schemeClr val="bg2"/>
                </a:solidFill>
              </a:rPr>
              <a:t>React + Vite: simulates the bank</a:t>
            </a:r>
            <a:endParaRPr lang="en-US" sz="1400" dirty="0"/>
          </a:p>
        </p:txBody>
      </p:sp>
      <p:sp>
        <p:nvSpPr>
          <p:cNvPr id="29" name="Tech 6"/>
          <p:cNvSpPr/>
          <p:nvPr/>
        </p:nvSpPr>
        <p:spPr>
          <a:xfrm>
            <a:off x="3383280" y="3840480"/>
            <a:ext cx="2651760" cy="1874520"/>
          </a:xfrm>
          <a:prstGeom prst="roundRect">
            <a:avLst>
              <a:gd name="adj" fmla="val 6829"/>
            </a:avLst>
          </a:prstGeom>
          <a:solidFill>
            <a:schemeClr val="accent6"/>
          </a:solidFill>
          <a:ln/>
        </p:spPr>
      </p:sp>
      <p:sp>
        <p:nvSpPr>
          <p:cNvPr id="30" name="Tech 6 circle"/>
          <p:cNvSpPr/>
          <p:nvPr/>
        </p:nvSpPr>
        <p:spPr>
          <a:xfrm>
            <a:off x="3611880" y="4069080"/>
            <a:ext cx="685800" cy="685800"/>
          </a:xfrm>
          <a:prstGeom prst="ellipse">
            <a:avLst/>
          </a:prstGeom>
          <a:solidFill>
            <a:srgbClr val="19C37D"/>
          </a:solidFill>
          <a:ln/>
        </p:spPr>
      </p:sp>
      <p:pic>
        <p:nvPicPr>
          <p:cNvPr id="31" name="Tech 6 icon" descr="preencoded.png">    </p:cNvPr>
          <p:cNvPicPr>
            <a:picLocks noChangeAspect="1"/>
          </p:cNvPicPr>
          <p:nvPr/>
        </p:nvPicPr>
        <p:blipFill>
          <a:blip r:embed="rId6"/>
          <a:stretch>
            <a:fillRect/>
          </a:stretch>
        </p:blipFill>
        <p:spPr>
          <a:xfrm>
            <a:off x="3790188" y="4247388"/>
            <a:ext cx="329184" cy="329184"/>
          </a:xfrm>
          <a:prstGeom prst="rect">
            <a:avLst/>
          </a:prstGeom>
        </p:spPr>
      </p:pic>
      <p:sp>
        <p:nvSpPr>
          <p:cNvPr id="32" name="Text 24"/>
          <p:cNvSpPr txBox="1"/>
          <p:nvPr/>
        </p:nvSpPr>
        <p:spPr>
          <a:xfrm>
            <a:off x="4434840" y="41605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Crypto</a:t>
            </a:r>
            <a:endParaRPr lang="en-US" sz="1700" dirty="0"/>
          </a:p>
        </p:txBody>
      </p:sp>
      <p:sp>
        <p:nvSpPr>
          <p:cNvPr id="33" name="Text 25"/>
          <p:cNvSpPr txBox="1"/>
          <p:nvPr/>
        </p:nvSpPr>
        <p:spPr>
          <a:xfrm>
            <a:off x="3611880" y="4892040"/>
            <a:ext cx="2240280" cy="731520"/>
          </a:xfrm>
          <a:prstGeom prst="rect">
            <a:avLst/>
          </a:prstGeom>
          <a:noFill/>
          <a:ln/>
        </p:spPr>
        <p:txBody>
          <a:bodyPr wrap="square" lIns="0" tIns="0" rIns="0" bIns="0" rtlCol="0" anchor="t"/>
          <a:lstStyle/>
          <a:p>
            <a:pPr indent="0" marL="0">
              <a:buNone/>
            </a:pPr>
            <a:r>
              <a:rPr lang="en-US" sz="1400" dirty="0">
                <a:solidFill>
                  <a:schemeClr val="bg2"/>
                </a:solidFill>
              </a:rPr>
              <a:t>HMAC-SHA-256, keys per bank</a:t>
            </a:r>
            <a:endParaRPr lang="en-US" sz="1400" dirty="0"/>
          </a:p>
        </p:txBody>
      </p:sp>
      <p:sp>
        <p:nvSpPr>
          <p:cNvPr id="34" name="Tech 7"/>
          <p:cNvSpPr/>
          <p:nvPr/>
        </p:nvSpPr>
        <p:spPr>
          <a:xfrm>
            <a:off x="6217920" y="3840480"/>
            <a:ext cx="2651760" cy="1874520"/>
          </a:xfrm>
          <a:prstGeom prst="roundRect">
            <a:avLst>
              <a:gd name="adj" fmla="val 6829"/>
            </a:avLst>
          </a:prstGeom>
          <a:solidFill>
            <a:schemeClr val="accent6"/>
          </a:solidFill>
          <a:ln/>
        </p:spPr>
      </p:sp>
      <p:sp>
        <p:nvSpPr>
          <p:cNvPr id="35" name="Tech 7 circle"/>
          <p:cNvSpPr/>
          <p:nvPr/>
        </p:nvSpPr>
        <p:spPr>
          <a:xfrm>
            <a:off x="6446520" y="4069080"/>
            <a:ext cx="685800" cy="685800"/>
          </a:xfrm>
          <a:prstGeom prst="ellipse">
            <a:avLst/>
          </a:prstGeom>
          <a:solidFill>
            <a:srgbClr val="19C37D"/>
          </a:solidFill>
          <a:ln/>
        </p:spPr>
      </p:sp>
      <p:pic>
        <p:nvPicPr>
          <p:cNvPr id="36" name="Tech 7 icon" descr="preencoded.png">    </p:cNvPr>
          <p:cNvPicPr>
            <a:picLocks noChangeAspect="1"/>
          </p:cNvPicPr>
          <p:nvPr/>
        </p:nvPicPr>
        <p:blipFill>
          <a:blip r:embed="rId7"/>
          <a:stretch>
            <a:fillRect/>
          </a:stretch>
        </p:blipFill>
        <p:spPr>
          <a:xfrm>
            <a:off x="6624828" y="4247388"/>
            <a:ext cx="329184" cy="329184"/>
          </a:xfrm>
          <a:prstGeom prst="rect">
            <a:avLst/>
          </a:prstGeom>
        </p:spPr>
      </p:pic>
      <p:sp>
        <p:nvSpPr>
          <p:cNvPr id="37" name="Text 28"/>
          <p:cNvSpPr txBox="1"/>
          <p:nvPr/>
        </p:nvSpPr>
        <p:spPr>
          <a:xfrm>
            <a:off x="7269480" y="41605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Storage</a:t>
            </a:r>
            <a:endParaRPr lang="en-US" sz="1700" dirty="0"/>
          </a:p>
        </p:txBody>
      </p:sp>
      <p:sp>
        <p:nvSpPr>
          <p:cNvPr id="38" name="Text 29"/>
          <p:cNvSpPr txBox="1"/>
          <p:nvPr/>
        </p:nvSpPr>
        <p:spPr>
          <a:xfrm>
            <a:off x="6446520" y="4892040"/>
            <a:ext cx="2240280" cy="731520"/>
          </a:xfrm>
          <a:prstGeom prst="rect">
            <a:avLst/>
          </a:prstGeom>
          <a:noFill/>
          <a:ln/>
        </p:spPr>
        <p:txBody>
          <a:bodyPr wrap="square" lIns="0" tIns="0" rIns="0" bIns="0" rtlCol="0" anchor="t"/>
          <a:lstStyle/>
          <a:p>
            <a:pPr indent="0" marL="0">
              <a:buNone/>
            </a:pPr>
            <a:r>
              <a:rPr lang="en-US" sz="1400" dirty="0">
                <a:solidFill>
                  <a:schemeClr val="bg2"/>
                </a:solidFill>
              </a:rPr>
              <a:t>In-memory or Cloud Firestore</a:t>
            </a:r>
            <a:endParaRPr lang="en-US" sz="1400" dirty="0"/>
          </a:p>
        </p:txBody>
      </p:sp>
      <p:sp>
        <p:nvSpPr>
          <p:cNvPr id="39" name="Tech 8"/>
          <p:cNvSpPr/>
          <p:nvPr/>
        </p:nvSpPr>
        <p:spPr>
          <a:xfrm>
            <a:off x="9052560" y="3840480"/>
            <a:ext cx="2651760" cy="1874520"/>
          </a:xfrm>
          <a:prstGeom prst="roundRect">
            <a:avLst>
              <a:gd name="adj" fmla="val 6829"/>
            </a:avLst>
          </a:prstGeom>
          <a:solidFill>
            <a:schemeClr val="accent6"/>
          </a:solidFill>
          <a:ln/>
        </p:spPr>
      </p:sp>
      <p:sp>
        <p:nvSpPr>
          <p:cNvPr id="40" name="Tech 8 circle"/>
          <p:cNvSpPr/>
          <p:nvPr/>
        </p:nvSpPr>
        <p:spPr>
          <a:xfrm>
            <a:off x="9281160" y="4069080"/>
            <a:ext cx="685800" cy="685800"/>
          </a:xfrm>
          <a:prstGeom prst="ellipse">
            <a:avLst/>
          </a:prstGeom>
          <a:solidFill>
            <a:srgbClr val="19C37D"/>
          </a:solidFill>
          <a:ln/>
        </p:spPr>
      </p:sp>
      <p:pic>
        <p:nvPicPr>
          <p:cNvPr id="41" name="Tech 8 icon" descr="preencoded.png">    </p:cNvPr>
          <p:cNvPicPr>
            <a:picLocks noChangeAspect="1"/>
          </p:cNvPicPr>
          <p:nvPr/>
        </p:nvPicPr>
        <p:blipFill>
          <a:blip r:embed="rId8"/>
          <a:stretch>
            <a:fillRect/>
          </a:stretch>
        </p:blipFill>
        <p:spPr>
          <a:xfrm>
            <a:off x="9459468" y="4247388"/>
            <a:ext cx="329184" cy="329184"/>
          </a:xfrm>
          <a:prstGeom prst="rect">
            <a:avLst/>
          </a:prstGeom>
        </p:spPr>
      </p:pic>
      <p:sp>
        <p:nvSpPr>
          <p:cNvPr id="42" name="Text 32"/>
          <p:cNvSpPr txBox="1"/>
          <p:nvPr/>
        </p:nvSpPr>
        <p:spPr>
          <a:xfrm>
            <a:off x="10104120" y="4160520"/>
            <a:ext cx="1508760" cy="502920"/>
          </a:xfrm>
          <a:prstGeom prst="rect">
            <a:avLst/>
          </a:prstGeom>
          <a:noFill/>
          <a:ln/>
        </p:spPr>
        <p:txBody>
          <a:bodyPr wrap="square" lIns="0" tIns="0" rIns="0" bIns="0" rtlCol="0" anchor="ctr"/>
          <a:lstStyle/>
          <a:p>
            <a:pPr indent="0" marL="0">
              <a:buNone/>
            </a:pPr>
            <a:r>
              <a:rPr lang="en-US" sz="1700" b="1" dirty="0">
                <a:solidFill>
                  <a:schemeClr val="bg1"/>
                </a:solidFill>
              </a:rPr>
              <a:t>Delivery</a:t>
            </a:r>
            <a:endParaRPr lang="en-US" sz="1700" dirty="0"/>
          </a:p>
        </p:txBody>
      </p:sp>
      <p:sp>
        <p:nvSpPr>
          <p:cNvPr id="43" name="Text 33"/>
          <p:cNvSpPr txBox="1"/>
          <p:nvPr/>
        </p:nvSpPr>
        <p:spPr>
          <a:xfrm>
            <a:off x="9281160" y="4892040"/>
            <a:ext cx="2240280" cy="731520"/>
          </a:xfrm>
          <a:prstGeom prst="rect">
            <a:avLst/>
          </a:prstGeom>
          <a:noFill/>
          <a:ln/>
        </p:spPr>
        <p:txBody>
          <a:bodyPr wrap="square" lIns="0" tIns="0" rIns="0" bIns="0" rtlCol="0" anchor="t"/>
          <a:lstStyle/>
          <a:p>
            <a:pPr indent="0" marL="0">
              <a:buNone/>
            </a:pPr>
            <a:r>
              <a:rPr lang="en-US" sz="1400" dirty="0">
                <a:solidFill>
                  <a:schemeClr val="bg2"/>
                </a:solidFill>
              </a:rPr>
              <a:t>Docker, SSE, FCM, WhatsApp, USSD</a:t>
            </a:r>
            <a:endParaRPr lang="en-US" sz="1400" dirty="0"/>
          </a:p>
        </p:txBody>
      </p:sp>
      <p:sp>
        <p:nvSpPr>
          <p:cNvPr id="44" name="Text 34"/>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050" i="1" dirty="0">
                <a:solidFill>
                  <a:schemeClr val="accent5"/>
                </a:solidFill>
              </a:rPr>
              <a:t>Licences checked from installed packages: docs/TECH_STACK.md. Llama and Gemma are open weights under custom licences (not OSI). Remotion (video only) is source-available.</a:t>
            </a:r>
            <a:endParaRPr lang="en-US" sz="105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Free for customers. Paid by the bank.</a:t>
            </a:r>
            <a:endParaRPr lang="en-US" sz="3800" dirty="0"/>
          </a:p>
        </p:txBody>
      </p:sp>
      <p:sp>
        <p:nvSpPr>
          <p:cNvPr id="3" name="Model panel"/>
          <p:cNvSpPr/>
          <p:nvPr/>
        </p:nvSpPr>
        <p:spPr>
          <a:xfrm>
            <a:off x="548640" y="1463040"/>
            <a:ext cx="4206240" cy="3566160"/>
          </a:xfrm>
          <a:prstGeom prst="roundRect">
            <a:avLst>
              <a:gd name="adj" fmla="val 3590"/>
            </a:avLst>
          </a:prstGeom>
          <a:solidFill>
            <a:schemeClr val="accent6"/>
          </a:solidFill>
          <a:ln/>
        </p:spPr>
      </p:sp>
      <p:sp>
        <p:nvSpPr>
          <p:cNvPr id="4" name="Text 2"/>
          <p:cNvSpPr txBox="1"/>
          <p:nvPr/>
        </p:nvSpPr>
        <p:spPr>
          <a:xfrm>
            <a:off x="822960" y="1645920"/>
            <a:ext cx="3657600" cy="411480"/>
          </a:xfrm>
          <a:prstGeom prst="rect">
            <a:avLst/>
          </a:prstGeom>
          <a:noFill/>
          <a:ln/>
        </p:spPr>
        <p:txBody>
          <a:bodyPr wrap="square" lIns="0" tIns="0" rIns="0" bIns="0" rtlCol="0" anchor="t"/>
          <a:lstStyle/>
          <a:p>
            <a:pPr indent="0" marL="0">
              <a:buNone/>
            </a:pPr>
            <a:r>
              <a:rPr lang="en-US" sz="2000" b="1" dirty="0">
                <a:solidFill>
                  <a:schemeClr val="accent1"/>
                </a:solidFill>
              </a:rPr>
              <a:t>Proposal</a:t>
            </a:r>
            <a:endParaRPr lang="en-US" sz="2000" dirty="0"/>
          </a:p>
        </p:txBody>
      </p:sp>
      <p:sp>
        <p:nvSpPr>
          <p:cNvPr id="5" name="Text 3"/>
          <p:cNvSpPr txBox="1"/>
          <p:nvPr/>
        </p:nvSpPr>
        <p:spPr>
          <a:xfrm>
            <a:off x="822960" y="2148840"/>
            <a:ext cx="365760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Annual licence per bank + a fee per 1,000 registered messages [PRICE: to set]</a:t>
            </a:r>
            <a:endParaRPr lang="en-US" sz="1600" dirty="0"/>
          </a:p>
          <a:p>
            <a:pPr marL="342900" indent="-342900">
              <a:spcAft>
                <a:spcPts val="1000"/>
              </a:spcAft>
              <a:buSzPct val="100000"/>
              <a:buChar char="•"/>
            </a:pPr>
            <a:r>
              <a:rPr lang="en-US" sz="1600" dirty="0">
                <a:solidFill>
                  <a:schemeClr val="bg1"/>
                </a:solidFill>
              </a:rPr>
              <a:t>Customer checks free on every channel</a:t>
            </a:r>
            <a:endParaRPr lang="en-US" sz="1600" dirty="0"/>
          </a:p>
          <a:p>
            <a:pPr marL="342900" indent="-342900">
              <a:spcAft>
                <a:spcPts val="1000"/>
              </a:spcAft>
              <a:buSzPct val="100000"/>
              <a:buChar char="•"/>
            </a:pPr>
            <a:r>
              <a:rPr lang="en-US" sz="1600" dirty="0">
                <a:solidFill>
                  <a:schemeClr val="bg1"/>
                </a:solidFill>
              </a:rPr>
              <a:t>No extra SMS: the bank's SMS bill does not change</a:t>
            </a:r>
            <a:endParaRPr lang="en-US" sz="1600" dirty="0"/>
          </a:p>
          <a:p>
            <a:pPr marL="342900" indent="-342900">
              <a:spcAft>
                <a:spcPts val="1000"/>
              </a:spcAft>
              <a:buSzPct val="100000"/>
              <a:buChar char="•"/>
            </a:pPr>
            <a:r>
              <a:rPr lang="en-US" sz="1600" dirty="0">
                <a:solidFill>
                  <a:schemeClr val="bg1"/>
                </a:solidFill>
              </a:rPr>
              <a:t>Pilot: one message type + calls, bank-hosted</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120640" y="1463040"/>
          <a:ext cx="6492240" cy="914400"/>
        </p:xfrm>
        <a:graphic>
          <a:graphicData uri="http://schemas.openxmlformats.org/drawingml/2006/table">
            <a:tbl>
              <a:tblPr/>
              <a:tblGrid>
                <a:gridCol w="2560320"/>
                <a:gridCol w="3931920"/>
              </a:tblGrid>
              <a:tr h="566928">
                <a:tc>
                  <a:txBody>
                    <a:bodyPr/>
                    <a:lstStyle/>
                    <a:p>
                      <a:pPr indent="0" marL="0">
                        <a:buNone/>
                      </a:pPr>
                      <a:r>
                        <a:rPr lang="en-US" sz="1400" b="1" dirty="0">
                          <a:solidFill>
                            <a:srgbClr val="0B0F0D"/>
                          </a:solidFill>
                          <a:latin typeface="Calibri" pitchFamily="34" charset="0"/>
                          <a:ea typeface="Calibri" pitchFamily="34" charset="-122"/>
                          <a:cs typeface="Calibri" pitchFamily="34" charset="-120"/>
                        </a:rPr>
                        <a:t>Pilot KPI (to measure)</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9C37D"/>
                    </a:solidFill>
                  </a:tcPr>
                </a:tc>
                <a:tc>
                  <a:txBody>
                    <a:bodyPr/>
                    <a:lstStyle/>
                    <a:p>
                      <a:pPr indent="0" marL="0">
                        <a:buNone/>
                      </a:pPr>
                      <a:r>
                        <a:rPr lang="en-US" sz="1400" b="1" dirty="0">
                          <a:solidFill>
                            <a:srgbClr val="0B0F0D"/>
                          </a:solidFill>
                          <a:latin typeface="Calibri" pitchFamily="34" charset="0"/>
                          <a:ea typeface="Calibri" pitchFamily="34" charset="-122"/>
                          <a:cs typeface="Calibri" pitchFamily="34" charset="-120"/>
                        </a:rPr>
                        <a:t>What it shows</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9C37D"/>
                    </a:solidFill>
                  </a:tcPr>
                </a:tc>
              </a:tr>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Registration coverage</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Registered / sent for the enrolled type</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r>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Checks per week</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Adoption by channel: app, WhatsApp, USSD</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r>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Not-confirmed rate</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Fakes caught, and coverage gaps</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r>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Report to warning time</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Speed of the fraud desk</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r>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Losses in pilot group</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c>
                  <a:txBody>
                    <a:bodyPr/>
                    <a:lstStyle/>
                    <a:p>
                      <a:pPr indent="0" marL="0">
                        <a:buNone/>
                      </a:pPr>
                      <a:r>
                        <a:rPr lang="en-US" sz="1400" dirty="0">
                          <a:solidFill>
                            <a:srgbClr val="FFFFFF"/>
                          </a:solidFill>
                          <a:latin typeface="Calibri" pitchFamily="34" charset="0"/>
                          <a:ea typeface="Calibri" pitchFamily="34" charset="-122"/>
                          <a:cs typeface="Calibri" pitchFamily="34" charset="-120"/>
                        </a:rPr>
                        <a:t>Impersonation losses vs a comparable group</a:t>
                      </a:r>
                      <a:endParaRPr lang="en-US" sz="1400" dirty="0">
                        <a:latin typeface="Calibri" charset="0"/>
                        <a:ea typeface="Calibri" charset="0"/>
                        <a:cs typeface="Calibri" charset="0"/>
                      </a:endParaRPr>
                    </a:p>
                  </a:txBody>
                  <a:tcPr marL="91440" marR="91440" marT="91440" marB="91440" anchor="ctr">
                    <a:lnL w="12700" cap="flat" cmpd="sng" algn="ctr">
                      <a:solidFill>
                        <a:srgbClr val="0B0F0D"/>
                      </a:solidFill>
                      <a:prstDash val="solid"/>
                      <a:round/>
                      <a:headEnd type="none" w="med" len="med"/>
                      <a:tailEnd type="none" w="med" len="med"/>
                    </a:lnL>
                    <a:lnR w="12700" cap="flat" cmpd="sng" algn="ctr">
                      <a:solidFill>
                        <a:srgbClr val="0B0F0D"/>
                      </a:solidFill>
                      <a:prstDash val="solid"/>
                      <a:round/>
                      <a:headEnd type="none" w="med" len="med"/>
                      <a:tailEnd type="none" w="med" len="med"/>
                    </a:lnR>
                    <a:lnT w="12700" cap="flat" cmpd="sng" algn="ctr">
                      <a:solidFill>
                        <a:srgbClr val="0B0F0D"/>
                      </a:solidFill>
                      <a:prstDash val="solid"/>
                      <a:round/>
                      <a:headEnd type="none" w="med" len="med"/>
                      <a:tailEnd type="none" w="med" len="med"/>
                    </a:lnT>
                    <a:lnB w="12700" cap="flat" cmpd="sng" algn="ctr">
                      <a:solidFill>
                        <a:srgbClr val="0B0F0D"/>
                      </a:solidFill>
                      <a:prstDash val="solid"/>
                      <a:round/>
                      <a:headEnd type="none" w="med" len="med"/>
                      <a:tailEnd type="none" w="med" len="med"/>
                    </a:lnB>
                    <a:solidFill>
                      <a:srgbClr val="1E2823"/>
                    </a:solidFill>
                  </a:tcPr>
                </a:tc>
              </a:tr>
            </a:tbl>
          </a:graphicData>
        </a:graphic>
      </p:graphicFrame>
      <p:sp>
        <p:nvSpPr>
          <p:cNvPr id="7" name="Text 4"/>
          <p:cNvSpPr txBox="1"/>
          <p:nvPr/>
        </p:nvSpPr>
        <p:spPr>
          <a:xfrm>
            <a:off x="5120640" y="5120640"/>
            <a:ext cx="6492240" cy="365760"/>
          </a:xfrm>
          <a:prstGeom prst="rect">
            <a:avLst/>
          </a:prstGeom>
          <a:noFill/>
          <a:ln/>
        </p:spPr>
        <p:txBody>
          <a:bodyPr wrap="square" lIns="0" tIns="0" rIns="0" bIns="0" rtlCol="0" anchor="t"/>
          <a:lstStyle/>
          <a:p>
            <a:pPr indent="0" marL="0">
              <a:buNone/>
            </a:pPr>
            <a:r>
              <a:rPr lang="en-US" sz="1400" i="1" dirty="0">
                <a:solidFill>
                  <a:schemeClr val="accent5"/>
                </a:solidFill>
              </a:rPr>
              <a:t>Targets to agree before the pilot, not results. [CONFIRM: pilot targets]</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22960" y="731520"/>
            <a:ext cx="10515600" cy="1005840"/>
          </a:xfrm>
          <a:prstGeom prst="rect">
            <a:avLst/>
          </a:prstGeom>
          <a:noFill/>
          <a:ln/>
        </p:spPr>
        <p:txBody>
          <a:bodyPr wrap="square" lIns="0" tIns="0" rIns="0" bIns="0" rtlCol="0" anchor="t"/>
          <a:lstStyle/>
          <a:p>
            <a:pPr indent="0" marL="0">
              <a:buNone/>
            </a:pPr>
            <a:r>
              <a:rPr lang="en-US" sz="5200" b="1" dirty="0">
                <a:solidFill>
                  <a:schemeClr val="bg1"/>
                </a:solidFill>
                <a:latin typeface="Arial" pitchFamily="34" charset="0"/>
                <a:ea typeface="Arial" pitchFamily="34" charset="-122"/>
                <a:cs typeface="Arial" pitchFamily="34" charset="-120"/>
              </a:rPr>
              <a:t>Truth should not be a guess.</a:t>
            </a:r>
            <a:endParaRPr lang="en-US" sz="5200" dirty="0"/>
          </a:p>
        </p:txBody>
      </p:sp>
      <p:sp>
        <p:nvSpPr>
          <p:cNvPr id="3" name="Team 1 circle"/>
          <p:cNvSpPr/>
          <p:nvPr/>
        </p:nvSpPr>
        <p:spPr>
          <a:xfrm>
            <a:off x="1234440" y="2103120"/>
            <a:ext cx="1097280" cy="1097280"/>
          </a:xfrm>
          <a:prstGeom prst="ellipse">
            <a:avLst/>
          </a:prstGeom>
          <a:solidFill>
            <a:srgbClr val="1E2823"/>
          </a:solidFill>
          <a:ln/>
        </p:spPr>
      </p:sp>
      <p:pic>
        <p:nvPicPr>
          <p:cNvPr id="4" name="Team 1 icon" descr="preencoded.png">    </p:cNvPr>
          <p:cNvPicPr>
            <a:picLocks noChangeAspect="1"/>
          </p:cNvPicPr>
          <p:nvPr/>
        </p:nvPicPr>
        <p:blipFill>
          <a:blip r:embed="rId1"/>
          <a:stretch>
            <a:fillRect/>
          </a:stretch>
        </p:blipFill>
        <p:spPr>
          <a:xfrm>
            <a:off x="1519733" y="2388413"/>
            <a:ext cx="526694" cy="526694"/>
          </a:xfrm>
          <a:prstGeom prst="rect">
            <a:avLst/>
          </a:prstGeom>
        </p:spPr>
      </p:pic>
      <p:sp>
        <p:nvSpPr>
          <p:cNvPr id="5" name="Text 2"/>
          <p:cNvSpPr txBox="1"/>
          <p:nvPr/>
        </p:nvSpPr>
        <p:spPr>
          <a:xfrm>
            <a:off x="822960" y="3337560"/>
            <a:ext cx="1920240" cy="365760"/>
          </a:xfrm>
          <a:prstGeom prst="rect">
            <a:avLst/>
          </a:prstGeom>
          <a:noFill/>
          <a:ln/>
        </p:spPr>
        <p:txBody>
          <a:bodyPr wrap="square" lIns="0" tIns="0" rIns="0" bIns="0" rtlCol="0" anchor="t"/>
          <a:lstStyle/>
          <a:p>
            <a:pPr algn="ctr" indent="0" marL="0">
              <a:buNone/>
            </a:pPr>
            <a:r>
              <a:rPr lang="en-US" sz="1600" b="1" dirty="0">
                <a:solidFill>
                  <a:schemeClr val="bg1"/>
                </a:solidFill>
              </a:rPr>
              <a:t>[NAME]</a:t>
            </a:r>
            <a:endParaRPr lang="en-US" sz="1600" dirty="0"/>
          </a:p>
        </p:txBody>
      </p:sp>
      <p:sp>
        <p:nvSpPr>
          <p:cNvPr id="6" name="Text 3"/>
          <p:cNvSpPr txBox="1"/>
          <p:nvPr/>
        </p:nvSpPr>
        <p:spPr>
          <a:xfrm>
            <a:off x="822960" y="3703320"/>
            <a:ext cx="1920240" cy="32004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7" name="Team 2 circle"/>
          <p:cNvSpPr/>
          <p:nvPr/>
        </p:nvSpPr>
        <p:spPr>
          <a:xfrm>
            <a:off x="3520440" y="2103120"/>
            <a:ext cx="1097280" cy="1097280"/>
          </a:xfrm>
          <a:prstGeom prst="ellipse">
            <a:avLst/>
          </a:prstGeom>
          <a:solidFill>
            <a:srgbClr val="1E2823"/>
          </a:solidFill>
          <a:ln/>
        </p:spPr>
      </p:sp>
      <p:pic>
        <p:nvPicPr>
          <p:cNvPr id="8" name="Team 2 icon" descr="preencoded.png">    </p:cNvPr>
          <p:cNvPicPr>
            <a:picLocks noChangeAspect="1"/>
          </p:cNvPicPr>
          <p:nvPr/>
        </p:nvPicPr>
        <p:blipFill>
          <a:blip r:embed="rId2"/>
          <a:stretch>
            <a:fillRect/>
          </a:stretch>
        </p:blipFill>
        <p:spPr>
          <a:xfrm>
            <a:off x="3805733" y="2388413"/>
            <a:ext cx="526694" cy="526694"/>
          </a:xfrm>
          <a:prstGeom prst="rect">
            <a:avLst/>
          </a:prstGeom>
        </p:spPr>
      </p:pic>
      <p:sp>
        <p:nvSpPr>
          <p:cNvPr id="9" name="Text 5"/>
          <p:cNvSpPr txBox="1"/>
          <p:nvPr/>
        </p:nvSpPr>
        <p:spPr>
          <a:xfrm>
            <a:off x="3108960" y="3337560"/>
            <a:ext cx="1920240" cy="365760"/>
          </a:xfrm>
          <a:prstGeom prst="rect">
            <a:avLst/>
          </a:prstGeom>
          <a:noFill/>
          <a:ln/>
        </p:spPr>
        <p:txBody>
          <a:bodyPr wrap="square" lIns="0" tIns="0" rIns="0" bIns="0" rtlCol="0" anchor="t"/>
          <a:lstStyle/>
          <a:p>
            <a:pPr algn="ctr" indent="0" marL="0">
              <a:buNone/>
            </a:pPr>
            <a:r>
              <a:rPr lang="en-US" sz="1600" b="1" dirty="0">
                <a:solidFill>
                  <a:schemeClr val="bg1"/>
                </a:solidFill>
              </a:rPr>
              <a:t>[NAME]</a:t>
            </a:r>
            <a:endParaRPr lang="en-US" sz="1600" dirty="0"/>
          </a:p>
        </p:txBody>
      </p:sp>
      <p:sp>
        <p:nvSpPr>
          <p:cNvPr id="10" name="Text 6"/>
          <p:cNvSpPr txBox="1"/>
          <p:nvPr/>
        </p:nvSpPr>
        <p:spPr>
          <a:xfrm>
            <a:off x="3108960" y="3703320"/>
            <a:ext cx="1920240" cy="32004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11" name="Team 3 circle"/>
          <p:cNvSpPr/>
          <p:nvPr/>
        </p:nvSpPr>
        <p:spPr>
          <a:xfrm>
            <a:off x="5806440" y="2103120"/>
            <a:ext cx="1097280" cy="1097280"/>
          </a:xfrm>
          <a:prstGeom prst="ellipse">
            <a:avLst/>
          </a:prstGeom>
          <a:solidFill>
            <a:srgbClr val="1E2823"/>
          </a:solidFill>
          <a:ln/>
        </p:spPr>
      </p:sp>
      <p:pic>
        <p:nvPicPr>
          <p:cNvPr id="12" name="Team 3 icon" descr="preencoded.png">    </p:cNvPr>
          <p:cNvPicPr>
            <a:picLocks noChangeAspect="1"/>
          </p:cNvPicPr>
          <p:nvPr/>
        </p:nvPicPr>
        <p:blipFill>
          <a:blip r:embed="rId3"/>
          <a:stretch>
            <a:fillRect/>
          </a:stretch>
        </p:blipFill>
        <p:spPr>
          <a:xfrm>
            <a:off x="6091733" y="2388413"/>
            <a:ext cx="526694" cy="526694"/>
          </a:xfrm>
          <a:prstGeom prst="rect">
            <a:avLst/>
          </a:prstGeom>
        </p:spPr>
      </p:pic>
      <p:sp>
        <p:nvSpPr>
          <p:cNvPr id="13" name="Text 8"/>
          <p:cNvSpPr txBox="1"/>
          <p:nvPr/>
        </p:nvSpPr>
        <p:spPr>
          <a:xfrm>
            <a:off x="5394960" y="3337560"/>
            <a:ext cx="1920240" cy="365760"/>
          </a:xfrm>
          <a:prstGeom prst="rect">
            <a:avLst/>
          </a:prstGeom>
          <a:noFill/>
          <a:ln/>
        </p:spPr>
        <p:txBody>
          <a:bodyPr wrap="square" lIns="0" tIns="0" rIns="0" bIns="0" rtlCol="0" anchor="t"/>
          <a:lstStyle/>
          <a:p>
            <a:pPr algn="ctr" indent="0" marL="0">
              <a:buNone/>
            </a:pPr>
            <a:r>
              <a:rPr lang="en-US" sz="1600" b="1" dirty="0">
                <a:solidFill>
                  <a:schemeClr val="bg1"/>
                </a:solidFill>
              </a:rPr>
              <a:t>[NAME]</a:t>
            </a:r>
            <a:endParaRPr lang="en-US" sz="1600" dirty="0"/>
          </a:p>
        </p:txBody>
      </p:sp>
      <p:sp>
        <p:nvSpPr>
          <p:cNvPr id="14" name="Text 9"/>
          <p:cNvSpPr txBox="1"/>
          <p:nvPr/>
        </p:nvSpPr>
        <p:spPr>
          <a:xfrm>
            <a:off x="5394960" y="3703320"/>
            <a:ext cx="1920240" cy="320040"/>
          </a:xfrm>
          <a:prstGeom prst="rect">
            <a:avLst/>
          </a:prstGeom>
          <a:noFill/>
          <a:ln/>
        </p:spPr>
        <p:txBody>
          <a:bodyPr wrap="square" lIns="0" tIns="0" rIns="0" bIns="0" rtlCol="0" anchor="t"/>
          <a:lstStyle/>
          <a:p>
            <a:pPr algn="ctr" indent="0" marL="0">
              <a:buNone/>
            </a:pPr>
            <a:r>
              <a:rPr lang="en-US" sz="1400" dirty="0">
                <a:solidFill>
                  <a:schemeClr val="accent1"/>
                </a:solidFill>
              </a:rPr>
              <a:t>[ROLE]</a:t>
            </a:r>
            <a:endParaRPr lang="en-US" sz="1400" dirty="0"/>
          </a:p>
        </p:txBody>
      </p:sp>
      <p:sp>
        <p:nvSpPr>
          <p:cNvPr id="15" name="Text 10"/>
          <p:cNvSpPr txBox="1"/>
          <p:nvPr/>
        </p:nvSpPr>
        <p:spPr>
          <a:xfrm>
            <a:off x="822960" y="4297680"/>
            <a:ext cx="6400800" cy="1463040"/>
          </a:xfrm>
          <a:prstGeom prst="rect">
            <a:avLst/>
          </a:prstGeom>
          <a:noFill/>
          <a:ln/>
        </p:spPr>
        <p:txBody>
          <a:bodyPr wrap="square" lIns="0" tIns="0" rIns="0" bIns="0" rtlCol="0" anchor="t"/>
          <a:lstStyle/>
          <a:p>
            <a:pPr indent="0" marL="0">
              <a:buNone/>
            </a:pPr>
            <a:r>
              <a:rPr lang="en-US" sz="3000" b="1" dirty="0">
                <a:solidFill>
                  <a:schemeClr val="accent1"/>
                </a:solidFill>
              </a:rPr>
              <a:t>317 tests</a:t>
            </a:r>
            <a:endParaRPr lang="en-US" sz="1600" dirty="0"/>
          </a:p>
          <a:p>
            <a:pPr indent="0" marL="0">
              <a:buNone/>
            </a:pPr>
            <a:r>
              <a:rPr lang="en-US" sz="1400" dirty="0">
                <a:solidFill>
                  <a:schemeClr val="bg2"/>
                </a:solidFill>
              </a:rPr>
              <a:t>passing on memory and Firestore, plus 177 Flutter and 116 Dart [CONFIRM: test count]</a:t>
            </a:r>
            <a:endParaRPr lang="en-US" sz="1600" dirty="0"/>
          </a:p>
          <a:p>
            <a:pPr indent="0" marL="0">
              <a:buNone/>
            </a:pPr>
            <a:r>
              <a:rPr lang="en-US" sz="1400" dirty="0">
                <a:solidFill>
                  <a:schemeClr val="bg2"/>
                </a:solidFill>
              </a:rPr>
              <a:t>[TEAM NAME]  |  [CONTACT]</a:t>
            </a:r>
            <a:endParaRPr lang="en-US" sz="1600" dirty="0"/>
          </a:p>
        </p:txBody>
      </p:sp>
      <p:sp>
        <p:nvSpPr>
          <p:cNvPr id="16" name="Ask card"/>
          <p:cNvSpPr/>
          <p:nvPr/>
        </p:nvSpPr>
        <p:spPr>
          <a:xfrm>
            <a:off x="7680960" y="2103120"/>
            <a:ext cx="3931920" cy="3017520"/>
          </a:xfrm>
          <a:prstGeom prst="roundRect">
            <a:avLst>
              <a:gd name="adj" fmla="val 4242"/>
            </a:avLst>
          </a:prstGeom>
          <a:solidFill>
            <a:schemeClr val="accent1"/>
          </a:solidFill>
          <a:ln/>
        </p:spPr>
      </p:sp>
      <p:sp>
        <p:nvSpPr>
          <p:cNvPr id="17" name="Text 12"/>
          <p:cNvSpPr txBox="1"/>
          <p:nvPr/>
        </p:nvSpPr>
        <p:spPr>
          <a:xfrm>
            <a:off x="8001000" y="2331720"/>
            <a:ext cx="3291840" cy="457200"/>
          </a:xfrm>
          <a:prstGeom prst="rect">
            <a:avLst/>
          </a:prstGeom>
          <a:noFill/>
          <a:ln/>
        </p:spPr>
        <p:txBody>
          <a:bodyPr wrap="square" lIns="0" tIns="0" rIns="0" bIns="0" rtlCol="0" anchor="t"/>
          <a:lstStyle/>
          <a:p>
            <a:pPr indent="0" marL="0">
              <a:buNone/>
            </a:pPr>
            <a:r>
              <a:rPr lang="en-US" sz="2400" b="1" dirty="0">
                <a:solidFill>
                  <a:schemeClr val="tx1"/>
                </a:solidFill>
              </a:rPr>
              <a:t>Our ask</a:t>
            </a:r>
            <a:endParaRPr lang="en-US" sz="2400" dirty="0"/>
          </a:p>
        </p:txBody>
      </p:sp>
      <p:sp>
        <p:nvSpPr>
          <p:cNvPr id="18" name="Text 13"/>
          <p:cNvSpPr txBox="1"/>
          <p:nvPr/>
        </p:nvSpPr>
        <p:spPr>
          <a:xfrm>
            <a:off x="8001000" y="2880360"/>
            <a:ext cx="3291840" cy="2103120"/>
          </a:xfrm>
          <a:prstGeom prst="rect">
            <a:avLst/>
          </a:prstGeom>
          <a:noFill/>
          <a:ln/>
        </p:spPr>
        <p:txBody>
          <a:bodyPr wrap="square" lIns="0" tIns="0" rIns="0" bIns="0" rtlCol="0" anchor="t"/>
          <a:lstStyle/>
          <a:p>
            <a:pPr indent="0" marL="0">
              <a:buNone/>
            </a:pPr>
            <a:r>
              <a:rPr lang="en-US" sz="1800" dirty="0">
                <a:solidFill>
                  <a:schemeClr val="tx1"/>
                </a:solidFill>
              </a:rPr>
              <a:t>One bank. One message type. Outbound calls. Bank-hosted, with a limited group of customers.</a:t>
            </a:r>
            <a:endParaRPr lang="en-US" sz="1800" dirty="0"/>
          </a:p>
          <a:p>
            <a:pPr indent="0" marL="0">
              <a:buNone/>
            </a:pPr>
            <a:endParaRPr lang="en-US" sz="1800" dirty="0"/>
          </a:p>
          <a:p>
            <a:pPr indent="0" marL="0">
              <a:buNone/>
            </a:pPr>
            <a:r>
              <a:rPr lang="en-US" sz="1800" dirty="0">
                <a:solidFill>
                  <a:schemeClr val="tx1"/>
                </a:solidFill>
              </a:rPr>
              <a:t>Let us prove it on your customers.</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800" b="1" dirty="0">
                <a:solidFill>
                  <a:schemeClr val="bg1"/>
                </a:solidFill>
              </a:rPr>
              <a:t>Sources</a:t>
            </a:r>
            <a:endParaRPr lang="en-US" sz="3800" dirty="0"/>
          </a:p>
        </p:txBody>
      </p:sp>
      <p:sp>
        <p:nvSpPr>
          <p:cNvPr id="3" name="Text 1"/>
          <p:cNvSpPr txBox="1"/>
          <p:nvPr/>
        </p:nvSpPr>
        <p:spPr>
          <a:xfrm>
            <a:off x="548640" y="1417320"/>
            <a:ext cx="5394960" cy="4480560"/>
          </a:xfrm>
          <a:prstGeom prst="rect">
            <a:avLst/>
          </a:prstGeom>
          <a:noFill/>
          <a:ln/>
        </p:spPr>
        <p:txBody>
          <a:bodyPr wrap="square" lIns="0" tIns="0" rIns="0" bIns="0" rtlCol="0" anchor="t"/>
          <a:lstStyle/>
          <a:p>
            <a:pPr indent="0" marL="0">
              <a:spcAft>
                <a:spcPts val="1000"/>
              </a:spcAft>
              <a:buNone/>
            </a:pPr>
            <a:r>
              <a:rPr lang="en-US" sz="1300" dirty="0">
                <a:solidFill>
                  <a:schemeClr val="bg2"/>
                </a:solidFill>
              </a:rPr>
              <a:t>S1  NIBSS, 2023 Annual Fraud Landscape, Apr 2024 (primary; % derived)</a:t>
            </a:r>
            <a:endParaRPr lang="en-US" sz="1300" dirty="0"/>
          </a:p>
          <a:p>
            <a:pPr indent="0" marL="0">
              <a:spcAft>
                <a:spcPts val="1000"/>
              </a:spcAft>
              <a:buNone/>
            </a:pPr>
            <a:r>
              <a:rPr lang="en-US" sz="1300" dirty="0">
                <a:solidFill>
                  <a:schemeClr val="bg2"/>
                </a:solidFill>
              </a:rPr>
              <a:t>S2  NIBSS, "Digital payment fraud drops 51% to N25.85b", 22 Jan 2026 (primary)</a:t>
            </a:r>
            <a:endParaRPr lang="en-US" sz="1300" dirty="0"/>
          </a:p>
          <a:p>
            <a:pPr indent="0" marL="0">
              <a:spcAft>
                <a:spcPts val="1000"/>
              </a:spcAft>
              <a:buNone/>
            </a:pPr>
            <a:r>
              <a:rPr lang="en-US" sz="1300" dirty="0">
                <a:solidFill>
                  <a:schemeClr val="bg2"/>
                </a:solidFill>
              </a:rPr>
              <a:t>S3  Nairametrics / Blueprint, Feb 2025, on NIBSS 2024 data (press report)</a:t>
            </a:r>
            <a:endParaRPr lang="en-US" sz="1300" dirty="0"/>
          </a:p>
          <a:p>
            <a:pPr indent="0" marL="0">
              <a:spcAft>
                <a:spcPts val="1000"/>
              </a:spcAft>
              <a:buNone/>
            </a:pPr>
            <a:r>
              <a:rPr lang="en-US" sz="1300" dirty="0">
                <a:solidFill>
                  <a:schemeClr val="bg2"/>
                </a:solidFill>
              </a:rPr>
              <a:t>S5  Vanguard, 6 May 2026, on the Truecaller Spam and Fraud Report (press report)</a:t>
            </a:r>
            <a:endParaRPr lang="en-US" sz="1300" dirty="0"/>
          </a:p>
          <a:p>
            <a:pPr indent="0" marL="0">
              <a:spcAft>
                <a:spcPts val="1000"/>
              </a:spcAft>
              <a:buNone/>
            </a:pPr>
            <a:r>
              <a:rPr lang="en-US" sz="1300" dirty="0">
                <a:solidFill>
                  <a:schemeClr val="bg2"/>
                </a:solidFill>
              </a:rPr>
              <a:t>S6  KPMG and Orange, Nigeria Smartphone Study, Sep 2026 (primary; 12 cities)</a:t>
            </a:r>
            <a:endParaRPr lang="en-US" sz="1300" dirty="0"/>
          </a:p>
          <a:p>
            <a:pPr indent="0" marL="0">
              <a:spcAft>
                <a:spcPts val="1000"/>
              </a:spcAft>
              <a:buNone/>
            </a:pPr>
            <a:r>
              <a:rPr lang="en-US" sz="1300" dirty="0">
                <a:solidFill>
                  <a:schemeClr val="bg2"/>
                </a:solidFill>
              </a:rPr>
              <a:t>S7  EFInA, Access to Financial Services in Nigeria 2023 (primary)</a:t>
            </a:r>
            <a:endParaRPr lang="en-US" sz="1300" dirty="0"/>
          </a:p>
          <a:p>
            <a:pPr indent="0" marL="0">
              <a:spcAft>
                <a:spcPts val="1000"/>
              </a:spcAft>
              <a:buNone/>
            </a:pPr>
            <a:r>
              <a:rPr lang="en-US" sz="1300" dirty="0">
                <a:solidFill>
                  <a:schemeClr val="bg2"/>
                </a:solidFill>
              </a:rPr>
              <a:t>S10  CBN press release on fraudulent SMS, 2016 (near-primary)</a:t>
            </a:r>
            <a:endParaRPr lang="en-US" sz="1300" dirty="0"/>
          </a:p>
        </p:txBody>
      </p:sp>
      <p:sp>
        <p:nvSpPr>
          <p:cNvPr id="4" name="Text 2"/>
          <p:cNvSpPr txBox="1"/>
          <p:nvPr/>
        </p:nvSpPr>
        <p:spPr>
          <a:xfrm>
            <a:off x="6217920" y="1417320"/>
            <a:ext cx="5394960" cy="4480560"/>
          </a:xfrm>
          <a:prstGeom prst="rect">
            <a:avLst/>
          </a:prstGeom>
          <a:noFill/>
          <a:ln/>
        </p:spPr>
        <p:txBody>
          <a:bodyPr wrap="square" lIns="0" tIns="0" rIns="0" bIns="0" rtlCol="0" anchor="t"/>
          <a:lstStyle/>
          <a:p>
            <a:pPr indent="0" marL="0">
              <a:spcAft>
                <a:spcPts val="1000"/>
              </a:spcAft>
              <a:buNone/>
            </a:pPr>
            <a:r>
              <a:rPr lang="en-US" sz="1300" dirty="0">
                <a:solidFill>
                  <a:schemeClr val="bg2"/>
                </a:solidFill>
              </a:rPr>
              <a:t>S11  CBN circular PSS/DIR/PUB/CIR/001/004, Jun 2026, data localisation by 1 Jan 2027 (press report)</a:t>
            </a:r>
            <a:endParaRPr lang="en-US" sz="1300" dirty="0"/>
          </a:p>
          <a:p>
            <a:pPr indent="0" marL="0">
              <a:spcAft>
                <a:spcPts val="1000"/>
              </a:spcAft>
              <a:buNone/>
            </a:pPr>
            <a:r>
              <a:rPr lang="en-US" sz="1300" dirty="0">
                <a:solidFill>
                  <a:schemeClr val="bg2"/>
                </a:solidFill>
              </a:rPr>
              <a:t>S12  Nigeria Data Protection Act 2023, official gazette (primary)</a:t>
            </a:r>
            <a:endParaRPr lang="en-US" sz="1300" dirty="0"/>
          </a:p>
          <a:p>
            <a:pPr indent="0" marL="0">
              <a:spcAft>
                <a:spcPts val="1000"/>
              </a:spcAft>
              <a:buNone/>
            </a:pPr>
            <a:r>
              <a:rPr lang="en-US" sz="1300" dirty="0">
                <a:solidFill>
                  <a:schemeClr val="bg2"/>
                </a:solidFill>
              </a:rPr>
              <a:t>S13  Techeconomy / ThisDay, Jan 2025, on SMS tariffs (press report)</a:t>
            </a:r>
            <a:endParaRPr lang="en-US" sz="1300" dirty="0"/>
          </a:p>
          <a:p>
            <a:pPr indent="0" marL="0">
              <a:spcAft>
                <a:spcPts val="1000"/>
              </a:spcAft>
              <a:buNone/>
            </a:pPr>
            <a:r>
              <a:rPr lang="en-US" sz="1300" dirty="0">
                <a:solidFill>
                  <a:schemeClr val="bg2"/>
                </a:solidFill>
              </a:rPr>
              <a:t>S16  CBN press statement, 21 Apr 2026, on fake messages (BusinessDay, AllAfrica: press report)</a:t>
            </a:r>
            <a:endParaRPr lang="en-US" sz="1300" dirty="0"/>
          </a:p>
          <a:p>
            <a:pPr indent="0" marL="0">
              <a:spcAft>
                <a:spcPts val="1000"/>
              </a:spcAft>
              <a:buNone/>
            </a:pPr>
            <a:r>
              <a:rPr lang="en-US" sz="1300" dirty="0">
                <a:solidFill>
                  <a:schemeClr val="bg2"/>
                </a:solidFill>
              </a:rPr>
              <a:t>S17  FRSC public alert, 16 Sep 2026, fake traffic-fine SMS (Arbiterz, 17 Sep 2026: press report)</a:t>
            </a:r>
            <a:endParaRPr lang="en-US" sz="1300" dirty="0"/>
          </a:p>
          <a:p>
            <a:pPr indent="0" marL="0">
              <a:spcAft>
                <a:spcPts val="1000"/>
              </a:spcAft>
              <a:buNone/>
            </a:pPr>
            <a:r>
              <a:rPr lang="en-US" sz="1300" dirty="0">
                <a:solidFill>
                  <a:schemeClr val="bg2"/>
                </a:solidFill>
              </a:rPr>
              <a:t>S18  CBN exposure draft, Guidelines for Handling APP Fraud, Nov 2025 (BusinessDay, 2 Dec 2025)</a:t>
            </a:r>
            <a:endParaRPr lang="en-US" sz="13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askiyya Night">
  <a:themeElements>
    <a:clrScheme name="Gaskiyya Night">
      <a:dk1>
        <a:srgbClr val="0B0F0D"/>
      </a:dk1>
      <a:lt1>
        <a:srgbClr val="FFFFFF"/>
      </a:lt1>
      <a:dk2>
        <a:srgbClr val="141B17"/>
      </a:dk2>
      <a:lt2>
        <a:srgbClr val="A9B8B0"/>
      </a:lt2>
      <a:accent1>
        <a:srgbClr val="19C37D"/>
      </a:accent1>
      <a:accent2>
        <a:srgbClr val="F5A524"/>
      </a:accent2>
      <a:accent3>
        <a:srgbClr val="FF4D4F"/>
      </a:accent3>
      <a:accent4>
        <a:srgbClr val="4EA8DE"/>
      </a:accent4>
      <a:accent5>
        <a:srgbClr val="6E7F76"/>
      </a:accent5>
      <a:accent6>
        <a:srgbClr val="1E2823"/>
      </a:accent6>
      <a:hlink>
        <a:srgbClr val="19C37D"/>
      </a:hlink>
      <a:folHlink>
        <a:srgbClr val="A9B8B0"/>
      </a:folHlink>
    </a:clrScheme>
    <a:fontScheme name="Gaskiyya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Gaskiyya: is it really your bank?</dc:title>
  <dc:subject>Zecathon 6.0 pitch, 2026</dc:subject>
  <dc:creator>Gaskiyya team</dc:creator>
  <cp:lastModifiedBy>Gaskiyya team</cp:lastModifiedBy>
  <cp:revision>1</cp:revision>
  <dcterms:created xsi:type="dcterms:W3CDTF">2026-10-20T09:34:47Z</dcterms:created>
  <dcterms:modified xsi:type="dcterms:W3CDTF">2026-10-20T09:34:47Z</dcterms:modified>
</cp:coreProperties>
</file>